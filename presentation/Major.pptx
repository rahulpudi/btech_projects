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4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70" r:id="rId10"/>
    <p:sldId id="288" r:id="rId11"/>
    <p:sldId id="271" r:id="rId12"/>
    <p:sldId id="272" r:id="rId13"/>
    <p:sldId id="286" r:id="rId14"/>
    <p:sldId id="287" r:id="rId15"/>
    <p:sldId id="273" r:id="rId16"/>
    <p:sldId id="274" r:id="rId17"/>
    <p:sldId id="276" r:id="rId18"/>
    <p:sldId id="289" r:id="rId19"/>
    <p:sldId id="277" r:id="rId20"/>
    <p:sldId id="281" r:id="rId21"/>
    <p:sldId id="283" r:id="rId22"/>
    <p:sldId id="284" r:id="rId23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3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260" autoAdjust="0"/>
  </p:normalViewPr>
  <p:slideViewPr>
    <p:cSldViewPr snapToGrid="0">
      <p:cViewPr varScale="1">
        <p:scale>
          <a:sx n="92" d="100"/>
          <a:sy n="92" d="100"/>
        </p:scale>
        <p:origin x="77" y="72"/>
      </p:cViewPr>
      <p:guideLst>
        <p:guide orient="horz" pos="216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9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9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45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101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61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06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09EB9-74CB-46C9-A7CD-9D77C0A4053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1D709EB9-74CB-46C9-A7CD-9D77C0A40538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IN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9FC6DA7-42EC-4B7B-A6A2-F802FDA1DCA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.GI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.png"/><Relationship Id="rId5" Type="http://schemas.openxmlformats.org/officeDocument/2006/relationships/tags" Target="../tags/tag5.xml"/><Relationship Id="rId10" Type="http://schemas.openxmlformats.org/officeDocument/2006/relationships/notesSlide" Target="../notesSlides/notesSlide1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2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7.png"/><Relationship Id="rId5" Type="http://schemas.openxmlformats.org/officeDocument/2006/relationships/tags" Target="../tags/tag14.xml"/><Relationship Id="rId10" Type="http://schemas.openxmlformats.org/officeDocument/2006/relationships/image" Target="../media/image6.png"/><Relationship Id="rId4" Type="http://schemas.openxmlformats.org/officeDocument/2006/relationships/tags" Target="../tags/tag13.xml"/><Relationship Id="rId9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7.xml"/><Relationship Id="rId7" Type="http://schemas.openxmlformats.org/officeDocument/2006/relationships/image" Target="../media/image10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notesSlide" Target="../notesSlides/notesSlide4.xml"/><Relationship Id="rId17" Type="http://schemas.openxmlformats.org/officeDocument/2006/relationships/image" Target="../media/image16.png"/><Relationship Id="rId2" Type="http://schemas.openxmlformats.org/officeDocument/2006/relationships/tags" Target="../tags/tag19.xml"/><Relationship Id="rId16" Type="http://schemas.openxmlformats.org/officeDocument/2006/relationships/image" Target="../media/image15.pn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22.xml"/><Relationship Id="rId15" Type="http://schemas.openxmlformats.org/officeDocument/2006/relationships/image" Target="../media/image14.png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30.xml"/><Relationship Id="rId7" Type="http://schemas.openxmlformats.org/officeDocument/2006/relationships/image" Target="../media/image19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22.png"/><Relationship Id="rId4" Type="http://schemas.openxmlformats.org/officeDocument/2006/relationships/tags" Target="../tags/tag31.xml"/><Relationship Id="rId9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3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1"/>
          <a:srcRect/>
          <a:stretch>
            <a:fillRect/>
          </a:stretch>
        </p:blipFill>
        <p:spPr bwMode="auto">
          <a:xfrm>
            <a:off x="0" y="0"/>
            <a:ext cx="2073275" cy="112204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4" name="TextBox 6"/>
          <p:cNvSpPr txBox="1"/>
          <p:nvPr>
            <p:custDataLst>
              <p:tags r:id="rId2"/>
            </p:custDataLst>
          </p:nvPr>
        </p:nvSpPr>
        <p:spPr>
          <a:xfrm>
            <a:off x="2056765" y="267335"/>
            <a:ext cx="8806815" cy="757555"/>
          </a:xfrm>
          <a:prstGeom prst="rect">
            <a:avLst/>
          </a:prstGeom>
          <a:noFill/>
        </p:spPr>
        <p:txBody>
          <a:bodyPr wrap="square" lIns="19998" tIns="9999" rIns="19998" bIns="9999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R Siddhartha Engineering College </a:t>
            </a:r>
          </a:p>
        </p:txBody>
      </p:sp>
      <p:pic>
        <p:nvPicPr>
          <p:cNvPr id="2097153" name="Picture 5" descr="Image result for vrsec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1062970" y="0"/>
            <a:ext cx="1129030" cy="1311910"/>
          </a:xfrm>
          <a:prstGeom prst="rect">
            <a:avLst/>
          </a:prstGeom>
          <a:noFill/>
        </p:spPr>
      </p:pic>
      <p:sp>
        <p:nvSpPr>
          <p:cNvPr id="1048585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0" y="848995"/>
            <a:ext cx="12192000" cy="1122045"/>
          </a:xfrm>
          <a:prstGeom prst="rect">
            <a:avLst/>
          </a:prstGeom>
        </p:spPr>
        <p:txBody>
          <a:bodyPr vert="horz" lIns="228600" tIns="228600" rIns="228600" bIns="0" rtlCol="0" anchor="b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0" i="0" kern="1200" cap="none" spc="-150">
                <a:solidFill>
                  <a:srgbClr val="FFFEFF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 Explainable Hybrid Deep Learning Approach for Multi-Class Brain Disease Detection Using MRI Images</a:t>
            </a:r>
          </a:p>
        </p:txBody>
      </p:sp>
      <p:sp>
        <p:nvSpPr>
          <p:cNvPr id="1048586" name="TextBox 8"/>
          <p:cNvSpPr txBox="1"/>
          <p:nvPr>
            <p:custDataLst>
              <p:tags r:id="rId5"/>
            </p:custDataLst>
          </p:nvPr>
        </p:nvSpPr>
        <p:spPr>
          <a:xfrm>
            <a:off x="0" y="2299335"/>
            <a:ext cx="12192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Field : Medical Imaging, Healthcare Diagnostics, and Cancer Screening.</a:t>
            </a:r>
          </a:p>
        </p:txBody>
      </p:sp>
      <p:sp>
        <p:nvSpPr>
          <p:cNvPr id="1048587" name="TextBox 7"/>
          <p:cNvSpPr txBox="1"/>
          <p:nvPr>
            <p:custDataLst>
              <p:tags r:id="rId6"/>
            </p:custDataLst>
          </p:nvPr>
        </p:nvSpPr>
        <p:spPr>
          <a:xfrm>
            <a:off x="0" y="2832735"/>
            <a:ext cx="12192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 in Information Technology</a:t>
            </a:r>
          </a:p>
          <a:p>
            <a:pPr algn="ctr"/>
            <a:r>
              <a:rPr lang="en-US" sz="2000" b="1" dirty="0">
                <a:solidFill>
                  <a:srgbClr val="BF11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 Project Review Presentation</a:t>
            </a:r>
          </a:p>
        </p:txBody>
      </p:sp>
      <p:sp>
        <p:nvSpPr>
          <p:cNvPr id="1048588" name="Subtitle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0" y="4009390"/>
            <a:ext cx="12192000" cy="1767374"/>
          </a:xfrm>
          <a:prstGeom prst="rect">
            <a:avLst/>
          </a:prstGeom>
        </p:spPr>
        <p:txBody>
          <a:bodyPr vert="horz" lIns="91440" tIns="0" rIns="91440" bIns="45720" rtlCol="0">
            <a:normAutofit fontScale="80000" lnSpcReduction="2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800" b="0" kern="1200">
                <a:solidFill>
                  <a:srgbClr val="FFFEFF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RAHUL PUDI (228W1A1251)</a:t>
            </a:r>
          </a:p>
          <a:p>
            <a:r>
              <a:rPr lang="en-I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PAVAN</a:t>
            </a:r>
            <a:r>
              <a:rPr lang="en-US" altLang="en-I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KUMAR</a:t>
            </a:r>
            <a:r>
              <a:rPr lang="en-I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KOLLIPATI (228W1A1228)</a:t>
            </a:r>
          </a:p>
          <a:p>
            <a:r>
              <a:rPr lang="en-IN" altLang="en-US" sz="3950" b="1" dirty="0">
                <a:solidFill>
                  <a:srgbClr val="7030A0"/>
                </a:solidFill>
                <a:cs typeface="AngsanaUPC" panose="02020603050405020304" pitchFamily="18" charset="-34"/>
              </a:rPr>
              <a:t>     </a:t>
            </a:r>
            <a:endParaRPr lang="en-IN" altLang="en-US" sz="3950" dirty="0">
              <a:solidFill>
                <a:schemeClr val="tx1"/>
              </a:solidFill>
            </a:endParaRPr>
          </a:p>
        </p:txBody>
      </p:sp>
      <p:sp>
        <p:nvSpPr>
          <p:cNvPr id="1048589" name="Rectangle 3"/>
          <p:cNvSpPr/>
          <p:nvPr>
            <p:custDataLst>
              <p:tags r:id="rId8"/>
            </p:custDataLst>
          </p:nvPr>
        </p:nvSpPr>
        <p:spPr>
          <a:xfrm>
            <a:off x="-68580" y="5315754"/>
            <a:ext cx="12191999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</a:t>
            </a:r>
            <a:r>
              <a:rPr lang="en-I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the guidance of 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K. Madhavi</a:t>
            </a:r>
          </a:p>
          <a:p>
            <a:pPr algn="ctr"/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lang="en-US" altLang="en-GB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>
          <a:xfrm>
            <a:off x="0" y="133004"/>
            <a:ext cx="121920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0" name="Content Placeholder 6"/>
          <p:cNvSpPr>
            <a:spLocks noGrp="1"/>
          </p:cNvSpPr>
          <p:nvPr>
            <p:ph idx="1"/>
          </p:nvPr>
        </p:nvSpPr>
        <p:spPr>
          <a:xfrm>
            <a:off x="485141" y="1393652"/>
            <a:ext cx="11038840" cy="513183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Problem Statement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Outcomes of the Project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Summary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and Requirements 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in the Project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Steps and Execution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 and Future Work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292" y="1623753"/>
            <a:ext cx="11067415" cy="44196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tumors, Alzheimer’s disease, and multiple sclerosis require early and accurate detection to reduce severe neurological complications and improve patient outcomes.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CNN-based MRI classification processes the entire image, which may reduce accuracy due to background noise and lack of precise lesion localization.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models such as U-Net and U-Net++ focus on disease-affected regions, enabling more relevant and discriminative feature extraction.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frameworks combining DenseNet201 and EfficientNetV2-S with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XGBoost can improve classification accuracy and robustness.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best-performing hybrid model will be selected and further integrated with Grad-CAM techniques to visualize important MRI regions, enhancing transparency and clinical reliability.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635" cy="1022985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93725" y="1550670"/>
            <a:ext cx="11004550" cy="437769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diagnosis of brain tumors, Alzheimer’s disease, and multiple sclerosis from MRI scans is complex due to subtle and overlapping imaging patterns.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MRI interpretation is time-consuming and dependent on expert radiologists, leading to possible variability and delayed diagnosis.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CNN-based methods often analyze the full image without precise lesion segmentation, which may reduce classification accuracy.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 hybrid framework integrating U-Net / U-Net++ with deep feature extractors and boosting classifiers for improved performance.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compare two hybrid architectures and select the best-performing model for accurate multi-brain disease detection and GRADCAM  integration.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9416647"/>
              </p:ext>
            </p:extLst>
          </p:nvPr>
        </p:nvGraphicFramePr>
        <p:xfrm>
          <a:off x="484908" y="189807"/>
          <a:ext cx="11222183" cy="6089587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605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6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8844">
                <a:tc>
                  <a:txBody>
                    <a:bodyPr/>
                    <a:lstStyle/>
                    <a:p>
                      <a:pPr algn="l"/>
                      <a:r>
                        <a:rPr lang="en-IN" sz="4000" dirty="0"/>
                        <a:t>       </a:t>
                      </a:r>
                    </a:p>
                    <a:p>
                      <a:pPr algn="ctr"/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pPr algn="ctr"/>
                      <a:r>
                        <a:rPr lang="en-IN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9907">
                <a:tc>
                  <a:txBody>
                    <a:bodyPr/>
                    <a:lstStyle/>
                    <a:p>
                      <a:pPr algn="just"/>
                      <a:endParaRPr lang="en-US" dirty="0"/>
                    </a:p>
                    <a:p>
                      <a:pPr marL="342900" indent="-342900" algn="just">
                        <a:buFont typeface="+mj-lt"/>
                        <a:buAutoNum type="arabicPeriod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an accurate hybrid framework for detecting brain tumors, Alzheimer’s disease, and multiple sclerosis from MRI scans by integrating segmentation and deep feature extraction.</a:t>
                      </a:r>
                    </a:p>
                    <a:p>
                      <a:pPr marL="342900" indent="-342900" algn="just">
                        <a:buFont typeface="+mj-lt"/>
                        <a:buAutoNum type="arabicPeriod"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>
                        <a:buFont typeface="+mj-lt"/>
                        <a:buAutoNum type="arabicPeriod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 U-Net + DenseNet201 +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LightGBM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U-Net++ + EfficientNetV2-S + XGBoost under identical preprocessing and dataset splits to identify the best-performing model.</a:t>
                      </a:r>
                    </a:p>
                    <a:p>
                      <a:pPr marL="342900" indent="-342900" algn="just">
                        <a:buFont typeface="+mj-lt"/>
                        <a:buAutoNum type="arabicPeriod"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>
                        <a:buFont typeface="+mj-lt"/>
                        <a:buAutoNum type="arabicPeriod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 the optimal model and apply Grad-CAM to visualize the MRI regions influencing predictions, improving transparency and clinical trust.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just">
                        <a:buFont typeface="+mj-lt"/>
                        <a:buAutoNum type="arabicPeriod"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>
                        <a:buFont typeface="+mj-lt"/>
                        <a:buAutoNum type="arabicPeriod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trained and validated hybrid framework capable of accurately classifying MRI images into brain tumor, Alzheimer’s disease, and multiple sclerosis categories using segmentation and deep feature extraction.</a:t>
                      </a:r>
                    </a:p>
                    <a:p>
                      <a:pPr marL="342900" indent="-342900" algn="just">
                        <a:buFont typeface="+mj-lt"/>
                        <a:buAutoNum type="arabicPeriod"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>
                        <a:buFont typeface="+mj-lt"/>
                        <a:buAutoNum type="arabicPeriod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detailed performance comparison demonstrating which hybrid architecture—U-Net + DenseNet201 +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LightGBM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 U-Net++ + EfficientNetV2-S + XGBoost—achieves superior accuracy, precision, recall, and F1-score under identical experimental conditions.</a:t>
                      </a:r>
                    </a:p>
                    <a:p>
                      <a:pPr marL="342900" indent="-342900" algn="just">
                        <a:buFont typeface="+mj-lt"/>
                        <a:buAutoNum type="arabicPeriod"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>
                        <a:buFont typeface="+mj-lt"/>
                        <a:buAutoNum type="arabicPeriod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Grad-CAM–based visual explanation highlighting the specific MRI regions influencing the model’s predictions, improving interpretability, transparency, and clinical reliability.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382386"/>
            <a:ext cx="12192635" cy="1188085"/>
          </a:xfrm>
        </p:spPr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043A3E-70B5-35FB-26F5-261F81955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563166"/>
              </p:ext>
            </p:extLst>
          </p:nvPr>
        </p:nvGraphicFramePr>
        <p:xfrm>
          <a:off x="68420" y="482138"/>
          <a:ext cx="12055159" cy="6262737"/>
        </p:xfrm>
        <a:graphic>
          <a:graphicData uri="http://schemas.openxmlformats.org/drawingml/2006/table">
            <a:tbl>
              <a:tblPr firstRow="1" bandRow="1"/>
              <a:tblGrid>
                <a:gridCol w="574570">
                  <a:extLst>
                    <a:ext uri="{9D8B030D-6E8A-4147-A177-3AD203B41FA5}">
                      <a16:colId xmlns:a16="http://schemas.microsoft.com/office/drawing/2014/main" val="2875867845"/>
                    </a:ext>
                  </a:extLst>
                </a:gridCol>
                <a:gridCol w="2777105">
                  <a:extLst>
                    <a:ext uri="{9D8B030D-6E8A-4147-A177-3AD203B41FA5}">
                      <a16:colId xmlns:a16="http://schemas.microsoft.com/office/drawing/2014/main" val="3799087198"/>
                    </a:ext>
                  </a:extLst>
                </a:gridCol>
                <a:gridCol w="1720078">
                  <a:extLst>
                    <a:ext uri="{9D8B030D-6E8A-4147-A177-3AD203B41FA5}">
                      <a16:colId xmlns:a16="http://schemas.microsoft.com/office/drawing/2014/main" val="3962726481"/>
                    </a:ext>
                  </a:extLst>
                </a:gridCol>
                <a:gridCol w="1652292">
                  <a:extLst>
                    <a:ext uri="{9D8B030D-6E8A-4147-A177-3AD203B41FA5}">
                      <a16:colId xmlns:a16="http://schemas.microsoft.com/office/drawing/2014/main" val="2252156065"/>
                    </a:ext>
                  </a:extLst>
                </a:gridCol>
                <a:gridCol w="2465728">
                  <a:extLst>
                    <a:ext uri="{9D8B030D-6E8A-4147-A177-3AD203B41FA5}">
                      <a16:colId xmlns:a16="http://schemas.microsoft.com/office/drawing/2014/main" val="416282613"/>
                    </a:ext>
                  </a:extLst>
                </a:gridCol>
                <a:gridCol w="2865386">
                  <a:extLst>
                    <a:ext uri="{9D8B030D-6E8A-4147-A177-3AD203B41FA5}">
                      <a16:colId xmlns:a16="http://schemas.microsoft.com/office/drawing/2014/main" val="805496833"/>
                    </a:ext>
                  </a:extLst>
                </a:gridCol>
              </a:tblGrid>
              <a:tr h="337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7636832"/>
                  </a:ext>
                </a:extLst>
              </a:tr>
              <a:tr h="1358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CNN-Based Transfer Learning Enhances Brain Tumor Classification on MRI Image, 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2025, IEEE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Journal Article</a:t>
                      </a:r>
                      <a:endParaRPr lang="en-IN" sz="14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izal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dwi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prayogo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Nur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hamid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Hidetaka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nambo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Kaggle MRI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~98% accuracy using ResNet50V2 + MobileNetV2+ DenseNet121 with deep feature fusion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hybrid model increases computational complexity and may lead to overfitting due to multiple deep feature extractors, especially with limited training data</a:t>
                      </a:r>
                    </a:p>
                    <a:p>
                      <a:pPr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3181849"/>
                  </a:ext>
                </a:extLst>
              </a:tr>
              <a:tr h="1147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Brain Tumor Classification using Hybrid Super-Resolution and CNN,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2023, IEEE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Journal Article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Saeed Mohsen, Anas M. Ali, El-Sayed M. El-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Rabaie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Ahmed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Elkaseer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Steffen G. Scholz, Ashraf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Kaggle Brain MRI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96–99% accuracy using GAN-based enhancement with ResNeXt101 and VGG19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binary classification with limited dataset generalization and increased computational complexity due to GAN-based preprocessing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019576"/>
                  </a:ext>
                </a:extLst>
              </a:tr>
              <a:tr h="936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Deep Learning Architecture for Brain Tumor     classification 2025, IEEE 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Conference paper 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(ICVADV)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Bhuvaneswari, Madhan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B,Mohamed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Basman 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MRI tumor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~95% accuracy using VGG16 and InceptionV3 with transfer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binary classification with performance affected by noise, subtle features, and class imbalance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715199"/>
                  </a:ext>
                </a:extLst>
              </a:tr>
              <a:tr h="1358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for Alzheimer’s Disease Detection,2025,IEEE Conference Paper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(ICCPCT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u="none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Krishna Murari Chaudhary, Inderdeep Kaur ,Bhaskar Kumar ,Sneha Yadav, Shreyansh Suman</a:t>
                      </a:r>
                      <a:endParaRPr lang="it-IT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MRI Alzheimer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~90% accuracy using hybrid ResNet + VGG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is affected by noise, lower accuracy in detecting MCI, and requires larger diverse datasets for better 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0526544"/>
                  </a:ext>
                </a:extLst>
              </a:tr>
              <a:tr h="1078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Alzheimer’s Disease Prediction using VGG16 Transfer Learning,2025,IEEE Conference Paper (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IDCIoT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Maharth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Monish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Uprit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Pranav Khattar, Malhar Brahmbhatt,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Alzheimer MRI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~97% accuracy with fine-tuned VGG16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MRI-based detection with high computational complexity and requires further validation for real-world generalization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33627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/>
          <a:lstStyle/>
          <a:p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007" y="980902"/>
            <a:ext cx="11358303" cy="5505624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shows that hybrid CNN-based models achieve around 90–95% accuracy in MRI-based brain disease detection.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studies focus on single-disease detection (Brain Tumor, Alzheimer’s, or Multiple Sclerosis) rather than a unified multi-disease framework.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 often depends on extensive preprocessing, and challenges such as overfitting, dataset imbalance, and high computational cost still exist.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accuracy is high, many research papers do not integrate Explainable AI techniques, limiting clinical interpretability and trust in real-world hospital settings.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this gap, this work proposes a hybrid deep learning model for combined detection of Brain Tumor, Alzheimer’s, and Multiple Sclerosis, along with LIME-based Explainable AI for better transparency and decision support.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24443"/>
            <a:ext cx="12192000" cy="114300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and Requirements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963" y="681642"/>
            <a:ext cx="11804073" cy="6076604"/>
          </a:xfrm>
        </p:spPr>
        <p:txBody>
          <a:bodyPr/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 Disease Dataset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~33,984 MRI images categorized into four stages: Mild Demented, Moderate Demented, Non-Demented, and Very Mild Demented. This dataset helps in identifying the progression stages of Alzheimer’s disease.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21,700 high-quality MRI images divided into four classes: Glioma, Meningioma, Pituitary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Normal. It is used for accurate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and classification.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Sclerosis (MS) Dataset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Comprises 3,427 MRI images collected from patients and healthy individuals, categorized into Control (Axial &amp; Sagittal) and MS (Axial &amp; Sagittal) classes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GPU-enabled environment (such as Kaggle Notebooks) for efficient segmentation and hybrid model training.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Python with TensorFlow and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deep learning, along with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XGBoost for classification. Preprocessing is done using OpenCV, NumPy, and Pandas. Scikit-learn handles evaluation, while Matplotlib and Grad-CAM are used for visualization and explainability</a:t>
            </a:r>
            <a:r>
              <a:rPr lang="en-IN" sz="18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1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A220-A213-7E02-AD30-CD6B00F96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-74816"/>
            <a:ext cx="109728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in the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24B83-4707-52C5-12A2-9B24F64AE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796" y="913708"/>
            <a:ext cx="11896204" cy="5662352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1.EfficientNet-B7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images (244×244×3) are normalized using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preprocessing for stable training.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pretrained EfficientNet-B7 model with fine-tuning extracts deep hierarchical features from MRI images.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pooling, dropout,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perform final multi-class classification.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2.EfficientNet-B3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images (244×244×3) are normalized to ensure consistent learning.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EfficientNet-B3 with partial fine-tuning extracts relevant spatial features.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pooling, dropout,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generate final predictions.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3.AlexNet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images (227×227×3) are processed through convolution and pooling layers to extract features.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are flattened and passed through fully connected layers with dropout.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outputs probability distribution across brain disease classes.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16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22CB4-5A7C-4983-34A5-5ED78FA23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190" y="947650"/>
            <a:ext cx="11646133" cy="571915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4.Hybrid Model- 1 (U-Net++ + EfficientNetV2-S + XGBoost):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– Input MRI images are resized to 224×224×3, converted to RGB, and normalized using ImageNet statistics for stable training.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– Images are passed through U-Net++, which is trained using Dice Loss and Binary Cross-Entropy to learn accurate brain region segmentation.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– U-Net++ generates a pseudo mask highlighting important brain regions while suppressing background noise.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– The mask is applied to the original image to obtain a region-focused image containing disease-relevant features.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– The masked image is fed into EfficientNetV2-S, initialized with pretrained weights for deep feature extraction.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 – The classification head is removed, and a high-dimensional feature vector is extracted from the network.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 – The extracted features are given to XGBoost, which learns complex decision boundaries using gradient boosting.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 – The model outputs class probabilities, and the class with the highest probability is selected as the final prediction.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989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B63CA-D371-62D6-34A8-B8BFA42DE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98" y="964276"/>
            <a:ext cx="11791604" cy="5602779"/>
          </a:xfrm>
        </p:spPr>
        <p:txBody>
          <a:bodyPr/>
          <a:lstStyle/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5.Hybrid Model- 2 (U-Net + DenseNet201 +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– Input MRI images are resized to 224×224×3, converted to RGB, and normalized using ImageNet preprocessing for stable training.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– Images are passed through U-Net segmentation, trained using Dice Loss and Binary Cross-Entropy to learn brain region segmentation.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– U-Net generates a binary mask highlighting important brain regions while removing background noise.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– The mask is applied to the original image to obtain a region-focused image containing disease-relevant features.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– The masked image is fed into DenseNet201, initialized with pretrained weights for deep feature extraction.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 – The classification layer is removed, and a high-dimensional feature vector is extracted from the network.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 – The extracted features are passed to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learns complex decision boundaries using gradient boosting.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 – The model outputs class probabilities, and the class with the highest probability is selected as the final prediction.</a:t>
            </a:r>
          </a:p>
          <a:p>
            <a:pPr marL="0" indent="0" algn="just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545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635" cy="1114425"/>
          </a:xfrm>
        </p:spPr>
        <p:txBody>
          <a:bodyPr/>
          <a:lstStyle/>
          <a:p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9">
            <a:extLst>
              <a:ext uri="{FF2B5EF4-FFF2-40B4-BE49-F238E27FC236}">
                <a16:creationId xmlns:a16="http://schemas.microsoft.com/office/drawing/2014/main" id="{EC4038DD-E745-3173-926F-26E95ABF7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90" y="1230804"/>
            <a:ext cx="11413374" cy="5145059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F5931-08EB-9795-3999-17C337FFE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Implementations Steps and Execution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A5148-349C-5337-85CA-4F77AD265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19" y="1749829"/>
            <a:ext cx="11360727" cy="4750724"/>
          </a:xfrm>
        </p:spPr>
        <p:txBody>
          <a:bodyPr/>
          <a:lstStyle/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 : Three MRI datasets (Brain Tumor, Alzheimer’s, Multiple Sclerosis) are combined into a single dataset. The dataset is balanced to 1000 images per class to avoid class imbalance.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: Images are resized to 224 × 224 and converted from BGR to RGB format. Pixel normalization is applied to scale values between 0 and 1.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 Mask Generation : Otsu thresholding is used to generate pseudo segmentation masks. Morphological operations are applied to refine the region of interest.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using U-Net++ : U-Net++ is trained using pseudo masks to learn spatial features. The model generates refined segmentation maps of brain regions.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ROI Extraction : The predicted segmentation mask is applied to the input image. Background noise is removed and only disease-relevant regions are retained.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947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362B6-7064-0901-CA81-75B4D1980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99952"/>
            <a:ext cx="11161222" cy="4759036"/>
          </a:xfrm>
        </p:spPr>
        <p:txBody>
          <a:bodyPr/>
          <a:lstStyle/>
          <a:p>
            <a:pPr algn="just">
              <a:lnSpc>
                <a:spcPct val="150000"/>
              </a:lnSpc>
              <a:buFont typeface="+mj-lt"/>
              <a:buAutoNum type="arabicPeriod" startAt="6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: EfficientNetV2-S is initialized with pretrained ImageNet weights and fine-tuned on MRI data. The model extracts high-dimensional feature vectors of size 1280.</a:t>
            </a:r>
          </a:p>
          <a:p>
            <a:pPr algn="just">
              <a:lnSpc>
                <a:spcPct val="150000"/>
              </a:lnSpc>
              <a:buFont typeface="+mj-lt"/>
              <a:buAutoNum type="arabicPeriod" startAt="6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Extracted features are provided as input to XGBoost. The classifier performs multi-class prediction by learning complex decision boundaries.</a:t>
            </a:r>
          </a:p>
          <a:p>
            <a:pPr algn="just">
              <a:lnSpc>
                <a:spcPct val="150000"/>
              </a:lnSpc>
              <a:buFont typeface="+mj-lt"/>
              <a:buAutoNum type="arabicPeriod" startAt="6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Evaluation : The dataset is divided into training, validation, and testing sets. The model is evaluated using accuracy, precision, recall, F1-score, and confusion matrix.</a:t>
            </a:r>
          </a:p>
          <a:p>
            <a:pPr algn="just">
              <a:lnSpc>
                <a:spcPct val="150000"/>
              </a:lnSpc>
              <a:buFont typeface="+mj-lt"/>
              <a:buAutoNum type="arabicPeriod" startAt="6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Deployment : The best-performing model is integrated into a web application. It allows real-time prediction of brain diseases from MRI images.</a:t>
            </a:r>
          </a:p>
          <a:p>
            <a:pPr algn="just">
              <a:lnSpc>
                <a:spcPct val="150000"/>
              </a:lnSpc>
              <a:buFont typeface="+mj-lt"/>
              <a:buAutoNum type="arabicPeriod" startAt="6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Interpretation : Grad-CAM is applied to visualize important regions in MRI images. It helps in understanding the model’s decision-making process.</a:t>
            </a:r>
          </a:p>
          <a:p>
            <a:pPr algn="just">
              <a:lnSpc>
                <a:spcPct val="150000"/>
              </a:lnSpc>
              <a:buFont typeface="+mj-lt"/>
              <a:buAutoNum type="arabicPeriod" startAt="6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735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" y="-87786"/>
            <a:ext cx="12192635" cy="114300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Obtained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349348-3BD4-874A-250D-EC7B4CB883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6773488" y="1375117"/>
            <a:ext cx="5234247" cy="20032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7F7AB4-2D16-A2CD-5F3B-5982906D66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0254" y="4158459"/>
            <a:ext cx="2109268" cy="23624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777B66-E15D-9777-39D7-680AFB1F510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7382926" y="3378384"/>
            <a:ext cx="4462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EfficientNet-B3 detected as Tumor along  with LIME Visualization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F4832F-AA45-C538-B324-F4CFDF51DB1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238055" y="6437779"/>
            <a:ext cx="4253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Score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B359964-3F58-72DD-CB69-DB4CCF43F51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99" y="2158985"/>
            <a:ext cx="2424950" cy="3365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608C968-3C8C-5AC6-BB46-BD6069D2181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649" y="2106797"/>
            <a:ext cx="2286001" cy="338307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23A9303-5DA6-FB4E-EBD3-46AE7073075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0436" y="5524947"/>
            <a:ext cx="4253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EfficientNet-B7 detected as Tumor 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FCF1DF-6C3C-70C2-A69F-C7523200364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-258017" y="5560027"/>
            <a:ext cx="4253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EfficientNet-B7 detected as Alzheimer 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C067C6-F082-8A9D-050E-A978F73AD1D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-407322" y="1090294"/>
            <a:ext cx="2801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A10F80-22A6-CECF-AECC-52EA4D47C3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61994" y="3827941"/>
            <a:ext cx="5809315" cy="25218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24DA75-1E98-228A-6099-1F9B94BB813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61994" y="2782669"/>
            <a:ext cx="5058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-1 detected as  tumor  along with Grad-CAM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Visulization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E16D3-AC3A-9F41-3B01-DF44DFC7426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31197" y="6349751"/>
            <a:ext cx="4253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Predictions along with explanation  for Brain tumor 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2542D91-E94E-D2DD-A6B4-5E31BB2F4E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633" y="259203"/>
            <a:ext cx="4644041" cy="25262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3A4DCF0-5138-595A-77B3-86023B709C6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564922" y="2706893"/>
            <a:ext cx="51560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-1 detected as Multiple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Sclerosis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along with Grad-CAM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Visulization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74B9C62-ABA4-CCDC-D936-1FD53BDCD4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4922" y="232861"/>
            <a:ext cx="5014707" cy="243508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17DE394-D010-6D59-F948-B32A7451C9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3983" y="3827941"/>
            <a:ext cx="5156023" cy="250023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CB5630-68DF-55E7-A961-46FED7C93FE7}"/>
              </a:ext>
            </a:extLst>
          </p:cNvPr>
          <p:cNvSpPr txBox="1"/>
          <p:nvPr/>
        </p:nvSpPr>
        <p:spPr>
          <a:xfrm>
            <a:off x="6220693" y="6403680"/>
            <a:ext cx="60973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Predictions along with explanation  for Multiple Sclerosis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277D4-368C-F485-9299-39E1F6F9E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05987"/>
            <a:ext cx="10972800" cy="876300"/>
          </a:xfrm>
        </p:spPr>
        <p:txBody>
          <a:bodyPr/>
          <a:lstStyle/>
          <a:p>
            <a:r>
              <a:rPr lang="en-IN" dirty="0"/>
              <a:t>Result Analysis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C0A00B-4A82-AA9C-926F-76CE726A967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rcRect l="2032" t="2795" r="1495"/>
          <a:stretch>
            <a:fillRect/>
          </a:stretch>
        </p:blipFill>
        <p:spPr>
          <a:xfrm>
            <a:off x="4895566" y="1064194"/>
            <a:ext cx="2477824" cy="2315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39CA95-8483-AC24-97BC-6BBFDEAD5CB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/>
          <a:srcRect t="2795" r="934"/>
          <a:stretch>
            <a:fillRect/>
          </a:stretch>
        </p:blipFill>
        <p:spPr>
          <a:xfrm>
            <a:off x="5047846" y="4079915"/>
            <a:ext cx="2469630" cy="22478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D489B0-B0D9-6F71-4F42-F2D530F7D67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/>
          <a:srcRect l="3901" t="4500" b="2469"/>
          <a:stretch>
            <a:fillRect/>
          </a:stretch>
        </p:blipFill>
        <p:spPr>
          <a:xfrm>
            <a:off x="8880978" y="966732"/>
            <a:ext cx="2478967" cy="22664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ECF533-F281-DB56-47AA-2A3C04B1079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/>
          <a:srcRect t="4500" r="2964" b="2469"/>
          <a:stretch>
            <a:fillRect/>
          </a:stretch>
        </p:blipFill>
        <p:spPr>
          <a:xfrm>
            <a:off x="9008946" y="3964844"/>
            <a:ext cx="2573454" cy="23300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FE00F4-9A56-D021-C3C8-009AF386CEEF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3" y="1064194"/>
            <a:ext cx="2799714" cy="2266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9261FE-5AA4-AD2D-60AB-BFD7381868B9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72" y="4080320"/>
            <a:ext cx="2693670" cy="235495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A7CE31A-A6A9-7FBF-6F0B-08D07E8D528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0" y="6191279"/>
            <a:ext cx="39866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Loss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of EfficientNet-B7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57057A-11FF-71DB-54D4-14030384512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124296" y="3264998"/>
            <a:ext cx="4264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Accuracy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of Alex Net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3C5F7A-E1EF-4A04-FDB1-C39CC71CCCD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290021" y="3380069"/>
            <a:ext cx="3834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Accuracy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of EfficientNet-B3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967169-1335-D757-A58F-683BD11912B7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589645" y="6273225"/>
            <a:ext cx="3834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Loss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of EfficientNet-B3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60AA9B-4270-8268-7193-6164C6510C84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0" y="3330629"/>
            <a:ext cx="3834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Accuracy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of EfficientNet-B7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A85F57-FD52-F9AD-EFC0-8E9DA681DC37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22822" y="6294941"/>
            <a:ext cx="3834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Loss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of Alex Net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701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CD921E-EB64-2486-ADA9-7F9DC9E266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152" y="226965"/>
            <a:ext cx="3015439" cy="23746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5D36D5-C53E-A682-FEE1-56CB697552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590" y="3625203"/>
            <a:ext cx="3015439" cy="23149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F54B16-6802-4118-107B-11245A86CC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2942" y="152457"/>
            <a:ext cx="2945673" cy="25176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8D54B0-F06A-2E25-0179-D527BF3C57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7570" y="227576"/>
            <a:ext cx="3567383" cy="2374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980AB0-9245-AA49-A5D6-3A6F998241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3801" y="3349673"/>
            <a:ext cx="3733609" cy="27053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ACA60E-0FE6-ABC5-2C67-B9CB58CB91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98188" y="3547609"/>
            <a:ext cx="2835750" cy="24049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3415761-18DD-C81F-E8BB-A8D5B7FE852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-275483" y="2601577"/>
            <a:ext cx="42153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Accuracy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 of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Model- 1 (U-Net++ + EfficientNetV2-S + XGBoost)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F78DB9-6E8E-2C29-40C7-3392399614A9}"/>
              </a:ext>
            </a:extLst>
          </p:cNvPr>
          <p:cNvSpPr txBox="1"/>
          <p:nvPr/>
        </p:nvSpPr>
        <p:spPr>
          <a:xfrm>
            <a:off x="3939892" y="2715679"/>
            <a:ext cx="3886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Model- 1 (U-Net++ + EfficientNetV2-S + XGBoost)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32801E-0806-D2F2-26F6-B7CF51B76EEB}"/>
              </a:ext>
            </a:extLst>
          </p:cNvPr>
          <p:cNvSpPr txBox="1"/>
          <p:nvPr/>
        </p:nvSpPr>
        <p:spPr>
          <a:xfrm>
            <a:off x="4560147" y="5952531"/>
            <a:ext cx="30717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of 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Model- 2 (U-Net + DenseNet201 +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F1FF13-EED2-A164-A70B-B2A86E445DC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096745" y="2676697"/>
            <a:ext cx="39229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Accuracy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(U-Net + DenseNet201 +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CA56A8-72A5-5CBD-3C38-B798A58E3FE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5940375"/>
            <a:ext cx="42062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Loss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Model- 1 (U-Net++ + EfficientNetV2-S + XGBoost)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4EDD27-D735-B649-4890-76D4578E555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692135" y="5985349"/>
            <a:ext cx="4596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Loss 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of 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Model- 2 (U-Net + DenseNet201 +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23197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16">
            <a:extLst>
              <a:ext uri="{FF2B5EF4-FFF2-40B4-BE49-F238E27FC236}">
                <a16:creationId xmlns:a16="http://schemas.microsoft.com/office/drawing/2014/main" id="{B1415C58-4D9C-38BA-5DBA-A080AED3CB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8345336"/>
              </p:ext>
            </p:extLst>
          </p:nvPr>
        </p:nvGraphicFramePr>
        <p:xfrm>
          <a:off x="158288" y="312420"/>
          <a:ext cx="11742420" cy="5418202"/>
        </p:xfrm>
        <a:graphic>
          <a:graphicData uri="http://schemas.openxmlformats.org/drawingml/2006/table">
            <a:tbl>
              <a:tblPr firstRow="1" bandRow="1"/>
              <a:tblGrid>
                <a:gridCol w="1720676">
                  <a:extLst>
                    <a:ext uri="{9D8B030D-6E8A-4147-A177-3AD203B41FA5}">
                      <a16:colId xmlns:a16="http://schemas.microsoft.com/office/drawing/2014/main" val="3601918629"/>
                    </a:ext>
                  </a:extLst>
                </a:gridCol>
                <a:gridCol w="1650913">
                  <a:extLst>
                    <a:ext uri="{9D8B030D-6E8A-4147-A177-3AD203B41FA5}">
                      <a16:colId xmlns:a16="http://schemas.microsoft.com/office/drawing/2014/main" val="3201625207"/>
                    </a:ext>
                  </a:extLst>
                </a:gridCol>
                <a:gridCol w="1660877">
                  <a:extLst>
                    <a:ext uri="{9D8B030D-6E8A-4147-A177-3AD203B41FA5}">
                      <a16:colId xmlns:a16="http://schemas.microsoft.com/office/drawing/2014/main" val="2231494065"/>
                    </a:ext>
                  </a:extLst>
                </a:gridCol>
                <a:gridCol w="1571193">
                  <a:extLst>
                    <a:ext uri="{9D8B030D-6E8A-4147-A177-3AD203B41FA5}">
                      <a16:colId xmlns:a16="http://schemas.microsoft.com/office/drawing/2014/main" val="14638428"/>
                    </a:ext>
                  </a:extLst>
                </a:gridCol>
                <a:gridCol w="1783783">
                  <a:extLst>
                    <a:ext uri="{9D8B030D-6E8A-4147-A177-3AD203B41FA5}">
                      <a16:colId xmlns:a16="http://schemas.microsoft.com/office/drawing/2014/main" val="1029421235"/>
                    </a:ext>
                  </a:extLst>
                </a:gridCol>
                <a:gridCol w="1677489">
                  <a:extLst>
                    <a:ext uri="{9D8B030D-6E8A-4147-A177-3AD203B41FA5}">
                      <a16:colId xmlns:a16="http://schemas.microsoft.com/office/drawing/2014/main" val="736869923"/>
                    </a:ext>
                  </a:extLst>
                </a:gridCol>
                <a:gridCol w="1677489">
                  <a:extLst>
                    <a:ext uri="{9D8B030D-6E8A-4147-A177-3AD203B41FA5}">
                      <a16:colId xmlns:a16="http://schemas.microsoft.com/office/drawing/2014/main" val="491648510"/>
                    </a:ext>
                  </a:extLst>
                </a:gridCol>
              </a:tblGrid>
              <a:tr h="444108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U-Net++ + EfficientNetV2-S + XGBoost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400" b="1" i="0" u="none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U-Net + DenseNet201 + </a:t>
                      </a:r>
                      <a:r>
                        <a:rPr lang="en-IN" sz="1400" b="1" i="0" u="none" kern="1200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LightGBM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40710545"/>
                  </a:ext>
                </a:extLst>
              </a:tr>
              <a:tr h="350003">
                <a:tc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052260"/>
                  </a:ext>
                </a:extLst>
              </a:tr>
              <a:tr h="350003"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Control_Axial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9346623"/>
                  </a:ext>
                </a:extLst>
              </a:tr>
              <a:tr h="350003"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Control_Saggital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7013265"/>
                  </a:ext>
                </a:extLst>
              </a:tr>
              <a:tr h="350003"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MS_Axial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4140721"/>
                  </a:ext>
                </a:extLst>
              </a:tr>
              <a:tr h="350003"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MS_Saggital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3669563"/>
                  </a:ext>
                </a:extLst>
              </a:tr>
              <a:tr h="350003"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Mild_Demented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0.89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0.84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0.87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7309198"/>
                  </a:ext>
                </a:extLst>
              </a:tr>
              <a:tr h="350003"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Moderate_Demented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0.88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0.87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4350234"/>
                  </a:ext>
                </a:extLst>
              </a:tr>
              <a:tr h="350003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Mild Demented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0.81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0.88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0.84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1866495"/>
                  </a:ext>
                </a:extLst>
              </a:tr>
              <a:tr h="350003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 Demented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8820008"/>
                  </a:ext>
                </a:extLst>
              </a:tr>
              <a:tr h="350003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Glioma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1.0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879564"/>
                  </a:ext>
                </a:extLst>
              </a:tr>
              <a:tr h="350003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Meningioma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0.75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0.78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0.77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0.79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0.74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0.76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8603019"/>
                  </a:ext>
                </a:extLst>
              </a:tr>
              <a:tr h="350003"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Pitutary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0.71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0.72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0.72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0.61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0.76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0.61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5039772"/>
                  </a:ext>
                </a:extLst>
              </a:tr>
              <a:tr h="350003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0.91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0.87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0.89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0.89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0.78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0.83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6218521"/>
                  </a:ext>
                </a:extLst>
              </a:tr>
              <a:tr h="350003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Accuracy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0.9122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0.8856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31682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348A7FC-DCA6-A287-0BDE-37FB2054A50B}"/>
              </a:ext>
            </a:extLst>
          </p:cNvPr>
          <p:cNvSpPr txBox="1"/>
          <p:nvPr/>
        </p:nvSpPr>
        <p:spPr>
          <a:xfrm>
            <a:off x="80702" y="5899249"/>
            <a:ext cx="120305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U-Net++ + EfficientNetV2-S + XGBoost model performs better than U-Net + DenseNet201 +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it extracts and understands features more effectively.</a:t>
            </a:r>
          </a:p>
        </p:txBody>
      </p:sp>
    </p:spTree>
    <p:extLst>
      <p:ext uri="{BB962C8B-B14F-4D97-AF65-F5344CB8AC3E}">
        <p14:creationId xmlns:p14="http://schemas.microsoft.com/office/powerpoint/2010/main" val="1014765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DC552-B0CC-FC36-F75B-A5C1C7610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56"/>
            <a:ext cx="10972800" cy="1143000"/>
          </a:xfrm>
        </p:spPr>
        <p:txBody>
          <a:bodyPr/>
          <a:lstStyle/>
          <a:p>
            <a:r>
              <a:rPr lang="en-US" dirty="0"/>
              <a:t>Conclusion and Future Work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A7952-D1B1-1836-C3A1-1A38338C1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34" y="1147156"/>
            <a:ext cx="11369040" cy="531183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deep learning framework was developed for multi-brain disease detection by integrating segmentation, feature extraction, and boosting-based classification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accurately classifies brain tumor, Alzheimer’s disease, and multiple sclerosis using a unified dataset, with improved performance through ROI-based learning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model provides reliable and interpretable predictions using Grad-CAM, supporting real-time clinical decision-making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MRI datasets and larger, fully annotated datasets can be utilized to improve detection accuracy, segmentation quality, and overall model robustness in real-world scenarios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additional disease classes, large language models (LLMs), and hospital systems can extend the system for automated reporting, decision support, and practical clinical deployment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799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928" y="62865"/>
            <a:ext cx="12192635" cy="1158875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⁠References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050" y="837882"/>
            <a:ext cx="11028680" cy="5377815"/>
          </a:xfrm>
        </p:spPr>
        <p:txBody>
          <a:bodyPr/>
          <a:lstStyle/>
          <a:p>
            <a:pPr marL="0" indent="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 Rizal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dwi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prayogo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Nur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Hidetaka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nambo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CNN-Based Transfer Learning Enhances Brain Tumor Classification on MRI Images”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2025(IEEE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Journal Article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Saeed Mohsen, Anas M. Ali, El-Sayed M. El-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Rabaie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Ahmed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Elkaseer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Steffen G. Scholz, Ashraf “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Tumor Classification Using Hybrid Single Image Super-Resolution Technique With ResNext101_32×8d and VGG19 Pre-Trained Models using Hybrid models”2023(IEEE Research Journal Article)</a:t>
            </a:r>
          </a:p>
          <a:p>
            <a:pPr marL="0" indent="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Bhuvaneswari, Madhan B, Mohamed Basman M,”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Hybrid Deep Learning Architecture for Accurate Brain Tumor Classification” 2025( IEEE Conference- (ICVADV) 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Krishna Murari Chaudhary, Inderdeep Kaur ,Bhaskar Kumar ,Sneha Yadav, Shreyansh Suman “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Approaches for Early Detection of Alzheimer’s Disease Using MRI Scans” 2025(IEEE Conference -(ICCPCT)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Maharth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Monish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Uprit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Pranav Khattar, Malhar Brahmbhatt,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Preethiya.T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“Alzheimer's Disease Prediction using VGG16 and Transfer Learning” 2025 (IEEE Conference –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IDCIoT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marL="0" indent="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S.Dhanasekar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K.Harini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S.Hariharan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L.Charu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Leela,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A.Bharathi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for Brain Tumor Detection, Classification &amp; Segmentation” 2025 (IEEE Conference –(I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CONAT))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6" name="Content Placeholder 1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0" y="0"/>
            <a:ext cx="1256258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0*489"/>
  <p:tag name="TABLE_ENDDRAG_RECT" val="43*11*870*48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10399303659256,&quot;left&quot;:76.50889763779522,&quot;top&quot;:189.3644881889764,&quot;width&quot;:562.992362204724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10399303659256,&quot;left&quot;:76.50889763779522,&quot;top&quot;:189.3644881889764,&quot;width&quot;:562.992362204724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10399303659256,&quot;left&quot;:76.50889763779522,&quot;top&quot;:189.3644881889764,&quot;width&quot;:562.992362204724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10399303659256,&quot;left&quot;:76.50889763779522,&quot;top&quot;:189.3644881889764,&quot;width&quot;:562.992362204724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10399303659256,&quot;left&quot;:76.50889763779522,&quot;top&quot;:189.3644881889764,&quot;width&quot;:562.992362204724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10399303659256,&quot;left&quot;:76.50889763779522,&quot;top&quot;:189.3644881889764,&quot;width&quot;:562.992362204724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10399303659256,&quot;left&quot;:76.50889763779522,&quot;top&quot;:189.3644881889764,&quot;width&quot;:562.992362204724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10399303659256,&quot;left&quot;:76.50889763779522,&quot;top&quot;:189.3644881889764,&quot;width&quot;:562.992362204724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1040157480315,&quot;left&quot;:76.50889763779522,&quot;top&quot;:189.3644881889764,&quot;width&quot;:562.992362204724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1040157480315,&quot;left&quot;:76.50889763779522,&quot;top&quot;:189.3644881889764,&quot;width&quot;:562.992362204724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67874015748,&quot;left&quot;:9.45,&quot;top&quot;:149.46661417322835,&quot;width&quot;:637.251259842519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67874015748,&quot;left&quot;:9.45,&quot;top&quot;:149.46661417322835,&quot;width&quot;:637.2512598425197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67874015748,&quot;left&quot;:9.45,&quot;top&quot;:149.46661417322835,&quot;width&quot;:637.2512598425197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67874015748,&quot;left&quot;:9.45,&quot;top&quot;:149.46661417322835,&quot;width&quot;:637.2512598425197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67874015748,&quot;left&quot;:9.45,&quot;top&quot;:149.46661417322835,&quot;width&quot;:637.251259842519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67874015748,&quot;left&quot;:9.45,&quot;top&quot;:149.46661417322835,&quot;width&quot;:637.2512598425197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67874015748,&quot;left&quot;:9.45,&quot;top&quot;:149.46661417322835,&quot;width&quot;:637.2512598425197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67874015748,&quot;left&quot;:9.45,&quot;top&quot;:149.46661417322835,&quot;width&quot;:637.2512598425197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67874015748,&quot;left&quot;:9.45,&quot;top&quot;:149.46661417322835,&quot;width&quot;:637.2512598425197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67874015748,&quot;left&quot;:9.45,&quot;top&quot;:149.46661417322835,&quot;width&quot;:637.2512598425197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67874015748,&quot;left&quot;:9.45,&quot;top&quot;:149.46661417322835,&quot;width&quot;:637.2512598425197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3.867874015748,&quot;left&quot;:9.45,&quot;top&quot;:149.46661417322835,&quot;width&quot;:637.2512598425197}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2609</Words>
  <Application>Microsoft Office PowerPoint</Application>
  <PresentationFormat>Widescreen</PresentationFormat>
  <Paragraphs>298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AngsanaUPC</vt:lpstr>
      <vt:lpstr>Arial</vt:lpstr>
      <vt:lpstr>Calibri</vt:lpstr>
      <vt:lpstr>Times New Roman</vt:lpstr>
      <vt:lpstr>Default Design</vt:lpstr>
      <vt:lpstr>PowerPoint Presentation</vt:lpstr>
      <vt:lpstr>Agenda</vt:lpstr>
      <vt:lpstr>Introduction</vt:lpstr>
      <vt:lpstr>Problem Statement </vt:lpstr>
      <vt:lpstr>PowerPoint Presentation</vt:lpstr>
      <vt:lpstr>Literature Review and Summary</vt:lpstr>
      <vt:lpstr> </vt:lpstr>
      <vt:lpstr>Datasets and Requirements </vt:lpstr>
      <vt:lpstr>Algorithms used in the Project</vt:lpstr>
      <vt:lpstr>PowerPoint Presentation</vt:lpstr>
      <vt:lpstr>PowerPoint Presentation</vt:lpstr>
      <vt:lpstr> Architecture Diagram </vt:lpstr>
      <vt:lpstr>Implementations Steps and Execution </vt:lpstr>
      <vt:lpstr>PowerPoint Presentation</vt:lpstr>
      <vt:lpstr>Results Obtained </vt:lpstr>
      <vt:lpstr>PowerPoint Presentation</vt:lpstr>
      <vt:lpstr>Result Analysis </vt:lpstr>
      <vt:lpstr>PowerPoint Presentation</vt:lpstr>
      <vt:lpstr>PowerPoint Presentation</vt:lpstr>
      <vt:lpstr>Conclusion and Future Work </vt:lpstr>
      <vt:lpstr>⁠References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deepika pudi</cp:lastModifiedBy>
  <cp:revision>19</cp:revision>
  <dcterms:modified xsi:type="dcterms:W3CDTF">2026-04-19T18:14:18Z</dcterms:modified>
</cp:coreProperties>
</file>