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98" r:id="rId4"/>
    <p:sldId id="285" r:id="rId5"/>
    <p:sldId id="260" r:id="rId6"/>
    <p:sldId id="288" r:id="rId7"/>
    <p:sldId id="289" r:id="rId8"/>
    <p:sldId id="290" r:id="rId9"/>
    <p:sldId id="293" r:id="rId10"/>
    <p:sldId id="294" r:id="rId11"/>
    <p:sldId id="295" r:id="rId12"/>
    <p:sldId id="296" r:id="rId13"/>
    <p:sldId id="297" r:id="rId14"/>
    <p:sldId id="306" r:id="rId15"/>
    <p:sldId id="263" r:id="rId16"/>
    <p:sldId id="299" r:id="rId17"/>
    <p:sldId id="303" r:id="rId18"/>
    <p:sldId id="300" r:id="rId19"/>
    <p:sldId id="304" r:id="rId20"/>
    <p:sldId id="301" r:id="rId21"/>
    <p:sldId id="305" r:id="rId22"/>
    <p:sldId id="302" r:id="rId23"/>
    <p:sldId id="269" r:id="rId24"/>
    <p:sldId id="287"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epika pudi" initials="d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70580" autoAdjust="0"/>
  </p:normalViewPr>
  <p:slideViewPr>
    <p:cSldViewPr snapToGrid="0" showGuides="1">
      <p:cViewPr>
        <p:scale>
          <a:sx n="75" d="100"/>
          <a:sy n="75" d="100"/>
        </p:scale>
        <p:origin x="965" y="557"/>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02"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903"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90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905"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6"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907"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5728" y="1600200"/>
            <a:ext cx="5376672"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709EB9-74CB-46C9-A7CD-9D77C0A40538}"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709EB9-74CB-46C9-A7CD-9D77C0A40538}" type="datetimeFigureOut">
              <a:rPr lang="en-IN" smtClean="0"/>
              <a:t>17-05-2025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709EB9-74CB-46C9-A7CD-9D77C0A40538}" type="datetimeFigureOut">
              <a:rPr lang="en-IN" smtClean="0"/>
              <a:t>17-05-2025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709EB9-74CB-46C9-A7CD-9D77C0A40538}" type="datetimeFigureOut">
              <a:rPr lang="en-IN" smtClean="0"/>
              <a:t>17-05-2025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709EB9-74CB-46C9-A7CD-9D77C0A40538}" type="datetimeFigureOut">
              <a:rPr lang="en-IN" smtClean="0"/>
              <a:t>17-05-2025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709EB9-74CB-46C9-A7CD-9D77C0A40538}" type="datetimeFigureOut">
              <a:rPr lang="en-IN" smtClean="0"/>
              <a:t>17-05-2025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FC6DA7-42EC-4B7B-A6A2-F802FDA1DCA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Title 1025"/>
          <p:cNvSpPr>
            <a:spLocks noGrp="1"/>
          </p:cNvSpPr>
          <p:nvPr>
            <p:ph type="title"/>
          </p:nvPr>
        </p:nvSpPr>
        <p:spPr>
          <a:xfrm>
            <a:off x="609600" y="274638"/>
            <a:ext cx="10972800" cy="1143000"/>
          </a:xfrm>
          <a:prstGeom prst="rect">
            <a:avLst/>
          </a:prstGeom>
          <a:noFill/>
          <a:ln w="9525">
            <a:noFill/>
          </a:ln>
        </p:spPr>
        <p:txBody>
          <a:bodyPr anchor="ctr" anchorCtr="0"/>
          <a:lstStyle/>
          <a:p>
            <a:pPr lvl="0"/>
            <a:r>
              <a:t>Click to edit Master title style</a:t>
            </a:r>
          </a:p>
        </p:txBody>
      </p:sp>
      <p:sp>
        <p:nvSpPr>
          <p:cNvPr id="1027" name="Text Placeholder 1026"/>
          <p:cNvSpPr>
            <a:spLocks noGrp="1"/>
          </p:cNvSpPr>
          <p:nvPr>
            <p:ph type="body" idx="1"/>
          </p:nvPr>
        </p:nvSpPr>
        <p:spPr>
          <a:xfrm>
            <a:off x="609600" y="1600200"/>
            <a:ext cx="10972800" cy="4525963"/>
          </a:xfrm>
          <a:prstGeom prst="rect">
            <a:avLst/>
          </a:prstGeom>
          <a:noFill/>
          <a:ln w="9525">
            <a:noFill/>
          </a:ln>
        </p:spPr>
        <p:txBody>
          <a:body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1D709EB9-74CB-46C9-A7CD-9D77C0A40538}" type="datetimeFigureOut">
              <a:rPr lang="en-IN" smtClean="0"/>
              <a:t>17-05-2025</a:t>
            </a:fld>
            <a:endParaRPr lang="en-IN"/>
          </a:p>
        </p:txBody>
      </p:sp>
      <p:sp>
        <p:nvSpPr>
          <p:cNvPr id="1029" name="Footer Placeholder 1028"/>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en-IN"/>
          </a:p>
        </p:txBody>
      </p:sp>
      <p:sp>
        <p:nvSpPr>
          <p:cNvPr id="1030" name="Slide Number Placeholder 1029"/>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99FC6DA7-42EC-4B7B-A6A2-F802FDA1DCA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GIF"/><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2" name="Picture 3"/>
          <p:cNvPicPr>
            <a:picLocks noChangeAspect="1" noChangeArrowheads="1"/>
          </p:cNvPicPr>
          <p:nvPr>
            <p:custDataLst>
              <p:tags r:id="rId1"/>
            </p:custDataLst>
          </p:nvPr>
        </p:nvPicPr>
        <p:blipFill>
          <a:blip r:embed="rId10"/>
          <a:srcRect/>
          <a:stretch>
            <a:fillRect/>
          </a:stretch>
        </p:blipFill>
        <p:spPr bwMode="auto">
          <a:xfrm>
            <a:off x="0" y="0"/>
            <a:ext cx="2073275" cy="1122045"/>
          </a:xfrm>
          <a:prstGeom prst="rect">
            <a:avLst/>
          </a:prstGeom>
          <a:noFill/>
          <a:ln>
            <a:noFill/>
          </a:ln>
        </p:spPr>
      </p:pic>
      <p:sp>
        <p:nvSpPr>
          <p:cNvPr id="1048584" name="TextBox 6"/>
          <p:cNvSpPr txBox="1"/>
          <p:nvPr>
            <p:custDataLst>
              <p:tags r:id="rId2"/>
            </p:custDataLst>
          </p:nvPr>
        </p:nvSpPr>
        <p:spPr>
          <a:xfrm>
            <a:off x="2056765" y="267335"/>
            <a:ext cx="8806815" cy="757555"/>
          </a:xfrm>
          <a:prstGeom prst="rect">
            <a:avLst/>
          </a:prstGeom>
          <a:noFill/>
        </p:spPr>
        <p:txBody>
          <a:bodyPr wrap="square" lIns="19998" tIns="9999" rIns="19998" bIns="9999" rtlCol="0">
            <a:spAutoFit/>
          </a:bodyPr>
          <a:lstStyle/>
          <a:p>
            <a:pPr algn="ctr"/>
            <a:r>
              <a:rPr lang="en-IN" sz="2400" b="1" dirty="0">
                <a:solidFill>
                  <a:srgbClr val="0000FF"/>
                </a:solidFill>
                <a:latin typeface="Times New Roman" panose="02020603050405020304" pitchFamily="18" charset="0"/>
                <a:cs typeface="Times New Roman" panose="02020603050405020304" pitchFamily="18" charset="0"/>
              </a:rPr>
              <a:t>Department of Information Technology</a:t>
            </a:r>
          </a:p>
          <a:p>
            <a:pPr algn="ctr"/>
            <a:r>
              <a:rPr lang="en-IN" sz="2400" b="1" dirty="0">
                <a:solidFill>
                  <a:srgbClr val="FF0000"/>
                </a:solidFill>
                <a:latin typeface="Times New Roman" panose="02020603050405020304" pitchFamily="18" charset="0"/>
                <a:cs typeface="Times New Roman" panose="02020603050405020304" pitchFamily="18" charset="0"/>
              </a:rPr>
              <a:t>V R Siddhartha Engineering College </a:t>
            </a:r>
          </a:p>
        </p:txBody>
      </p:sp>
      <p:pic>
        <p:nvPicPr>
          <p:cNvPr id="2097153" name="Picture 5" descr="Image result for vrsec"/>
          <p:cNvPicPr>
            <a:picLocks noChangeAspect="1" noChangeArrowheads="1"/>
          </p:cNvPicPr>
          <p:nvPr>
            <p:custDataLst>
              <p:tags r:id="rId3"/>
            </p:custDataLst>
          </p:nvPr>
        </p:nvPicPr>
        <p:blipFill>
          <a:blip r:embed="rId11" cstate="print"/>
          <a:srcRect/>
          <a:stretch>
            <a:fillRect/>
          </a:stretch>
        </p:blipFill>
        <p:spPr bwMode="auto">
          <a:xfrm>
            <a:off x="11062970" y="0"/>
            <a:ext cx="1129030" cy="1311910"/>
          </a:xfrm>
          <a:prstGeom prst="rect">
            <a:avLst/>
          </a:prstGeom>
          <a:noFill/>
        </p:spPr>
      </p:pic>
      <p:sp>
        <p:nvSpPr>
          <p:cNvPr id="1048585" name="Title 1"/>
          <p:cNvSpPr>
            <a:spLocks noGrp="1"/>
          </p:cNvSpPr>
          <p:nvPr>
            <p:custDataLst>
              <p:tags r:id="rId4"/>
            </p:custDataLst>
          </p:nvPr>
        </p:nvSpPr>
        <p:spPr>
          <a:xfrm>
            <a:off x="-70339" y="1081236"/>
            <a:ext cx="12348307" cy="1021884"/>
          </a:xfrm>
          <a:prstGeom prst="rect">
            <a:avLst/>
          </a:prstGeom>
        </p:spPr>
        <p:txBody>
          <a:bodyPr vert="horz" lIns="228600" tIns="228600" rIns="228600" bIns="0" rtlCol="0" anchor="b">
            <a:noAutofit/>
          </a:bodyPr>
          <a:lstStyle>
            <a:lvl1pPr algn="ctr" defTabSz="914400" rtl="0" eaLnBrk="1" latinLnBrk="0" hangingPunct="1">
              <a:lnSpc>
                <a:spcPct val="80000"/>
              </a:lnSpc>
              <a:spcBef>
                <a:spcPct val="0"/>
              </a:spcBef>
              <a:buNone/>
              <a:defRPr sz="5400" b="0" i="0" kern="1200" cap="none" spc="-150">
                <a:solidFill>
                  <a:srgbClr val="FFFEFF"/>
                </a:solidFill>
                <a:effectLst/>
                <a:latin typeface="+mj-lt"/>
                <a:ea typeface="+mj-ea"/>
                <a:cs typeface="+mj-cs"/>
              </a:defRPr>
            </a:lvl1pPr>
          </a:lstStyle>
          <a:p>
            <a:pPr algn="ctr"/>
            <a:r>
              <a:rPr lang="en-US" sz="3600" b="1" dirty="0">
                <a:solidFill>
                  <a:schemeClr val="tx1"/>
                </a:solidFill>
                <a:latin typeface="Times New Roman" panose="02020603050405020304" pitchFamily="18" charset="0"/>
                <a:cs typeface="Times New Roman" panose="02020603050405020304" pitchFamily="18" charset="0"/>
                <a:sym typeface="+mn-ea"/>
              </a:rPr>
              <a:t> Brain Tumors and Alzheimer’s Disease Detection Using Deep Learning</a:t>
            </a:r>
          </a:p>
        </p:txBody>
      </p:sp>
      <p:sp>
        <p:nvSpPr>
          <p:cNvPr id="1048586" name="TextBox 8"/>
          <p:cNvSpPr txBox="1"/>
          <p:nvPr>
            <p:custDataLst>
              <p:tags r:id="rId5"/>
            </p:custDataLst>
          </p:nvPr>
        </p:nvSpPr>
        <p:spPr>
          <a:xfrm>
            <a:off x="0" y="2299335"/>
            <a:ext cx="12192000" cy="337185"/>
          </a:xfrm>
          <a:prstGeom prst="rect">
            <a:avLst/>
          </a:prstGeom>
          <a:noFill/>
        </p:spPr>
        <p:txBody>
          <a:bodyPr wrap="square" rtlCol="0">
            <a:spAutoFit/>
          </a:bodyPr>
          <a:lstStyle/>
          <a:p>
            <a:pPr algn="ctr"/>
            <a:r>
              <a:rPr lang="en-US" sz="1600" b="1" dirty="0">
                <a:solidFill>
                  <a:srgbClr val="00B050"/>
                </a:solidFill>
                <a:latin typeface="Times New Roman" panose="02020603050405020304" pitchFamily="18" charset="0"/>
                <a:cs typeface="Times New Roman" panose="02020603050405020304" pitchFamily="18" charset="0"/>
              </a:rPr>
              <a:t>Application Field : Medical Imaging, Healthcare Diagnostics, and Cancer Screening.</a:t>
            </a:r>
          </a:p>
        </p:txBody>
      </p:sp>
      <p:sp>
        <p:nvSpPr>
          <p:cNvPr id="1048587" name="TextBox 7"/>
          <p:cNvSpPr txBox="1"/>
          <p:nvPr>
            <p:custDataLst>
              <p:tags r:id="rId6"/>
            </p:custDataLst>
          </p:nvPr>
        </p:nvSpPr>
        <p:spPr>
          <a:xfrm>
            <a:off x="0" y="2832735"/>
            <a:ext cx="12192000" cy="706755"/>
          </a:xfrm>
          <a:prstGeom prst="rect">
            <a:avLst/>
          </a:prstGeom>
          <a:noFill/>
        </p:spPr>
        <p:txBody>
          <a:bodyPr wrap="square" rtlCol="0">
            <a:spAutoFit/>
          </a:bodyPr>
          <a:lstStyle/>
          <a:p>
            <a:pPr algn="ctr"/>
            <a:r>
              <a:rPr lang="en-US" sz="2000" b="1" dirty="0">
                <a:solidFill>
                  <a:srgbClr val="FF0000"/>
                </a:solidFill>
                <a:latin typeface="Times New Roman" panose="02020603050405020304" pitchFamily="18" charset="0"/>
                <a:cs typeface="Times New Roman" panose="02020603050405020304" pitchFamily="18" charset="0"/>
              </a:rPr>
              <a:t>B.Tech in Information Technology</a:t>
            </a:r>
          </a:p>
          <a:p>
            <a:pPr algn="ctr"/>
            <a:r>
              <a:rPr lang="en-US" sz="2000" b="1" dirty="0">
                <a:solidFill>
                  <a:srgbClr val="BF11A6"/>
                </a:solidFill>
                <a:latin typeface="Times New Roman" panose="02020603050405020304" pitchFamily="18" charset="0"/>
                <a:cs typeface="Times New Roman" panose="02020603050405020304" pitchFamily="18" charset="0"/>
              </a:rPr>
              <a:t>Mini-1 Project Review Presentation</a:t>
            </a:r>
          </a:p>
        </p:txBody>
      </p:sp>
      <p:sp>
        <p:nvSpPr>
          <p:cNvPr id="1048588" name="Subtitle 2"/>
          <p:cNvSpPr>
            <a:spLocks noGrp="1"/>
          </p:cNvSpPr>
          <p:nvPr>
            <p:custDataLst>
              <p:tags r:id="rId7"/>
            </p:custDataLst>
          </p:nvPr>
        </p:nvSpPr>
        <p:spPr>
          <a:xfrm>
            <a:off x="0" y="4009390"/>
            <a:ext cx="12192000" cy="1767374"/>
          </a:xfrm>
          <a:prstGeom prst="rect">
            <a:avLst/>
          </a:prstGeom>
        </p:spPr>
        <p:txBody>
          <a:bodyPr vert="horz" lIns="91440" tIns="0" rIns="91440" bIns="45720" rtlCol="0">
            <a:normAutofit fontScale="80000" lnSpcReduction="20000"/>
          </a:bodyPr>
          <a:lstStyle>
            <a:lvl1pPr marL="0" indent="0" algn="ctr" defTabSz="914400" rtl="0" eaLnBrk="1" latinLnBrk="0" hangingPunct="1">
              <a:lnSpc>
                <a:spcPct val="100000"/>
              </a:lnSpc>
              <a:spcBef>
                <a:spcPts val="1000"/>
              </a:spcBef>
              <a:buClr>
                <a:schemeClr val="accent1"/>
              </a:buClr>
              <a:buSzPct val="110000"/>
              <a:buFont typeface="Wingdings" panose="05000000000000000000" pitchFamily="2" charset="2"/>
              <a:buNone/>
              <a:defRPr sz="1800" b="0" kern="1200">
                <a:solidFill>
                  <a:srgbClr val="FFFEFF"/>
                </a:solidFill>
                <a:effectLst/>
                <a:latin typeface="+mn-lt"/>
                <a:ea typeface="+mn-ea"/>
                <a:cs typeface="+mn-cs"/>
              </a:defRPr>
            </a:lvl1pPr>
            <a:lvl2pPr marL="457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buClr>
                <a:schemeClr val="accent1"/>
              </a:buClr>
              <a:buSzPct val="110000"/>
              <a:buFont typeface="Wingdings" panose="05000000000000000000" pitchFamily="2" charset="2"/>
              <a:buNone/>
              <a:defRPr sz="1600" kern="1200">
                <a:solidFill>
                  <a:schemeClr val="tx1"/>
                </a:solidFill>
                <a:effectLst/>
                <a:latin typeface="+mn-lt"/>
                <a:ea typeface="+mn-ea"/>
                <a:cs typeface="+mn-cs"/>
              </a:defRPr>
            </a:lvl9pPr>
          </a:lstStyle>
          <a:p>
            <a:r>
              <a:rPr lang="en-US" sz="2800" dirty="0">
                <a:solidFill>
                  <a:schemeClr val="tx1"/>
                </a:solidFill>
                <a:latin typeface="Times New Roman" panose="02020603050405020304" pitchFamily="18" charset="0"/>
                <a:cs typeface="Times New Roman" panose="02020603050405020304" pitchFamily="18" charset="0"/>
              </a:rPr>
              <a:t>Presented by</a:t>
            </a:r>
          </a:p>
          <a:p>
            <a:r>
              <a:rPr lang="en-IN" altLang="en-US" sz="2800" b="1" dirty="0">
                <a:solidFill>
                  <a:srgbClr val="7030A0"/>
                </a:solidFill>
                <a:latin typeface="Times New Roman" panose="02020603050405020304" pitchFamily="18" charset="0"/>
                <a:cs typeface="Times New Roman" panose="02020603050405020304" pitchFamily="18" charset="0"/>
              </a:rPr>
              <a:t>RAHUL PUDI (228W1A1251)</a:t>
            </a:r>
          </a:p>
          <a:p>
            <a:r>
              <a:rPr lang="en-IN" altLang="en-US" sz="2800" b="1" dirty="0">
                <a:solidFill>
                  <a:srgbClr val="7030A0"/>
                </a:solidFill>
                <a:latin typeface="Times New Roman" panose="02020603050405020304" pitchFamily="18" charset="0"/>
                <a:cs typeface="Times New Roman" panose="02020603050405020304" pitchFamily="18" charset="0"/>
              </a:rPr>
              <a:t>PAVAN</a:t>
            </a:r>
            <a:r>
              <a:rPr lang="en-US" altLang="en-IN" sz="2800" b="1" dirty="0">
                <a:solidFill>
                  <a:srgbClr val="7030A0"/>
                </a:solidFill>
                <a:latin typeface="Times New Roman" panose="02020603050405020304" pitchFamily="18" charset="0"/>
                <a:cs typeface="Times New Roman" panose="02020603050405020304" pitchFamily="18" charset="0"/>
              </a:rPr>
              <a:t> KUMAR</a:t>
            </a:r>
            <a:r>
              <a:rPr lang="en-IN" altLang="en-US" sz="2800" b="1" dirty="0">
                <a:solidFill>
                  <a:srgbClr val="7030A0"/>
                </a:solidFill>
                <a:latin typeface="Times New Roman" panose="02020603050405020304" pitchFamily="18" charset="0"/>
                <a:cs typeface="Times New Roman" panose="02020603050405020304" pitchFamily="18" charset="0"/>
              </a:rPr>
              <a:t> KOLLIPATI (228W1A1228)</a:t>
            </a:r>
          </a:p>
          <a:p>
            <a:r>
              <a:rPr lang="en-IN" altLang="en-US" sz="3950" b="1" dirty="0">
                <a:solidFill>
                  <a:srgbClr val="7030A0"/>
                </a:solidFill>
                <a:cs typeface="AngsanaUPC" panose="02020603050405020304" pitchFamily="18" charset="-34"/>
              </a:rPr>
              <a:t>     </a:t>
            </a:r>
            <a:endParaRPr lang="en-IN" altLang="en-US" sz="3950" dirty="0">
              <a:solidFill>
                <a:schemeClr val="tx1"/>
              </a:solidFill>
            </a:endParaRPr>
          </a:p>
        </p:txBody>
      </p:sp>
      <p:sp>
        <p:nvSpPr>
          <p:cNvPr id="1048589" name="Rectangle 3"/>
          <p:cNvSpPr/>
          <p:nvPr>
            <p:custDataLst>
              <p:tags r:id="rId8"/>
            </p:custDataLst>
          </p:nvPr>
        </p:nvSpPr>
        <p:spPr>
          <a:xfrm>
            <a:off x="0" y="5524500"/>
            <a:ext cx="12191999" cy="922020"/>
          </a:xfrm>
          <a:prstGeom prst="rect">
            <a:avLst/>
          </a:prstGeom>
        </p:spPr>
        <p:txBody>
          <a:bodyPr wrap="square">
            <a:spAutoFit/>
          </a:bodyPr>
          <a:lstStyle/>
          <a:p>
            <a:pPr algn="ctr"/>
            <a:r>
              <a:rPr lang="en-US" sz="1600" dirty="0">
                <a:latin typeface="Times New Roman" panose="02020603050405020304" pitchFamily="18" charset="0"/>
                <a:cs typeface="Times New Roman" panose="02020603050405020304" pitchFamily="18" charset="0"/>
              </a:rPr>
              <a:t>Und</a:t>
            </a:r>
            <a:r>
              <a:rPr lang="en-IN" altLang="en-US" sz="1600" dirty="0">
                <a:latin typeface="Times New Roman" panose="02020603050405020304" pitchFamily="18" charset="0"/>
                <a:cs typeface="Times New Roman" panose="02020603050405020304" pitchFamily="18" charset="0"/>
              </a:rPr>
              <a:t>e</a:t>
            </a:r>
            <a:r>
              <a:rPr lang="en-US" sz="1600" dirty="0">
                <a:latin typeface="Times New Roman" panose="02020603050405020304" pitchFamily="18" charset="0"/>
                <a:cs typeface="Times New Roman" panose="02020603050405020304" pitchFamily="18" charset="0"/>
              </a:rPr>
              <a:t>r the guidance of </a:t>
            </a:r>
          </a:p>
          <a:p>
            <a:pPr algn="ctr"/>
            <a:r>
              <a:rPr lang="en-US" sz="2000" dirty="0">
                <a:latin typeface="Times New Roman" panose="02020603050405020304" pitchFamily="18" charset="0"/>
                <a:cs typeface="Times New Roman" panose="02020603050405020304" pitchFamily="18" charset="0"/>
              </a:rPr>
              <a:t> </a:t>
            </a:r>
            <a:r>
              <a:rPr lang="en-IN" altLang="en-US" b="1" dirty="0">
                <a:solidFill>
                  <a:srgbClr val="FF0000"/>
                </a:solidFill>
                <a:latin typeface="Times New Roman" panose="02020603050405020304" pitchFamily="18" charset="0"/>
                <a:cs typeface="Times New Roman" panose="02020603050405020304" pitchFamily="18" charset="0"/>
              </a:rPr>
              <a:t> K. Madhavi</a:t>
            </a:r>
          </a:p>
          <a:p>
            <a:pPr algn="ctr"/>
            <a:r>
              <a:rPr lang="en-IN" b="0" i="0" dirty="0">
                <a:solidFill>
                  <a:srgbClr val="000000"/>
                </a:solidFill>
                <a:effectLst/>
                <a:latin typeface="Times New Roman" panose="02020603050405020304" pitchFamily="18" charset="0"/>
                <a:cs typeface="Times New Roman" panose="02020603050405020304" pitchFamily="18" charset="0"/>
              </a:rPr>
              <a:t>Assistant Professor</a:t>
            </a:r>
            <a:endParaRPr lang="en-US" altLang="en-GB"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a:xfrm>
            <a:off x="-28575" y="-317"/>
            <a:ext cx="12220575" cy="1143000"/>
          </a:xfrm>
        </p:spPr>
        <p:txBody>
          <a:bodyPr>
            <a:normAutofit/>
          </a:bodyPr>
          <a:lstStyle/>
          <a:p>
            <a:pPr algn="ctr"/>
            <a:r>
              <a:rPr lang="en-US" dirty="0">
                <a:latin typeface="Times New Roman" panose="02020603050405020304" pitchFamily="18" charset="0"/>
                <a:cs typeface="Times New Roman" panose="02020603050405020304" pitchFamily="18" charset="0"/>
              </a:rPr>
              <a:t>Contents </a:t>
            </a:r>
            <a:endParaRPr lang="en-IN" dirty="0">
              <a:latin typeface="Times New Roman" panose="02020603050405020304" pitchFamily="18" charset="0"/>
              <a:cs typeface="Times New Roman" panose="02020603050405020304" pitchFamily="18" charset="0"/>
            </a:endParaRPr>
          </a:p>
        </p:txBody>
      </p:sp>
      <p:sp>
        <p:nvSpPr>
          <p:cNvPr id="1048620" name="Content Placeholder 6"/>
          <p:cNvSpPr>
            <a:spLocks noGrp="1"/>
          </p:cNvSpPr>
          <p:nvPr>
            <p:ph idx="1"/>
          </p:nvPr>
        </p:nvSpPr>
        <p:spPr>
          <a:xfrm>
            <a:off x="679450" y="1367790"/>
            <a:ext cx="11007725" cy="5361305"/>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Introduction and Problem Statement</a:t>
            </a:r>
          </a:p>
          <a:p>
            <a:pPr algn="just">
              <a:lnSpc>
                <a:spcPct val="150000"/>
              </a:lnSpc>
            </a:pPr>
            <a:r>
              <a:rPr lang="en-US" sz="1800" dirty="0">
                <a:latin typeface="Times New Roman" panose="02020603050405020304" pitchFamily="18" charset="0"/>
                <a:cs typeface="Times New Roman" panose="02020603050405020304" pitchFamily="18" charset="0"/>
              </a:rPr>
              <a:t>Objectives and Outcomes of the project</a:t>
            </a:r>
          </a:p>
          <a:p>
            <a:pPr algn="just">
              <a:lnSpc>
                <a:spcPct val="150000"/>
              </a:lnSpc>
            </a:pPr>
            <a:r>
              <a:rPr lang="en-US" sz="1800" dirty="0">
                <a:latin typeface="Times New Roman" panose="02020603050405020304" pitchFamily="18" charset="0"/>
                <a:cs typeface="Times New Roman" panose="02020603050405020304" pitchFamily="18" charset="0"/>
              </a:rPr>
              <a:t>Literature Review and Summary</a:t>
            </a:r>
          </a:p>
          <a:p>
            <a:pPr algn="just">
              <a:lnSpc>
                <a:spcPct val="150000"/>
              </a:lnSpc>
            </a:pPr>
            <a:r>
              <a:rPr lang="en-US" sz="1800" dirty="0">
                <a:latin typeface="Times New Roman" panose="02020603050405020304" pitchFamily="18" charset="0"/>
                <a:cs typeface="Times New Roman" panose="02020603050405020304" pitchFamily="18" charset="0"/>
              </a:rPr>
              <a:t>Datasets and Requirements</a:t>
            </a:r>
          </a:p>
          <a:p>
            <a:pPr algn="just">
              <a:lnSpc>
                <a:spcPct val="150000"/>
              </a:lnSpc>
            </a:pPr>
            <a:r>
              <a:rPr lang="en-US" sz="1800" dirty="0">
                <a:latin typeface="Times New Roman" panose="02020603050405020304" pitchFamily="18" charset="0"/>
                <a:cs typeface="Times New Roman" panose="02020603050405020304" pitchFamily="18" charset="0"/>
              </a:rPr>
              <a:t>Algorithms used in the project</a:t>
            </a:r>
          </a:p>
          <a:p>
            <a:pPr algn="just">
              <a:lnSpc>
                <a:spcPct val="150000"/>
              </a:lnSpc>
            </a:pPr>
            <a:r>
              <a:rPr lang="en-US" sz="1800" dirty="0">
                <a:latin typeface="Times New Roman" panose="02020603050405020304" pitchFamily="18" charset="0"/>
                <a:cs typeface="Times New Roman" panose="02020603050405020304" pitchFamily="18" charset="0"/>
              </a:rPr>
              <a:t>Architecture Diagram</a:t>
            </a:r>
          </a:p>
          <a:p>
            <a:pPr algn="just">
              <a:lnSpc>
                <a:spcPct val="150000"/>
              </a:lnSpc>
            </a:pPr>
            <a:r>
              <a:rPr lang="en-US" sz="1800" dirty="0">
                <a:latin typeface="Times New Roman" panose="02020603050405020304" pitchFamily="18" charset="0"/>
                <a:cs typeface="Times New Roman" panose="02020603050405020304" pitchFamily="18" charset="0"/>
              </a:rPr>
              <a:t>Implementation steps and Execution</a:t>
            </a:r>
          </a:p>
          <a:p>
            <a:pPr algn="just">
              <a:lnSpc>
                <a:spcPct val="150000"/>
              </a:lnSpc>
            </a:pPr>
            <a:r>
              <a:rPr lang="en-US" sz="1800" dirty="0">
                <a:latin typeface="Times New Roman" panose="02020603050405020304" pitchFamily="18" charset="0"/>
                <a:cs typeface="Times New Roman" panose="02020603050405020304" pitchFamily="18" charset="0"/>
              </a:rPr>
              <a:t>Results Obtained </a:t>
            </a:r>
          </a:p>
          <a:p>
            <a:pPr algn="just">
              <a:lnSpc>
                <a:spcPct val="150000"/>
              </a:lnSpc>
            </a:pPr>
            <a:r>
              <a:rPr lang="en-US" sz="1800" dirty="0">
                <a:latin typeface="Times New Roman" panose="02020603050405020304" pitchFamily="18" charset="0"/>
                <a:cs typeface="Times New Roman" panose="02020603050405020304" pitchFamily="18" charset="0"/>
              </a:rPr>
              <a:t>Results Analysis</a:t>
            </a:r>
          </a:p>
          <a:p>
            <a:pPr algn="just">
              <a:lnSpc>
                <a:spcPct val="150000"/>
              </a:lnSpc>
            </a:pPr>
            <a:r>
              <a:rPr lang="en-US" sz="1800" dirty="0">
                <a:latin typeface="Times New Roman" panose="02020603050405020304" pitchFamily="18" charset="0"/>
                <a:cs typeface="Times New Roman" panose="02020603050405020304" pitchFamily="18" charset="0"/>
              </a:rPr>
              <a:t>Conclusion</a:t>
            </a:r>
          </a:p>
          <a:p>
            <a:pPr algn="just">
              <a:lnSpc>
                <a:spcPct val="150000"/>
              </a:lnSpc>
            </a:pPr>
            <a:r>
              <a:rPr lang="en-US" sz="1800" dirty="0">
                <a:latin typeface="Times New Roman" panose="02020603050405020304" pitchFamily="18" charset="0"/>
                <a:cs typeface="Times New Roman" panose="02020603050405020304" pitchFamily="18" charset="0"/>
              </a:rPr>
              <a:t>References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706880"/>
            <a:ext cx="10972800" cy="4419600"/>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Brain tumors and Alzheimer’s disease are critical neurological disorders affecting millions of people worldwide.</a:t>
            </a:r>
          </a:p>
          <a:p>
            <a:pPr algn="just">
              <a:lnSpc>
                <a:spcPct val="150000"/>
              </a:lnSpc>
            </a:pPr>
            <a:r>
              <a:rPr lang="en-US" sz="1800" dirty="0">
                <a:latin typeface="Times New Roman" panose="02020603050405020304" pitchFamily="18" charset="0"/>
                <a:cs typeface="Times New Roman" panose="02020603050405020304" pitchFamily="18" charset="0"/>
              </a:rPr>
              <a:t>Brain tumors can cause severe headaches, seizures, and cognitive impairments, while Alzheimer’s disease leads to progressive memory loss and mental decline.</a:t>
            </a:r>
          </a:p>
          <a:p>
            <a:pPr algn="just">
              <a:lnSpc>
                <a:spcPct val="150000"/>
              </a:lnSpc>
            </a:pPr>
            <a:r>
              <a:rPr lang="en-US" sz="1800" dirty="0">
                <a:latin typeface="Times New Roman" panose="02020603050405020304" pitchFamily="18" charset="0"/>
                <a:cs typeface="Times New Roman" panose="02020603050405020304" pitchFamily="18" charset="0"/>
              </a:rPr>
              <a:t>Early detection is essential for effective treatment and to slow disease progression, but traditional diagnostic methods rely on expert interpretation, which can be slow and costly.</a:t>
            </a:r>
          </a:p>
          <a:p>
            <a:pPr algn="just">
              <a:lnSpc>
                <a:spcPct val="150000"/>
              </a:lnSpc>
            </a:pPr>
            <a:r>
              <a:rPr lang="en-US" sz="1800" dirty="0">
                <a:latin typeface="Times New Roman" panose="02020603050405020304" pitchFamily="18" charset="0"/>
                <a:cs typeface="Times New Roman" panose="02020603050405020304" pitchFamily="18" charset="0"/>
              </a:rPr>
              <a:t>Recent advancements in deep learning, particularly CNN models like EfficientNet-B7, have shown great potential in medical image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022716"/>
          </a:xfrm>
        </p:spPr>
        <p:txBody>
          <a:bodyPr/>
          <a:lstStyle/>
          <a:p>
            <a:r>
              <a:rPr lang="en-US" dirty="0">
                <a:latin typeface="Times New Roman" panose="02020603050405020304" pitchFamily="18" charset="0"/>
                <a:cs typeface="Times New Roman" panose="02020603050405020304" pitchFamily="18" charset="0"/>
              </a:rPr>
              <a:t>Problem Statement </a:t>
            </a:r>
            <a:endParaRPr lang="en-IN"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10235" y="1748790"/>
            <a:ext cx="10972165" cy="4377690"/>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The diagnosis of brain tumors and Alzheimer’s disease is complex and requires specialized medical expertise.</a:t>
            </a:r>
          </a:p>
          <a:p>
            <a:pPr algn="just">
              <a:lnSpc>
                <a:spcPct val="150000"/>
              </a:lnSpc>
            </a:pPr>
            <a:r>
              <a:rPr lang="en-US" sz="1800" dirty="0">
                <a:latin typeface="Times New Roman" panose="02020603050405020304" pitchFamily="18" charset="0"/>
                <a:cs typeface="Times New Roman" panose="02020603050405020304" pitchFamily="18" charset="0"/>
              </a:rPr>
              <a:t>Traditional methods based on MRI scan interpretation can be time-consuming, expensive, and prone to human errors, leading to delayed or incorrect diagnoses.</a:t>
            </a:r>
          </a:p>
          <a:p>
            <a:pPr algn="just">
              <a:lnSpc>
                <a:spcPct val="150000"/>
              </a:lnSpc>
            </a:pPr>
            <a:r>
              <a:rPr lang="en-US" sz="1800" dirty="0">
                <a:latin typeface="Times New Roman" panose="02020603050405020304" pitchFamily="18" charset="0"/>
                <a:cs typeface="Times New Roman" panose="02020603050405020304" pitchFamily="18" charset="0"/>
              </a:rPr>
              <a:t>There is a need for an automated system that can analyze MRI scans efficiently and accurately to assist healthcare professionals.</a:t>
            </a:r>
          </a:p>
          <a:p>
            <a:pPr algn="just">
              <a:lnSpc>
                <a:spcPct val="150000"/>
              </a:lnSpc>
            </a:pPr>
            <a:r>
              <a:rPr lang="en-US" sz="1800" dirty="0">
                <a:latin typeface="Times New Roman" panose="02020603050405020304" pitchFamily="18" charset="0"/>
                <a:cs typeface="Times New Roman" panose="02020603050405020304" pitchFamily="18" charset="0"/>
              </a:rPr>
              <a:t>This project aims to develop a deep learning-based model using EfficientNet-B7 to enhance the detection process, reducing dependency on manual interpretation.</a:t>
            </a:r>
          </a:p>
          <a:p>
            <a:pPr marL="0" indent="0" algn="just">
              <a:lnSpc>
                <a:spcPct val="150000"/>
              </a:lnSpc>
              <a:buNone/>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IN"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custDataLst>
              <p:tags r:id="rId1"/>
            </p:custDataLst>
          </p:nvPr>
        </p:nvGraphicFramePr>
        <p:xfrm>
          <a:off x="548640" y="830580"/>
          <a:ext cx="11043285" cy="5249588"/>
        </p:xfrm>
        <a:graphic>
          <a:graphicData uri="http://schemas.openxmlformats.org/drawingml/2006/table">
            <a:tbl>
              <a:tblPr firstRow="1" bandRow="1">
                <a:tableStyleId>{C4B1156A-380E-4F78-BDF5-A606A8083BF9}</a:tableStyleId>
              </a:tblPr>
              <a:tblGrid>
                <a:gridCol w="5487035">
                  <a:extLst>
                    <a:ext uri="{9D8B030D-6E8A-4147-A177-3AD203B41FA5}">
                      <a16:colId xmlns:a16="http://schemas.microsoft.com/office/drawing/2014/main" val="20000"/>
                    </a:ext>
                  </a:extLst>
                </a:gridCol>
                <a:gridCol w="5556250">
                  <a:extLst>
                    <a:ext uri="{9D8B030D-6E8A-4147-A177-3AD203B41FA5}">
                      <a16:colId xmlns:a16="http://schemas.microsoft.com/office/drawing/2014/main" val="20001"/>
                    </a:ext>
                  </a:extLst>
                </a:gridCol>
              </a:tblGrid>
              <a:tr h="1269773">
                <a:tc>
                  <a:txBody>
                    <a:bodyPr/>
                    <a:lstStyle/>
                    <a:p>
                      <a:pPr algn="ctr"/>
                      <a:r>
                        <a:rPr lang="en-IN" sz="4000" dirty="0"/>
                        <a:t>       </a:t>
                      </a:r>
                    </a:p>
                    <a:p>
                      <a:pPr algn="ctr"/>
                      <a:r>
                        <a:rPr lang="en-IN" sz="4000" dirty="0">
                          <a:latin typeface="Times New Roman" panose="02020603050405020304" pitchFamily="18" charset="0"/>
                          <a:cs typeface="Times New Roman" panose="02020603050405020304" pitchFamily="18" charset="0"/>
                        </a:rPr>
                        <a:t>Objectives</a:t>
                      </a:r>
                    </a:p>
                  </a:txBody>
                  <a:tcPr>
                    <a:solidFill>
                      <a:schemeClr val="bg1"/>
                    </a:solidFill>
                  </a:tcPr>
                </a:tc>
                <a:tc>
                  <a:txBody>
                    <a:bodyPr/>
                    <a:lstStyle/>
                    <a:p>
                      <a:endParaRPr lang="en-IN" dirty="0"/>
                    </a:p>
                    <a:p>
                      <a:endParaRPr lang="en-IN" dirty="0"/>
                    </a:p>
                    <a:p>
                      <a:pPr algn="ctr"/>
                      <a:r>
                        <a:rPr lang="en-IN" sz="4000" dirty="0">
                          <a:latin typeface="Times New Roman" panose="02020603050405020304" pitchFamily="18" charset="0"/>
                          <a:cs typeface="Times New Roman" panose="02020603050405020304" pitchFamily="18" charset="0"/>
                        </a:rPr>
                        <a:t>Outcomes</a:t>
                      </a:r>
                    </a:p>
                  </a:txBody>
                  <a:tcPr>
                    <a:solidFill>
                      <a:schemeClr val="bg1"/>
                    </a:solidFill>
                  </a:tcPr>
                </a:tc>
                <a:extLst>
                  <a:ext uri="{0D108BD9-81ED-4DB2-BD59-A6C34878D82A}">
                    <a16:rowId xmlns:a16="http://schemas.microsoft.com/office/drawing/2014/main" val="10000"/>
                  </a:ext>
                </a:extLst>
              </a:tr>
              <a:tr h="3938948">
                <a:tc>
                  <a:txBody>
                    <a:bodyPr/>
                    <a:lstStyle/>
                    <a:p>
                      <a:pPr algn="just"/>
                      <a:endParaRPr lang="en-US" dirty="0"/>
                    </a:p>
                    <a:p>
                      <a:pPr algn="just"/>
                      <a:endParaRPr lang="en-US" dirty="0"/>
                    </a:p>
                    <a:p>
                      <a:pPr marL="342900" indent="-342900" algn="just">
                        <a:buAutoNum type="arabicPeriod"/>
                      </a:pPr>
                      <a:r>
                        <a:rPr lang="en-US" sz="1800" dirty="0">
                          <a:latin typeface="Times New Roman" panose="02020603050405020304" pitchFamily="18" charset="0"/>
                          <a:cs typeface="Times New Roman" panose="02020603050405020304" pitchFamily="18" charset="0"/>
                        </a:rPr>
                        <a:t>Develop a model with accurate classification of brain tumors and Alzheimer’s disease using MRI scans. </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Improve diagnostic consistency and enhance accuracy with AI-driven analysis. </a:t>
                      </a:r>
                    </a:p>
                    <a:p>
                      <a:pPr marL="342900" indent="-342900" algn="just">
                        <a:buAutoNum type="arabicPeriod"/>
                      </a:pPr>
                      <a:endParaRPr lang="en-US" dirty="0">
                        <a:latin typeface="Times New Roman" panose="02020603050405020304" pitchFamily="18" charset="0"/>
                        <a:cs typeface="Times New Roman" panose="02020603050405020304" pitchFamily="18" charset="0"/>
                      </a:endParaRPr>
                    </a:p>
                    <a:p>
                      <a:pPr marL="342900" indent="-342900" algn="just">
                        <a:buAutoNum type="arabicPeriod"/>
                      </a:pPr>
                      <a:r>
                        <a:rPr lang="en-US" dirty="0">
                          <a:latin typeface="Times New Roman" panose="02020603050405020304" pitchFamily="18" charset="0"/>
                          <a:cs typeface="Times New Roman" panose="02020603050405020304" pitchFamily="18" charset="0"/>
                        </a:rPr>
                        <a:t>Assist healthcare professionals with AI-powered tools for efficient disease detection. </a:t>
                      </a:r>
                    </a:p>
                  </a:txBody>
                  <a:tcPr>
                    <a:solidFill>
                      <a:schemeClr val="bg1"/>
                    </a:solidFill>
                  </a:tcPr>
                </a:tc>
                <a:tc>
                  <a:txBody>
                    <a:bodyPr/>
                    <a:lstStyle/>
                    <a:p>
                      <a:pPr algn="just"/>
                      <a:endParaRPr lang="en-US" dirty="0"/>
                    </a:p>
                    <a:p>
                      <a:pPr algn="just"/>
                      <a:endParaRPr lang="en-US" dirty="0"/>
                    </a:p>
                    <a:p>
                      <a:pPr marL="342900" indent="-342900" algn="just">
                        <a:buAutoNum type="arabicPeriod"/>
                      </a:pPr>
                      <a:r>
                        <a:rPr lang="en-US" sz="1800" b="0" dirty="0">
                          <a:latin typeface="Times New Roman" panose="02020603050405020304" pitchFamily="18" charset="0"/>
                          <a:cs typeface="Times New Roman" panose="02020603050405020304" pitchFamily="18" charset="0"/>
                        </a:rPr>
                        <a:t>High accuracy in detecting brain tumors and Alzheimer’s disease using the EfficientNetB7 model.</a:t>
                      </a:r>
                    </a:p>
                    <a:p>
                      <a:pPr marL="342900" indent="-342900" algn="just">
                        <a:buAutoNum type="arabicPeriod"/>
                      </a:pPr>
                      <a:endParaRPr lang="en-US" sz="2000" b="0" dirty="0">
                        <a:latin typeface="Times New Roman" panose="02020603050405020304" pitchFamily="18" charset="0"/>
                        <a:cs typeface="Times New Roman" panose="02020603050405020304" pitchFamily="18" charset="0"/>
                      </a:endParaRPr>
                    </a:p>
                    <a:p>
                      <a:pPr marL="342900" indent="-342900" algn="just">
                        <a:buAutoNum type="arabicPeriod"/>
                      </a:pPr>
                      <a:r>
                        <a:rPr lang="en-US" sz="1800" b="0" dirty="0">
                          <a:latin typeface="Times New Roman" panose="02020603050405020304" pitchFamily="18" charset="0"/>
                          <a:cs typeface="Times New Roman" panose="02020603050405020304" pitchFamily="18" charset="0"/>
                        </a:rPr>
                        <a:t>A reliable AI-assisted system to support medical professionals. </a:t>
                      </a:r>
                    </a:p>
                    <a:p>
                      <a:pPr marL="342900" indent="-342900" algn="just">
                        <a:buAutoNum type="arabicPeriod"/>
                      </a:pPr>
                      <a:endParaRPr lang="en-US" sz="2000" b="0" dirty="0">
                        <a:latin typeface="Times New Roman" panose="02020603050405020304" pitchFamily="18" charset="0"/>
                        <a:cs typeface="Times New Roman" panose="02020603050405020304" pitchFamily="18" charset="0"/>
                      </a:endParaRPr>
                    </a:p>
                    <a:p>
                      <a:pPr marL="342900" indent="-342900" algn="just">
                        <a:buAutoNum type="arabicPeriod"/>
                      </a:pPr>
                      <a:r>
                        <a:rPr lang="en-US" sz="1800" b="0" dirty="0">
                          <a:latin typeface="Times New Roman" panose="02020603050405020304" pitchFamily="18" charset="0"/>
                          <a:cs typeface="Times New Roman" panose="02020603050405020304" pitchFamily="18" charset="0"/>
                        </a:rPr>
                        <a:t>Potential to enhance early diagnosis and improve patient care.</a:t>
                      </a:r>
                    </a:p>
                  </a:txBody>
                  <a:tcPr>
                    <a:solidFill>
                      <a:schemeClr val="bg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5385"/>
            <a:ext cx="10972800" cy="1187939"/>
          </a:xfrm>
        </p:spPr>
        <p:txBody>
          <a:bodyPr/>
          <a:lstStyle/>
          <a:p>
            <a:r>
              <a:rPr lang="en-IN" dirty="0">
                <a:latin typeface="Times New Roman" panose="02020603050405020304" pitchFamily="18" charset="0"/>
                <a:cs typeface="Times New Roman" panose="02020603050405020304" pitchFamily="18" charset="0"/>
              </a:rPr>
              <a:t>Literature Review</a:t>
            </a:r>
          </a:p>
        </p:txBody>
      </p:sp>
      <p:graphicFrame>
        <p:nvGraphicFramePr>
          <p:cNvPr id="7" name="Table 6"/>
          <p:cNvGraphicFramePr>
            <a:graphicFrameLocks noGrp="1"/>
          </p:cNvGraphicFramePr>
          <p:nvPr/>
        </p:nvGraphicFramePr>
        <p:xfrm>
          <a:off x="541313" y="891542"/>
          <a:ext cx="11125068" cy="5989980"/>
        </p:xfrm>
        <a:graphic>
          <a:graphicData uri="http://schemas.openxmlformats.org/drawingml/2006/table">
            <a:tbl>
              <a:tblPr firstRow="1" bandRow="1">
                <a:tableStyleId>{5940675A-B579-460E-94D1-54222C63F5DA}</a:tableStyleId>
              </a:tblPr>
              <a:tblGrid>
                <a:gridCol w="406400">
                  <a:extLst>
                    <a:ext uri="{9D8B030D-6E8A-4147-A177-3AD203B41FA5}">
                      <a16:colId xmlns:a16="http://schemas.microsoft.com/office/drawing/2014/main" val="20000"/>
                    </a:ext>
                  </a:extLst>
                </a:gridCol>
                <a:gridCol w="3198369">
                  <a:extLst>
                    <a:ext uri="{9D8B030D-6E8A-4147-A177-3AD203B41FA5}">
                      <a16:colId xmlns:a16="http://schemas.microsoft.com/office/drawing/2014/main" val="20001"/>
                    </a:ext>
                  </a:extLst>
                </a:gridCol>
                <a:gridCol w="1700254">
                  <a:extLst>
                    <a:ext uri="{9D8B030D-6E8A-4147-A177-3AD203B41FA5}">
                      <a16:colId xmlns:a16="http://schemas.microsoft.com/office/drawing/2014/main" val="20002"/>
                    </a:ext>
                  </a:extLst>
                </a:gridCol>
                <a:gridCol w="2209435">
                  <a:extLst>
                    <a:ext uri="{9D8B030D-6E8A-4147-A177-3AD203B41FA5}">
                      <a16:colId xmlns:a16="http://schemas.microsoft.com/office/drawing/2014/main" val="20003"/>
                    </a:ext>
                  </a:extLst>
                </a:gridCol>
                <a:gridCol w="3610610">
                  <a:extLst>
                    <a:ext uri="{9D8B030D-6E8A-4147-A177-3AD203B41FA5}">
                      <a16:colId xmlns:a16="http://schemas.microsoft.com/office/drawing/2014/main" val="20004"/>
                    </a:ext>
                  </a:extLst>
                </a:gridCol>
              </a:tblGrid>
              <a:tr h="723674">
                <a:tc>
                  <a:txBody>
                    <a:bodyPr/>
                    <a:lstStyle/>
                    <a:p>
                      <a:r>
                        <a:rPr lang="en-US" sz="1500" b="1" dirty="0">
                          <a:latin typeface="Times New Roman" panose="02020603050405020304" pitchFamily="18" charset="0"/>
                          <a:cs typeface="Times New Roman" panose="02020603050405020304" pitchFamily="18" charset="0"/>
                        </a:rPr>
                        <a:t>S.NO</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PUBLICATION</a:t>
                      </a:r>
                      <a:r>
                        <a:rPr lang="en-US" sz="1500" b="1" baseline="0" dirty="0">
                          <a:latin typeface="Times New Roman" panose="02020603050405020304" pitchFamily="18" charset="0"/>
                          <a:cs typeface="Times New Roman" panose="02020603050405020304" pitchFamily="18" charset="0"/>
                        </a:rPr>
                        <a:t> DETAILS</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DATASETS</a:t>
                      </a:r>
                      <a:r>
                        <a:rPr lang="en-US" sz="1500" b="1" baseline="0" dirty="0">
                          <a:latin typeface="Times New Roman" panose="02020603050405020304" pitchFamily="18" charset="0"/>
                          <a:cs typeface="Times New Roman" panose="02020603050405020304" pitchFamily="18" charset="0"/>
                        </a:rPr>
                        <a:t> USED</a:t>
                      </a:r>
                      <a:endParaRPr lang="en-IN" sz="1500" b="1" dirty="0">
                        <a:latin typeface="Times New Roman" panose="02020603050405020304" pitchFamily="18" charset="0"/>
                        <a:cs typeface="Times New Roman" panose="02020603050405020304" pitchFamily="18" charset="0"/>
                      </a:endParaRPr>
                    </a:p>
                  </a:txBody>
                  <a:tcPr/>
                </a:tc>
                <a:tc>
                  <a:txBody>
                    <a:bodyPr/>
                    <a:lstStyle/>
                    <a:p>
                      <a:r>
                        <a:rPr lang="en-US" sz="1500" b="1" dirty="0">
                          <a:latin typeface="Times New Roman" panose="02020603050405020304" pitchFamily="18" charset="0"/>
                          <a:cs typeface="Times New Roman" panose="02020603050405020304" pitchFamily="18" charset="0"/>
                        </a:rPr>
                        <a:t>ALGORITHMS USED AND RESULTS </a:t>
                      </a:r>
                      <a:endParaRPr lang="en-IN" sz="15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500" b="1" dirty="0">
                          <a:latin typeface="Times New Roman" panose="02020603050405020304" pitchFamily="18" charset="0"/>
                          <a:cs typeface="Times New Roman" panose="02020603050405020304" pitchFamily="18" charset="0"/>
                        </a:rPr>
                        <a:t>REMARKS</a:t>
                      </a:r>
                      <a:endParaRPr lang="en-IN" sz="15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2667660">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en-IN" sz="1400" b="1"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 </a:t>
                      </a:r>
                      <a:r>
                        <a:rPr lang="en-US" sz="1400" dirty="0">
                          <a:latin typeface="Times New Roman" panose="02020603050405020304" pitchFamily="18" charset="0"/>
                          <a:cs typeface="Times New Roman" panose="02020603050405020304" pitchFamily="18" charset="0"/>
                        </a:rPr>
                        <a:t>TLEABLCNN: Brain and Alzheimer's Disease Detection Using Attention-Based Explainable Deep Learning and SMOTE Using Imbalanced Brain MRI</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a:t>
                      </a:r>
                      <a:r>
                        <a:rPr lang="en-IN" sz="1400" b="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Erol Kina</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2025</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Journal</a:t>
                      </a:r>
                      <a:r>
                        <a:rPr lang="en-US" sz="1400" dirty="0">
                          <a:latin typeface="Times New Roman" panose="02020603050405020304" pitchFamily="18" charset="0"/>
                          <a:cs typeface="Times New Roman" panose="02020603050405020304" pitchFamily="18" charset="0"/>
                        </a:rPr>
                        <a:t>(</a:t>
                      </a:r>
                      <a:r>
                        <a:rPr lang="en-IN" sz="1400" dirty="0">
                          <a:latin typeface="Times New Roman" panose="02020603050405020304" pitchFamily="18" charset="0"/>
                          <a:cs typeface="Times New Roman" panose="02020603050405020304" pitchFamily="18" charset="0"/>
                        </a:rPr>
                        <a:t>MDPI (Multidisciplinary Digital Publishing Institute)</a:t>
                      </a:r>
                      <a:r>
                        <a:rPr lang="en-US" sz="1400" dirty="0">
                          <a:latin typeface="Times New Roman" panose="02020603050405020304" pitchFamily="18" charset="0"/>
                          <a:cs typeface="Times New Roman" panose="02020603050405020304" pitchFamily="18" charset="0"/>
                        </a:rPr>
                        <a:t>)</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indent="0" algn="just">
                        <a:buNone/>
                      </a:pPr>
                      <a:r>
                        <a:rPr lang="en-US" sz="1400" dirty="0">
                          <a:latin typeface="Times New Roman" panose="02020603050405020304" pitchFamily="18" charset="0"/>
                          <a:cs typeface="Times New Roman" panose="02020603050405020304" pitchFamily="18" charset="0"/>
                        </a:rPr>
                        <a:t>OASIS Brain MRI dataset(Open Access Series of Imaging Studies)</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TLEABLCNN model achieved an accuracy of 95% in detecting brain tumor and Alzheimer’s diseases. This shows that the model correctly identified most of the disease cases. It also performed better than other commonly used models like </a:t>
                      </a:r>
                      <a:r>
                        <a:rPr lang="en-US" sz="1400" dirty="0" err="1">
                          <a:latin typeface="Times New Roman" panose="02020603050405020304" pitchFamily="18" charset="0"/>
                          <a:cs typeface="Times New Roman" panose="02020603050405020304" pitchFamily="18" charset="0"/>
                        </a:rPr>
                        <a:t>MobileNet</a:t>
                      </a:r>
                      <a:r>
                        <a:rPr lang="en-US" sz="1400" dirty="0">
                          <a:latin typeface="Times New Roman" panose="02020603050405020304" pitchFamily="18" charset="0"/>
                          <a:cs typeface="Times New Roman" panose="02020603050405020304" pitchFamily="18" charset="0"/>
                        </a:rPr>
                        <a:t>, VGG16 etc.</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Although the model performs well on the OASIS dataset, it may not maintain similar accuracy on real-world clinical datasets due to limited data variability. SMOTE introduces synthetic samples, which may not reflect true medical anomalies, possibly affecting model robustness. The model also depends on extensive preprocessing, which could limit its use in real-time clinical settings. Finally, while it's called lightweight, deploying it on extremely low-resource devices might still pose challenges.</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63819">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 </a:t>
                      </a:r>
                      <a:r>
                        <a:rPr lang="en-US" sz="1400" dirty="0">
                          <a:latin typeface="Times New Roman" panose="02020603050405020304" pitchFamily="18" charset="0"/>
                          <a:cs typeface="Times New Roman" panose="02020603050405020304" pitchFamily="18" charset="0"/>
                        </a:rPr>
                        <a:t>Machine Learning and Deep Learning Approaches for the Detection of Alzheimer’s Disease: A Review</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a:t>
                      </a:r>
                      <a:r>
                        <a:rPr lang="en-IN" sz="1400" b="0" dirty="0">
                          <a:latin typeface="Times New Roman" panose="02020603050405020304" pitchFamily="18" charset="0"/>
                          <a:cs typeface="Times New Roman" panose="02020603050405020304" pitchFamily="18" charset="0"/>
                        </a:rPr>
                        <a:t> Gargi Pant Shukla, Santhosh Kumar, Saroj Kumar , Rohit Agarwal, Neeraj Varshney , Ankit </a:t>
                      </a:r>
                      <a:r>
                        <a:rPr lang="en-IN" sz="1400" b="0" dirty="0" err="1">
                          <a:latin typeface="Times New Roman" panose="02020603050405020304" pitchFamily="18" charset="0"/>
                          <a:cs typeface="Times New Roman" panose="02020603050405020304" pitchFamily="18" charset="0"/>
                        </a:rPr>
                        <a:t>kumar</a:t>
                      </a:r>
                      <a:r>
                        <a:rPr lang="en-IN" sz="1400" b="0"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b="0" dirty="0">
                          <a:latin typeface="Times New Roman" panose="02020603050405020304" pitchFamily="18" charset="0"/>
                          <a:cs typeface="Times New Roman" panose="02020603050405020304" pitchFamily="18" charset="0"/>
                        </a:rPr>
                        <a:t>: 2023</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a:t>
                      </a:r>
                      <a:r>
                        <a:rPr lang="en-IN" sz="1400" b="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Journal (TUP)</a:t>
                      </a:r>
                      <a:endParaRPr lang="en-IN" sz="1400" b="0" i="0" dirty="0">
                        <a:latin typeface="Times New Roman" panose="02020603050405020304" pitchFamily="18" charset="0"/>
                        <a:cs typeface="Times New Roman" panose="02020603050405020304" pitchFamily="18" charset="0"/>
                      </a:endParaRPr>
                    </a:p>
                  </a:txBody>
                  <a:tcPr/>
                </a:tc>
                <a:tc>
                  <a:txBody>
                    <a:bodyPr/>
                    <a:lstStyle/>
                    <a:p>
                      <a:pPr marL="0" indent="0" algn="l">
                        <a:buNone/>
                      </a:pPr>
                      <a:r>
                        <a:rPr lang="en-IN" sz="1400" dirty="0">
                          <a:latin typeface="Times New Roman" panose="02020603050405020304" pitchFamily="18" charset="0"/>
                          <a:cs typeface="Times New Roman" panose="02020603050405020304" pitchFamily="18" charset="0"/>
                        </a:rPr>
                        <a:t>Alzheimer's Disease Neuroimaging Initiative (ADNI), Minimal Interval Resonance Imaging in Alzheimer's Disease (MIRIAD), </a:t>
                      </a:r>
                    </a:p>
                    <a:p>
                      <a:pPr marL="0" indent="0" algn="l">
                        <a:buNone/>
                      </a:pPr>
                      <a:r>
                        <a:rPr lang="en-IN" sz="1400" dirty="0">
                          <a:latin typeface="Times New Roman" panose="02020603050405020304" pitchFamily="18" charset="0"/>
                          <a:cs typeface="Times New Roman" panose="02020603050405020304" pitchFamily="18" charset="0"/>
                        </a:rPr>
                        <a:t>Alzheimer’s Kaggle </a:t>
                      </a:r>
                    </a:p>
                  </a:txBody>
                  <a:tcPr/>
                </a:tc>
                <a:tc>
                  <a:txBody>
                    <a:bodyPr/>
                    <a:lstStyle/>
                    <a:p>
                      <a:r>
                        <a:rPr lang="en-US" sz="1400" dirty="0">
                          <a:latin typeface="Times New Roman" panose="02020603050405020304" pitchFamily="18" charset="0"/>
                          <a:cs typeface="Times New Roman" panose="02020603050405020304" pitchFamily="18" charset="0"/>
                        </a:rPr>
                        <a:t>The review concluded that deep learning models, especially CNNs, achieve high accuracy (85%–99%) in detecting Alzheimer’s disease. CNNs outperform traditional machine learning models in learning spatial features from MRI scans and other imaging data.</a:t>
                      </a:r>
                      <a:endParaRPr lang="en-IN" sz="1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Deep learning models often suffer from overfitting due to limited and imbalanced datasets. Many datasets lack diversity in terms of ethnicity and age groups, which reduces model generalizability. Differences in preprocessing across studies make it hard to compare results. Some datasets also lack complete annotations, which limits supervised learning effectiveness.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297983">
                <a:tc gridSpan="5">
                  <a:txBody>
                    <a:bodyPr/>
                    <a:lstStyle/>
                    <a:p>
                      <a:endParaRPr lang="en-IN" sz="15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endParaRPr lang="en-US"/>
                    </a:p>
                  </a:txBody>
                  <a:tcPr/>
                </a:tc>
                <a:tc hMerge="1">
                  <a:txBody>
                    <a:bodyPr/>
                    <a:lstStyle/>
                    <a:p>
                      <a:endParaRPr lang="en-US"/>
                    </a:p>
                  </a:txBody>
                  <a:tcPr>
                    <a:lnB w="12700" cmpd="sng">
                      <a:noFill/>
                    </a:lnB>
                  </a:tcPr>
                </a:tc>
                <a:tc hMerge="1">
                  <a:txBody>
                    <a:bodyPr/>
                    <a:lstStyle/>
                    <a:p>
                      <a:endParaRPr lang="en-US"/>
                    </a:p>
                  </a:txBody>
                  <a:tcPr>
                    <a:lnB w="12700" cmpd="sng">
                      <a:noFill/>
                    </a:lnB>
                  </a:tcPr>
                </a:tc>
                <a:tc hMerge="1">
                  <a:txBody>
                    <a:bodyPr/>
                    <a:lstStyle/>
                    <a:p>
                      <a:endParaRPr lang="en-US"/>
                    </a:p>
                  </a:txBody>
                  <a:tcPr>
                    <a:lnB w="12700" cmpd="sng">
                      <a:noFill/>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22516553"/>
              </p:ext>
            </p:extLst>
          </p:nvPr>
        </p:nvGraphicFramePr>
        <p:xfrm>
          <a:off x="328246" y="1"/>
          <a:ext cx="11277599" cy="6759620"/>
        </p:xfrm>
        <a:graphic>
          <a:graphicData uri="http://schemas.openxmlformats.org/drawingml/2006/table">
            <a:tbl>
              <a:tblPr firstRow="1" bandRow="1">
                <a:tableStyleId>{5940675A-B579-460E-94D1-54222C63F5DA}</a:tableStyleId>
              </a:tblPr>
              <a:tblGrid>
                <a:gridCol w="323452">
                  <a:extLst>
                    <a:ext uri="{9D8B030D-6E8A-4147-A177-3AD203B41FA5}">
                      <a16:colId xmlns:a16="http://schemas.microsoft.com/office/drawing/2014/main" val="20000"/>
                    </a:ext>
                  </a:extLst>
                </a:gridCol>
                <a:gridCol w="3353899">
                  <a:extLst>
                    <a:ext uri="{9D8B030D-6E8A-4147-A177-3AD203B41FA5}">
                      <a16:colId xmlns:a16="http://schemas.microsoft.com/office/drawing/2014/main" val="20001"/>
                    </a:ext>
                  </a:extLst>
                </a:gridCol>
                <a:gridCol w="1213501">
                  <a:extLst>
                    <a:ext uri="{9D8B030D-6E8A-4147-A177-3AD203B41FA5}">
                      <a16:colId xmlns:a16="http://schemas.microsoft.com/office/drawing/2014/main" val="20002"/>
                    </a:ext>
                  </a:extLst>
                </a:gridCol>
                <a:gridCol w="2893252">
                  <a:extLst>
                    <a:ext uri="{9D8B030D-6E8A-4147-A177-3AD203B41FA5}">
                      <a16:colId xmlns:a16="http://schemas.microsoft.com/office/drawing/2014/main" val="20003"/>
                    </a:ext>
                  </a:extLst>
                </a:gridCol>
                <a:gridCol w="3493495">
                  <a:extLst>
                    <a:ext uri="{9D8B030D-6E8A-4147-A177-3AD203B41FA5}">
                      <a16:colId xmlns:a16="http://schemas.microsoft.com/office/drawing/2014/main" val="20004"/>
                    </a:ext>
                  </a:extLst>
                </a:gridCol>
              </a:tblGrid>
              <a:tr h="313247">
                <a:tc gridSpan="5">
                  <a:txBody>
                    <a:bodyPr/>
                    <a:lstStyle/>
                    <a:p>
                      <a:endParaRPr lang="en-IN" sz="15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T w="12700" cmpd="sng">
                      <a:noFill/>
                    </a:lnT>
                  </a:tcPr>
                </a:tc>
                <a:extLst>
                  <a:ext uri="{0D108BD9-81ED-4DB2-BD59-A6C34878D82A}">
                    <a16:rowId xmlns:a16="http://schemas.microsoft.com/office/drawing/2014/main" val="10000"/>
                  </a:ext>
                </a:extLst>
              </a:tr>
              <a:tr h="2386644">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 Novel Approach to Multi-Disease Detection in Healthcare using CNN, Random Forest &amp; XGBoost</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Authors: </a:t>
                      </a:r>
                      <a:r>
                        <a:rPr lang="en-IN" sz="1400" b="0" dirty="0" err="1">
                          <a:latin typeface="Times New Roman" panose="02020603050405020304" pitchFamily="18" charset="0"/>
                          <a:cs typeface="Times New Roman" panose="02020603050405020304" pitchFamily="18" charset="0"/>
                        </a:rPr>
                        <a:t>Mubarizuddin</a:t>
                      </a:r>
                      <a:r>
                        <a:rPr lang="en-IN" sz="1400" b="0" dirty="0">
                          <a:latin typeface="Times New Roman" panose="02020603050405020304" pitchFamily="18" charset="0"/>
                          <a:cs typeface="Times New Roman" panose="02020603050405020304" pitchFamily="18" charset="0"/>
                        </a:rPr>
                        <a:t> Mohammed, Rajat Mongia, Anand M.</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2023</a:t>
                      </a:r>
                    </a:p>
                    <a:p>
                      <a:pPr marL="0" marR="0" lvl="0" indent="0" algn="l" defTabSz="914400" rtl="0" eaLnBrk="1" fontAlgn="auto" latinLnBrk="0" hangingPunct="1">
                        <a:lnSpc>
                          <a:spcPct val="100000"/>
                        </a:lnSpc>
                        <a:spcBef>
                          <a:spcPts val="0"/>
                        </a:spcBef>
                        <a:spcAft>
                          <a:spcPts val="0"/>
                        </a:spcAft>
                        <a:buClrTx/>
                        <a:buSzTx/>
                        <a:buFontTx/>
                        <a:buNone/>
                        <a:defRPr/>
                      </a:pPr>
                      <a:r>
                        <a:rPr lang="en-IN" sz="1400" b="1" dirty="0">
                          <a:latin typeface="Times New Roman" panose="02020603050405020304" pitchFamily="18" charset="0"/>
                          <a:cs typeface="Times New Roman" panose="02020603050405020304" pitchFamily="18" charset="0"/>
                        </a:rPr>
                        <a:t>Type: </a:t>
                      </a:r>
                      <a:r>
                        <a:rPr lang="en-IN" sz="1400" b="0" dirty="0">
                          <a:latin typeface="Times New Roman" panose="02020603050405020304" pitchFamily="18" charset="0"/>
                          <a:cs typeface="Times New Roman" panose="02020603050405020304" pitchFamily="18" charset="0"/>
                        </a:rPr>
                        <a:t>IEEE </a:t>
                      </a:r>
                      <a:r>
                        <a:rPr lang="en-IN" sz="1400" dirty="0">
                          <a:latin typeface="Times New Roman" panose="02020603050405020304" pitchFamily="18" charset="0"/>
                          <a:cs typeface="Times New Roman" panose="02020603050405020304" pitchFamily="18" charset="0"/>
                        </a:rPr>
                        <a:t>Conference (</a:t>
                      </a:r>
                      <a:r>
                        <a:rPr lang="en-US" sz="1400" dirty="0">
                          <a:latin typeface="Times New Roman" panose="02020603050405020304" pitchFamily="18" charset="0"/>
                          <a:cs typeface="Times New Roman" panose="02020603050405020304" pitchFamily="18" charset="0"/>
                        </a:rPr>
                        <a:t>International Conference on Intelligent Systems and Computer Vision - ISCV)</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Combined multiple open-source healthcare datasets</a:t>
                      </a:r>
                      <a:endParaRPr lang="en-IN"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sz="1400" dirty="0">
                        <a:latin typeface="Times New Roman" panose="02020603050405020304" pitchFamily="18" charset="0"/>
                        <a:cs typeface="Times New Roman" panose="02020603050405020304" pitchFamily="18" charset="0"/>
                      </a:endParaRPr>
                    </a:p>
                  </a:txBody>
                  <a:tcPr/>
                </a:tc>
                <a:tc>
                  <a:txBody>
                    <a:bodyPr/>
                    <a:lstStyle/>
                    <a:p>
                      <a:endParaRPr lang="en-IN" sz="1400" b="0" dirty="0">
                        <a:latin typeface="Times New Roman" panose="02020603050405020304" pitchFamily="18" charset="0"/>
                        <a:cs typeface="Times New Roman" panose="02020603050405020304" pitchFamily="18" charset="0"/>
                      </a:endParaRPr>
                    </a:p>
                    <a:p>
                      <a:r>
                        <a:rPr lang="en-US" sz="1400" b="0" dirty="0">
                          <a:latin typeface="Times New Roman" panose="02020603050405020304" pitchFamily="18" charset="0"/>
                          <a:cs typeface="Times New Roman" panose="02020603050405020304" pitchFamily="18" charset="0"/>
                        </a:rPr>
                        <a:t>CNN achieved 96.5% accuracy in brain tumor detection,</a:t>
                      </a:r>
                    </a:p>
                    <a:p>
                      <a:r>
                        <a:rPr lang="en-US" sz="1400" b="0" dirty="0">
                          <a:latin typeface="Times New Roman" panose="02020603050405020304" pitchFamily="18" charset="0"/>
                          <a:cs typeface="Times New Roman" panose="02020603050405020304" pitchFamily="18" charset="0"/>
                        </a:rPr>
                        <a:t>Random Forest achieved 94.5% accuracy for diabetes,</a:t>
                      </a:r>
                    </a:p>
                    <a:p>
                      <a:r>
                        <a:rPr lang="en-US" sz="1400" b="0" dirty="0">
                          <a:latin typeface="Times New Roman" panose="02020603050405020304" pitchFamily="18" charset="0"/>
                          <a:cs typeface="Times New Roman" panose="02020603050405020304" pitchFamily="18" charset="0"/>
                        </a:rPr>
                        <a:t>XGBoost achieved 95.2% accuracy for lungs related disease.</a:t>
                      </a:r>
                    </a:p>
                    <a:p>
                      <a:endParaRPr lang="en-US" sz="1400" b="0" dirty="0">
                        <a:latin typeface="Times New Roman" panose="02020603050405020304" pitchFamily="18" charset="0"/>
                        <a:cs typeface="Times New Roman" panose="02020603050405020304" pitchFamily="18" charset="0"/>
                      </a:endParaRPr>
                    </a:p>
                  </a:txBody>
                  <a:tcPr/>
                </a:tc>
                <a:tc>
                  <a:txBody>
                    <a:bodyPr/>
                    <a:lstStyle/>
                    <a:p>
                      <a:endParaRPr lang="en-US" sz="1400" b="0" dirty="0">
                        <a:latin typeface="Times New Roman" panose="02020603050405020304" pitchFamily="18" charset="0"/>
                        <a:cs typeface="Times New Roman" panose="02020603050405020304" pitchFamily="18" charset="0"/>
                      </a:endParaRPr>
                    </a:p>
                    <a:p>
                      <a:r>
                        <a:rPr lang="en-US" sz="1400" b="0" dirty="0">
                          <a:latin typeface="Times New Roman" panose="02020603050405020304" pitchFamily="18" charset="0"/>
                          <a:cs typeface="Times New Roman" panose="02020603050405020304" pitchFamily="18" charset="0"/>
                        </a:rPr>
                        <a:t>The paper lacks precise details about the datasets used, making the study hard to reproduce.  There is no strategy mentioned for dealing with class imbalance or rare diseases, which can affect prediction accuracy. Additionally, the models were not tested on external datasets, so their performance in real-world applications remains uncertain.</a:t>
                      </a:r>
                      <a:endParaRPr lang="en-IN"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177813">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4.</a:t>
                      </a:r>
                    </a:p>
                  </a:txBody>
                  <a:tcPr/>
                </a:tc>
                <a:tc>
                  <a:txBody>
                    <a:bodyPr/>
                    <a:lstStyle/>
                    <a:p>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Alzheimer’s Disease (AD) Diagnosis from Brain MRI Image using Neural Network Algorithm.</a:t>
                      </a:r>
                    </a:p>
                    <a:p>
                      <a:r>
                        <a:rPr lang="en-IN" sz="1400" b="1" dirty="0">
                          <a:latin typeface="Times New Roman" panose="02020603050405020304" pitchFamily="18" charset="0"/>
                          <a:cs typeface="Times New Roman" panose="02020603050405020304" pitchFamily="18" charset="0"/>
                        </a:rPr>
                        <a:t>Authors:</a:t>
                      </a:r>
                      <a:r>
                        <a:rPr lang="en-IN" sz="1400" dirty="0">
                          <a:latin typeface="Times New Roman" panose="02020603050405020304" pitchFamily="18" charset="0"/>
                          <a:cs typeface="Times New Roman" panose="02020603050405020304" pitchFamily="18" charset="0"/>
                        </a:rPr>
                        <a:t> Ramesh L, </a:t>
                      </a:r>
                      <a:r>
                        <a:rPr lang="en-IN" sz="1400" dirty="0" err="1">
                          <a:latin typeface="Times New Roman" panose="02020603050405020304" pitchFamily="18" charset="0"/>
                          <a:cs typeface="Times New Roman" panose="02020603050405020304" pitchFamily="18" charset="0"/>
                        </a:rPr>
                        <a:t>P.S.Pooja</a:t>
                      </a:r>
                      <a:r>
                        <a:rPr lang="en-IN" sz="1400" dirty="0">
                          <a:latin typeface="Times New Roman" panose="02020603050405020304" pitchFamily="18" charset="0"/>
                          <a:cs typeface="Times New Roman" panose="02020603050405020304" pitchFamily="18" charset="0"/>
                        </a:rPr>
                        <a:t>, S. </a:t>
                      </a:r>
                      <a:r>
                        <a:rPr lang="en-IN" sz="1400" dirty="0" err="1">
                          <a:latin typeface="Times New Roman" panose="02020603050405020304" pitchFamily="18" charset="0"/>
                          <a:cs typeface="Times New Roman" panose="02020603050405020304" pitchFamily="18" charset="0"/>
                        </a:rPr>
                        <a:t>Raasika</a:t>
                      </a:r>
                      <a:r>
                        <a:rPr lang="en-IN" sz="1400" dirty="0">
                          <a:latin typeface="Times New Roman" panose="02020603050405020304" pitchFamily="18" charset="0"/>
                          <a:cs typeface="Times New Roman" panose="02020603050405020304" pitchFamily="18" charset="0"/>
                        </a:rPr>
                        <a:t>,</a:t>
                      </a:r>
                    </a:p>
                    <a:p>
                      <a:r>
                        <a:rPr lang="en-IN" sz="1400" dirty="0" err="1">
                          <a:latin typeface="Times New Roman" panose="02020603050405020304" pitchFamily="18" charset="0"/>
                          <a:cs typeface="Times New Roman" panose="02020603050405020304" pitchFamily="18" charset="0"/>
                        </a:rPr>
                        <a:t>B.Rithika</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shree</a:t>
                      </a:r>
                      <a:r>
                        <a:rPr lang="en-IN" sz="1400" dirty="0">
                          <a:latin typeface="Times New Roman" panose="02020603050405020304" pitchFamily="18" charset="0"/>
                          <a:cs typeface="Times New Roman" panose="02020603050405020304" pitchFamily="18" charset="0"/>
                        </a:rPr>
                        <a:t>.</a:t>
                      </a:r>
                    </a:p>
                    <a:p>
                      <a:r>
                        <a:rPr lang="en-IN" sz="1400" dirty="0">
                          <a:latin typeface="Times New Roman" panose="02020603050405020304" pitchFamily="18" charset="0"/>
                          <a:cs typeface="Times New Roman" panose="02020603050405020304" pitchFamily="18" charset="0"/>
                        </a:rPr>
                        <a:t>Prof. Deepak S. Chaudhari.</a:t>
                      </a:r>
                    </a:p>
                    <a:p>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2023</a:t>
                      </a:r>
                    </a:p>
                    <a:p>
                      <a:r>
                        <a:rPr lang="en-IN" sz="1400" b="1" dirty="0">
                          <a:latin typeface="Times New Roman" panose="02020603050405020304" pitchFamily="18" charset="0"/>
                          <a:cs typeface="Times New Roman" panose="02020603050405020304" pitchFamily="18" charset="0"/>
                        </a:rPr>
                        <a:t>Type: </a:t>
                      </a:r>
                      <a:r>
                        <a:rPr lang="en-IN" sz="1400" b="0" dirty="0">
                          <a:latin typeface="Times New Roman" panose="02020603050405020304" pitchFamily="18" charset="0"/>
                          <a:cs typeface="Times New Roman" panose="02020603050405020304" pitchFamily="18" charset="0"/>
                        </a:rPr>
                        <a:t>IEEE </a:t>
                      </a:r>
                      <a:r>
                        <a:rPr lang="en-IN" sz="1400" dirty="0">
                          <a:latin typeface="Times New Roman" panose="02020603050405020304" pitchFamily="18" charset="0"/>
                          <a:cs typeface="Times New Roman" panose="02020603050405020304" pitchFamily="18" charset="0"/>
                        </a:rPr>
                        <a:t>Conference</a:t>
                      </a:r>
                      <a:endParaRPr lang="en-US" sz="1400" b="0" i="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Kaggle Alzheimer’s Disease MRI Dataset,</a:t>
                      </a:r>
                    </a:p>
                    <a:p>
                      <a:r>
                        <a:rPr lang="en-IN" sz="1400" dirty="0">
                          <a:latin typeface="Times New Roman" panose="02020603050405020304" pitchFamily="18" charset="0"/>
                          <a:cs typeface="Times New Roman" panose="02020603050405020304" pitchFamily="18" charset="0"/>
                        </a:rPr>
                        <a:t>OASIS  dataset.</a:t>
                      </a:r>
                    </a:p>
                    <a:p>
                      <a:endParaRPr lang="en-IN" sz="1400" dirty="0">
                        <a:latin typeface="Times New Roman" panose="02020603050405020304" pitchFamily="18" charset="0"/>
                        <a:cs typeface="Times New Roman" panose="02020603050405020304" pitchFamily="18" charset="0"/>
                      </a:endParaRPr>
                    </a:p>
                  </a:txBody>
                  <a:tcPr/>
                </a:tc>
                <a:tc>
                  <a:txBody>
                    <a:bodyPr/>
                    <a:lstStyle/>
                    <a:p>
                      <a:pPr algn="l"/>
                      <a:r>
                        <a:rPr lang="en-IN" sz="1400" dirty="0">
                          <a:latin typeface="Times New Roman" panose="02020603050405020304" pitchFamily="18" charset="0"/>
                          <a:cs typeface="Times New Roman" panose="02020603050405020304" pitchFamily="18" charset="0"/>
                        </a:rPr>
                        <a:t>Convolutional Neural Network (CNN) and Artificial Neural Network (ANN) algorithms are used. </a:t>
                      </a:r>
                      <a:r>
                        <a:rPr lang="en-US" sz="1400" b="0" dirty="0">
                          <a:latin typeface="Times New Roman" panose="02020603050405020304" pitchFamily="18" charset="0"/>
                          <a:cs typeface="Times New Roman" panose="02020603050405020304" pitchFamily="18" charset="0"/>
                        </a:rPr>
                        <a:t>The model achieved an accuracy of 92.85% using CNN.</a:t>
                      </a:r>
                    </a:p>
                    <a:p>
                      <a:pPr algn="l"/>
                      <a:r>
                        <a:rPr lang="en-US" sz="1400" b="0" dirty="0">
                          <a:latin typeface="Times New Roman" panose="02020603050405020304" pitchFamily="18" charset="0"/>
                          <a:cs typeface="Times New Roman" panose="02020603050405020304" pitchFamily="18" charset="0"/>
                        </a:rPr>
                        <a:t>The ANN-based model achieved slightly lower performance compared to CNN.</a:t>
                      </a:r>
                    </a:p>
                    <a:p>
                      <a:r>
                        <a:rPr lang="en-IN" sz="1400" b="0"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model may not work well on MRI images from different hospitals because the image quality can vary. It also needs a powerful computer to run, so it’s hard to use in places with limited resources. The model only uses images and doesn’t include patient history or medical details, which could help make better predictions.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827896">
                <a:tc>
                  <a:txBody>
                    <a:bodyPr/>
                    <a:lstStyle/>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5.</a:t>
                      </a:r>
                      <a:endParaRPr lang="en-IN" sz="15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Automated Brain Disease Diagnosis and Patient Support System</a:t>
                      </a:r>
                    </a:p>
                    <a:p>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Vani Lavanya N, Santhosh </a:t>
                      </a:r>
                      <a:r>
                        <a:rPr lang="en-IN" sz="1400" dirty="0" err="1">
                          <a:latin typeface="Times New Roman" panose="02020603050405020304" pitchFamily="18" charset="0"/>
                          <a:cs typeface="Times New Roman" panose="02020603050405020304" pitchFamily="18" charset="0"/>
                        </a:rPr>
                        <a:t>B,Sai</a:t>
                      </a:r>
                      <a:r>
                        <a:rPr lang="en-IN" sz="1400" dirty="0">
                          <a:latin typeface="Times New Roman" panose="02020603050405020304" pitchFamily="18" charset="0"/>
                          <a:cs typeface="Times New Roman" panose="02020603050405020304" pitchFamily="18" charset="0"/>
                        </a:rPr>
                        <a:t> Shree Ram Balaji.</a:t>
                      </a:r>
                    </a:p>
                    <a:p>
                      <a:r>
                        <a:rPr lang="en-US" sz="1400" b="1" dirty="0">
                          <a:latin typeface="Times New Roman" panose="02020603050405020304" pitchFamily="18" charset="0"/>
                          <a:cs typeface="Times New Roman" panose="02020603050405020304" pitchFamily="18" charset="0"/>
                        </a:rPr>
                        <a:t>Publication Year:</a:t>
                      </a:r>
                      <a:r>
                        <a:rPr lang="en-US" sz="1400" dirty="0">
                          <a:latin typeface="Times New Roman" panose="02020603050405020304" pitchFamily="18" charset="0"/>
                          <a:cs typeface="Times New Roman" panose="02020603050405020304" pitchFamily="18" charset="0"/>
                        </a:rPr>
                        <a:t> 2023</a:t>
                      </a:r>
                    </a:p>
                    <a:p>
                      <a:r>
                        <a:rPr lang="en-US" sz="1400" b="1" dirty="0">
                          <a:latin typeface="Times New Roman" panose="02020603050405020304" pitchFamily="18" charset="0"/>
                          <a:cs typeface="Times New Roman" panose="02020603050405020304" pitchFamily="18" charset="0"/>
                        </a:rPr>
                        <a:t>Type:</a:t>
                      </a:r>
                      <a:r>
                        <a:rPr lang="en-US" sz="1400" dirty="0">
                          <a:latin typeface="Times New Roman" panose="02020603050405020304" pitchFamily="18" charset="0"/>
                          <a:cs typeface="Times New Roman" panose="02020603050405020304" pitchFamily="18" charset="0"/>
                        </a:rPr>
                        <a:t> IEEE Conference </a:t>
                      </a:r>
                      <a:endParaRPr lang="en-US" sz="14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IN"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IN" sz="1400" b="0" dirty="0">
                          <a:latin typeface="Times New Roman" panose="02020603050405020304" pitchFamily="18" charset="0"/>
                          <a:cs typeface="Times New Roman" panose="02020603050405020304" pitchFamily="18" charset="0"/>
                        </a:rPr>
                        <a:t>Alzheimer's dataset (MRI scans)</a:t>
                      </a:r>
                    </a:p>
                    <a:p>
                      <a:pPr marL="0" marR="0" lvl="0" indent="0" algn="just" defTabSz="914400" rtl="0" eaLnBrk="1" fontAlgn="auto" latinLnBrk="0" hangingPunct="1">
                        <a:lnSpc>
                          <a:spcPct val="100000"/>
                        </a:lnSpc>
                        <a:spcBef>
                          <a:spcPts val="0"/>
                        </a:spcBef>
                        <a:spcAft>
                          <a:spcPts val="0"/>
                        </a:spcAft>
                        <a:buClrTx/>
                        <a:buSzTx/>
                        <a:buFontTx/>
                        <a:buNone/>
                        <a:defRPr/>
                      </a:pPr>
                      <a:r>
                        <a:rPr lang="en-IN" sz="1400" b="0" dirty="0">
                          <a:latin typeface="Times New Roman" panose="02020603050405020304" pitchFamily="18" charset="0"/>
                          <a:cs typeface="Times New Roman" panose="02020603050405020304" pitchFamily="18" charset="0"/>
                        </a:rPr>
                        <a:t>Brain </a:t>
                      </a:r>
                      <a:r>
                        <a:rPr lang="en-IN" sz="1400" b="0" dirty="0" err="1">
                          <a:latin typeface="Times New Roman" panose="02020603050405020304" pitchFamily="18" charset="0"/>
                          <a:cs typeface="Times New Roman" panose="02020603050405020304" pitchFamily="18" charset="0"/>
                        </a:rPr>
                        <a:t>Tumor</a:t>
                      </a:r>
                      <a:r>
                        <a:rPr lang="en-IN" sz="1400" b="0" dirty="0">
                          <a:latin typeface="Times New Roman" panose="02020603050405020304" pitchFamily="18" charset="0"/>
                          <a:cs typeface="Times New Roman" panose="02020603050405020304" pitchFamily="18" charset="0"/>
                        </a:rPr>
                        <a:t> dataset (MRI scans) from Kaggle.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model accurately classified healthy and diseased brain MRIs, including various Alzheimer’s stages and brain tumor types.</a:t>
                      </a:r>
                    </a:p>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CNN achieved 91% accuracy, VGG16 reached 94%, while </a:t>
                      </a:r>
                      <a:r>
                        <a:rPr lang="en-US" sz="1400" dirty="0" err="1">
                          <a:latin typeface="Times New Roman" panose="02020603050405020304" pitchFamily="18" charset="0"/>
                          <a:cs typeface="Times New Roman" panose="02020603050405020304" pitchFamily="18" charset="0"/>
                        </a:rPr>
                        <a:t>EfficientNet</a:t>
                      </a:r>
                      <a:r>
                        <a:rPr lang="en-US" sz="1400" dirty="0">
                          <a:latin typeface="Times New Roman" panose="02020603050405020304" pitchFamily="18" charset="0"/>
                          <a:cs typeface="Times New Roman" panose="02020603050405020304" pitchFamily="18" charset="0"/>
                        </a:rPr>
                        <a:t> outperformed both with 95% accuracy.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If the MRI images come from different hospitals or machines not covered in the training data, the model may not perform well. It also requires high processing power, making it difficult to run on simple or portable devices. Early detection is still a problem because minor changes in the brain may not be captured clearly by the model.</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39994" y="554892"/>
          <a:ext cx="11092881" cy="6413658"/>
        </p:xfrm>
        <a:graphic>
          <a:graphicData uri="http://schemas.openxmlformats.org/drawingml/2006/table">
            <a:tbl>
              <a:tblPr firstRow="1" bandRow="1">
                <a:tableStyleId>{5940675A-B579-460E-94D1-54222C63F5DA}</a:tableStyleId>
              </a:tblPr>
              <a:tblGrid>
                <a:gridCol w="581660">
                  <a:extLst>
                    <a:ext uri="{9D8B030D-6E8A-4147-A177-3AD203B41FA5}">
                      <a16:colId xmlns:a16="http://schemas.microsoft.com/office/drawing/2014/main" val="20000"/>
                    </a:ext>
                  </a:extLst>
                </a:gridCol>
                <a:gridCol w="2948156">
                  <a:extLst>
                    <a:ext uri="{9D8B030D-6E8A-4147-A177-3AD203B41FA5}">
                      <a16:colId xmlns:a16="http://schemas.microsoft.com/office/drawing/2014/main" val="20001"/>
                    </a:ext>
                  </a:extLst>
                </a:gridCol>
                <a:gridCol w="1710598">
                  <a:extLst>
                    <a:ext uri="{9D8B030D-6E8A-4147-A177-3AD203B41FA5}">
                      <a16:colId xmlns:a16="http://schemas.microsoft.com/office/drawing/2014/main" val="20002"/>
                    </a:ext>
                  </a:extLst>
                </a:gridCol>
                <a:gridCol w="2465377">
                  <a:extLst>
                    <a:ext uri="{9D8B030D-6E8A-4147-A177-3AD203B41FA5}">
                      <a16:colId xmlns:a16="http://schemas.microsoft.com/office/drawing/2014/main" val="20003"/>
                    </a:ext>
                  </a:extLst>
                </a:gridCol>
                <a:gridCol w="3387090">
                  <a:extLst>
                    <a:ext uri="{9D8B030D-6E8A-4147-A177-3AD203B41FA5}">
                      <a16:colId xmlns:a16="http://schemas.microsoft.com/office/drawing/2014/main" val="20004"/>
                    </a:ext>
                  </a:extLst>
                </a:gridCol>
              </a:tblGrid>
              <a:tr h="253630">
                <a:tc gridSpan="5">
                  <a:txBody>
                    <a:bodyPr/>
                    <a:lstStyle/>
                    <a:p>
                      <a:endParaRPr lang="en-IN" sz="1500" b="1"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lnT w="12700" cmpd="sng">
                      <a:noFill/>
                    </a:lnT>
                  </a:tcPr>
                </a:tc>
                <a:extLst>
                  <a:ext uri="{0D108BD9-81ED-4DB2-BD59-A6C34878D82A}">
                    <a16:rowId xmlns:a16="http://schemas.microsoft.com/office/drawing/2014/main" val="10000"/>
                  </a:ext>
                </a:extLst>
              </a:tr>
              <a:tr h="1594247">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6.</a:t>
                      </a:r>
                    </a:p>
                  </a:txBody>
                  <a:tcPr/>
                </a:tc>
                <a:tc>
                  <a:txBody>
                    <a:bodyPr/>
                    <a:lstStyle/>
                    <a:p>
                      <a:pPr marL="0" indent="0" algn="l">
                        <a:buNone/>
                      </a:pPr>
                      <a:r>
                        <a:rPr lang="en-IN" sz="1400" b="1" dirty="0">
                          <a:latin typeface="Times New Roman" panose="02020603050405020304" pitchFamily="18" charset="0"/>
                          <a:cs typeface="Times New Roman" panose="02020603050405020304" pitchFamily="18" charset="0"/>
                        </a:rPr>
                        <a:t>Title:</a:t>
                      </a: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Multi Disease Detection And Diagnosis Through Ensemble Learning</a:t>
                      </a:r>
                    </a:p>
                    <a:p>
                      <a:pPr marL="0" indent="0" algn="l">
                        <a:buNone/>
                      </a:pPr>
                      <a:r>
                        <a:rPr lang="en-IN" sz="1400" b="1" dirty="0">
                          <a:latin typeface="Times New Roman" panose="02020603050405020304" pitchFamily="18" charset="0"/>
                          <a:cs typeface="Times New Roman" panose="02020603050405020304" pitchFamily="18" charset="0"/>
                        </a:rPr>
                        <a:t>Authors:</a:t>
                      </a:r>
                      <a:r>
                        <a:rPr lang="en-IN" sz="1400" dirty="0">
                          <a:latin typeface="Times New Roman" panose="02020603050405020304" pitchFamily="18" charset="0"/>
                          <a:cs typeface="Times New Roman" panose="02020603050405020304" pitchFamily="18" charset="0"/>
                        </a:rPr>
                        <a:t> Athira K P, Maya Mohan.</a:t>
                      </a:r>
                    </a:p>
                    <a:p>
                      <a:pPr marL="0" indent="0" algn="l">
                        <a:buNone/>
                      </a:pPr>
                      <a:r>
                        <a:rPr lang="en-IN" sz="1400" b="1" dirty="0">
                          <a:latin typeface="Times New Roman" panose="02020603050405020304" pitchFamily="18" charset="0"/>
                          <a:cs typeface="Times New Roman" panose="02020603050405020304" pitchFamily="18" charset="0"/>
                        </a:rPr>
                        <a:t>Publication Year:</a:t>
                      </a:r>
                      <a:r>
                        <a:rPr lang="en-IN" sz="1400" dirty="0">
                          <a:latin typeface="Times New Roman" panose="02020603050405020304" pitchFamily="18" charset="0"/>
                          <a:cs typeface="Times New Roman" panose="02020603050405020304" pitchFamily="18" charset="0"/>
                        </a:rPr>
                        <a:t> 20224</a:t>
                      </a:r>
                    </a:p>
                    <a:p>
                      <a:pPr marL="0" indent="0" algn="l">
                        <a:buNone/>
                      </a:pPr>
                      <a:r>
                        <a:rPr lang="en-IN" sz="1400" b="1" dirty="0">
                          <a:latin typeface="Times New Roman" panose="02020603050405020304" pitchFamily="18" charset="0"/>
                          <a:cs typeface="Times New Roman" panose="02020603050405020304" pitchFamily="18" charset="0"/>
                        </a:rPr>
                        <a:t>Type: </a:t>
                      </a:r>
                      <a:r>
                        <a:rPr lang="en-IN" sz="1400" b="0" dirty="0">
                          <a:latin typeface="Times New Roman" panose="02020603050405020304" pitchFamily="18" charset="0"/>
                          <a:cs typeface="Times New Roman" panose="02020603050405020304" pitchFamily="18" charset="0"/>
                        </a:rPr>
                        <a:t>IEEE</a:t>
                      </a:r>
                      <a:r>
                        <a:rPr lang="en-IN" sz="1400" b="1" dirty="0">
                          <a:latin typeface="Times New Roman" panose="02020603050405020304" pitchFamily="18" charset="0"/>
                          <a:cs typeface="Times New Roman" panose="02020603050405020304" pitchFamily="18" charset="0"/>
                        </a:rPr>
                        <a:t> </a:t>
                      </a:r>
                      <a:r>
                        <a:rPr lang="en-IN" sz="1400" b="0" dirty="0">
                          <a:latin typeface="Times New Roman" panose="02020603050405020304" pitchFamily="18" charset="0"/>
                          <a:cs typeface="Times New Roman" panose="02020603050405020304" pitchFamily="18" charset="0"/>
                        </a:rPr>
                        <a:t>Conference </a:t>
                      </a:r>
                      <a:endParaRPr lang="en-IN" sz="1400" b="0" i="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COVID-19 Radiography Database (Kaggle),</a:t>
                      </a:r>
                    </a:p>
                    <a:p>
                      <a:r>
                        <a:rPr lang="en-IN" sz="1400" dirty="0">
                          <a:latin typeface="Times New Roman" panose="02020603050405020304" pitchFamily="18" charset="0"/>
                          <a:cs typeface="Times New Roman" panose="02020603050405020304" pitchFamily="18" charset="0"/>
                        </a:rPr>
                        <a:t>APTOS 2019 Blindness Detection Dataset (Kaggle),</a:t>
                      </a:r>
                    </a:p>
                    <a:p>
                      <a:r>
                        <a:rPr lang="en-IN" sz="1400" dirty="0">
                          <a:latin typeface="Times New Roman" panose="02020603050405020304" pitchFamily="18" charset="0"/>
                          <a:cs typeface="Times New Roman" panose="02020603050405020304" pitchFamily="18" charset="0"/>
                        </a:rPr>
                        <a:t>Brain MRI Images Dataset (Kaggle).</a:t>
                      </a:r>
                    </a:p>
                  </a:txBody>
                  <a:tcPr/>
                </a:tc>
                <a:tc>
                  <a:txBody>
                    <a:bodyPr/>
                    <a:lstStyle/>
                    <a:p>
                      <a:r>
                        <a:rPr lang="en-US" sz="1400" b="0" dirty="0">
                          <a:latin typeface="Times New Roman" panose="02020603050405020304" pitchFamily="18" charset="0"/>
                          <a:cs typeface="Times New Roman" panose="02020603050405020304" pitchFamily="18" charset="0"/>
                        </a:rPr>
                        <a:t>COVID-19 Detection Accuracy: 97% using VGG16 with CNN classifier,</a:t>
                      </a:r>
                    </a:p>
                    <a:p>
                      <a:r>
                        <a:rPr lang="en-US" sz="1400" b="0" dirty="0">
                          <a:latin typeface="Times New Roman" panose="02020603050405020304" pitchFamily="18" charset="0"/>
                          <a:cs typeface="Times New Roman" panose="02020603050405020304" pitchFamily="18" charset="0"/>
                        </a:rPr>
                        <a:t>Brain Tumor Detection Accuracy: 94% using custom CNN model,</a:t>
                      </a:r>
                    </a:p>
                    <a:p>
                      <a:r>
                        <a:rPr lang="en-US" sz="1400" b="0" dirty="0">
                          <a:latin typeface="Times New Roman" panose="02020603050405020304" pitchFamily="18" charset="0"/>
                          <a:cs typeface="Times New Roman" panose="02020603050405020304" pitchFamily="18" charset="0"/>
                        </a:rPr>
                        <a:t>Diabetic Retinopathy Detection Accuracy: 85% using CNN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The model is accurate but uses multiple CNNs, making it slow and hard to run on mobile or real-time systems.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Some datasets are small and unbalanced, so the model may not perform well on new or rare cases.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It also lacks advanced image cleaning and doesn't clearly explain its results, which is important for medical professionals.</a:t>
                      </a:r>
                      <a:endParaRPr lang="en-US"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2439681">
                <a:tc>
                  <a:txBody>
                    <a:bodyPr/>
                    <a:lstStyle/>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endParaRPr lang="en-US" sz="1500" dirty="0">
                        <a:latin typeface="Times New Roman" panose="02020603050405020304" pitchFamily="18" charset="0"/>
                        <a:cs typeface="Times New Roman" panose="02020603050405020304" pitchFamily="18" charset="0"/>
                      </a:endParaRPr>
                    </a:p>
                    <a:p>
                      <a:pPr algn="ctr"/>
                      <a:r>
                        <a:rPr lang="en-US" sz="1500" dirty="0">
                          <a:latin typeface="Times New Roman" panose="02020603050405020304" pitchFamily="18" charset="0"/>
                          <a:cs typeface="Times New Roman" panose="02020603050405020304" pitchFamily="18" charset="0"/>
                        </a:rPr>
                        <a:t>7.</a:t>
                      </a:r>
                    </a:p>
                  </a:txBody>
                  <a:tcPr/>
                </a:tc>
                <a:tc>
                  <a:txBody>
                    <a:bodyPr/>
                    <a:lstStyle/>
                    <a:p>
                      <a:r>
                        <a:rPr lang="en-US" sz="1400" b="1" dirty="0">
                          <a:latin typeface="Times New Roman" panose="02020603050405020304" pitchFamily="18" charset="0"/>
                          <a:cs typeface="Times New Roman" panose="02020603050405020304" pitchFamily="18" charset="0"/>
                        </a:rPr>
                        <a:t>Title:</a:t>
                      </a:r>
                      <a:r>
                        <a:rPr lang="en-US" sz="1400" dirty="0">
                          <a:latin typeface="Times New Roman" panose="02020603050405020304" pitchFamily="18" charset="0"/>
                          <a:cs typeface="Times New Roman" panose="02020603050405020304" pitchFamily="18" charset="0"/>
                        </a:rPr>
                        <a:t> An Advanced and Ideal Method for Tumor Detection and Classification from MRI Image Using Gaussian Mixture and RCNN</a:t>
                      </a:r>
                    </a:p>
                    <a:p>
                      <a:r>
                        <a:rPr lang="en-US" sz="1400" b="1" dirty="0">
                          <a:latin typeface="Times New Roman" panose="02020603050405020304" pitchFamily="18" charset="0"/>
                          <a:cs typeface="Times New Roman" panose="02020603050405020304" pitchFamily="18" charset="0"/>
                        </a:rPr>
                        <a:t>Authors:</a:t>
                      </a:r>
                      <a:r>
                        <a:rPr lang="en-US" sz="1400" dirty="0">
                          <a:latin typeface="Times New Roman" panose="02020603050405020304" pitchFamily="18" charset="0"/>
                          <a:cs typeface="Times New Roman" panose="02020603050405020304" pitchFamily="18" charset="0"/>
                        </a:rPr>
                        <a:t> Ganesh Karthikeyan, Saravana, Asif Tamboli, Kumari Lipi, </a:t>
                      </a:r>
                      <a:r>
                        <a:rPr lang="en-US" sz="1400" dirty="0" err="1">
                          <a:latin typeface="Times New Roman" panose="02020603050405020304" pitchFamily="18" charset="0"/>
                          <a:cs typeface="Times New Roman" panose="02020603050405020304" pitchFamily="18" charset="0"/>
                        </a:rPr>
                        <a:t>D.Vijaya</a:t>
                      </a:r>
                      <a:r>
                        <a:rPr lang="en-US" sz="1400" dirty="0">
                          <a:latin typeface="Times New Roman" panose="02020603050405020304" pitchFamily="18" charset="0"/>
                          <a:cs typeface="Times New Roman" panose="02020603050405020304" pitchFamily="18" charset="0"/>
                        </a:rPr>
                        <a:t> Lakshmi ,  </a:t>
                      </a:r>
                    </a:p>
                    <a:p>
                      <a:r>
                        <a:rPr lang="en-US" sz="1400" dirty="0">
                          <a:latin typeface="Times New Roman" panose="02020603050405020304" pitchFamily="18" charset="0"/>
                          <a:cs typeface="Times New Roman" panose="02020603050405020304" pitchFamily="18" charset="0"/>
                        </a:rPr>
                        <a:t>S. Anthoniraj</a:t>
                      </a:r>
                    </a:p>
                    <a:p>
                      <a:r>
                        <a:rPr lang="en-US" sz="1400" b="1" dirty="0">
                          <a:latin typeface="Times New Roman" panose="02020603050405020304" pitchFamily="18" charset="0"/>
                          <a:cs typeface="Times New Roman" panose="02020603050405020304" pitchFamily="18" charset="0"/>
                        </a:rPr>
                        <a:t>Publication Year:</a:t>
                      </a:r>
                      <a:r>
                        <a:rPr lang="en-US" sz="1400" dirty="0">
                          <a:latin typeface="Times New Roman" panose="02020603050405020304" pitchFamily="18" charset="0"/>
                          <a:cs typeface="Times New Roman" panose="02020603050405020304" pitchFamily="18" charset="0"/>
                        </a:rPr>
                        <a:t> 2024</a:t>
                      </a:r>
                    </a:p>
                    <a:p>
                      <a:r>
                        <a:rPr lang="en-US" sz="1400" b="1" dirty="0">
                          <a:latin typeface="Times New Roman" panose="02020603050405020304" pitchFamily="18" charset="0"/>
                          <a:cs typeface="Times New Roman" panose="02020603050405020304" pitchFamily="18" charset="0"/>
                        </a:rPr>
                        <a:t>Type</a:t>
                      </a:r>
                      <a:r>
                        <a:rPr lang="en-US" sz="1400" b="1">
                          <a:latin typeface="Times New Roman" panose="02020603050405020304" pitchFamily="18" charset="0"/>
                          <a:cs typeface="Times New Roman" panose="02020603050405020304" pitchFamily="18" charset="0"/>
                        </a:rPr>
                        <a:t>:</a:t>
                      </a:r>
                      <a:r>
                        <a:rPr lang="en-US" sz="1400">
                          <a:latin typeface="Times New Roman" panose="02020603050405020304" pitchFamily="18" charset="0"/>
                          <a:cs typeface="Times New Roman" panose="02020603050405020304" pitchFamily="18" charset="0"/>
                        </a:rPr>
                        <a:t> IEEE </a:t>
                      </a:r>
                      <a:r>
                        <a:rPr lang="en-US" sz="1400" dirty="0">
                          <a:latin typeface="Times New Roman" panose="02020603050405020304" pitchFamily="18" charset="0"/>
                          <a:cs typeface="Times New Roman" panose="02020603050405020304" pitchFamily="18" charset="0"/>
                        </a:rPr>
                        <a:t>Conference </a:t>
                      </a:r>
                      <a:r>
                        <a:rPr lang="en-US" sz="1400" b="0" dirty="0">
                          <a:latin typeface="Times New Roman" panose="02020603050405020304" pitchFamily="18" charset="0"/>
                          <a:cs typeface="Times New Roman" panose="02020603050405020304" pitchFamily="18" charset="0"/>
                        </a:rPr>
                        <a:t>(International Conference on Computational Intelligence for Security, Communication and Sustainable Development).</a:t>
                      </a:r>
                      <a:endParaRPr lang="en-US"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400" dirty="0">
                          <a:latin typeface="Times New Roman" panose="02020603050405020304" pitchFamily="18" charset="0"/>
                          <a:cs typeface="Times New Roman" panose="02020603050405020304" pitchFamily="18" charset="0"/>
                        </a:rPr>
                        <a:t>MRI brain images</a:t>
                      </a:r>
                    </a:p>
                    <a:p>
                      <a:pPr marL="0" marR="0" lvl="0" indent="0" algn="l" defTabSz="9144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(Dataset source not explicitly named in the paper).</a:t>
                      </a:r>
                      <a:endParaRPr lang="en-US" sz="1400" b="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Gaussian Mixture Model (GMM) for segmentation and </a:t>
                      </a:r>
                    </a:p>
                    <a:p>
                      <a:r>
                        <a:rPr lang="en-IN" sz="1400" dirty="0">
                          <a:latin typeface="Times New Roman" panose="02020603050405020304" pitchFamily="18" charset="0"/>
                          <a:cs typeface="Times New Roman" panose="02020603050405020304" pitchFamily="18" charset="0"/>
                        </a:rPr>
                        <a:t>Region-based Convolutional Neural Network (RCNN) for classification.</a:t>
                      </a:r>
                    </a:p>
                    <a:p>
                      <a:r>
                        <a:rPr lang="en-US" sz="1400" b="0" dirty="0">
                          <a:latin typeface="Times New Roman" panose="02020603050405020304" pitchFamily="18" charset="0"/>
                          <a:cs typeface="Times New Roman" panose="02020603050405020304" pitchFamily="18" charset="0"/>
                        </a:rPr>
                        <a:t>Using the GMM + RCNN hybrid model, the proposed method achieved an accuracy of 95.6%, precision of 93.1%, recall of 92.5%, and F1-score of 92.8% in tumor classification.</a:t>
                      </a:r>
                      <a:endParaRPr lang="en-IN" sz="1400" b="0" dirty="0">
                        <a:latin typeface="Times New Roman" panose="02020603050405020304" pitchFamily="18" charset="0"/>
                        <a:cs typeface="Times New Roman" panose="02020603050405020304" pitchFamily="18" charset="0"/>
                      </a:endParaRPr>
                    </a:p>
                    <a:p>
                      <a:endParaRPr lang="en-IN" sz="1400" b="0" dirty="0">
                        <a:latin typeface="Times New Roman" panose="02020603050405020304" pitchFamily="18" charset="0"/>
                        <a:cs typeface="Times New Roman" panose="02020603050405020304" pitchFamily="18" charset="0"/>
                      </a:endParaRPr>
                    </a:p>
                    <a:p>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model depends on manually selected features, which makes it hard to adapt to different kinds of MRI images. It does not perform well on blurry or noisy scans, which are common in real hospitals. The preprocessing steps, like histogram equalization and denoising, may also remove important image details along with noise, which can affect accuracy.</a:t>
                      </a:r>
                      <a:endParaRPr lang="en-IN" sz="1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03458">
                <a:tc gridSpan="5">
                  <a:txBody>
                    <a:bodyPr/>
                    <a:lstStyle/>
                    <a:p>
                      <a:endParaRPr lang="en-IN" sz="1500" dirty="0">
                        <a:latin typeface="Times New Roman" panose="02020603050405020304" pitchFamily="18" charset="0"/>
                        <a:cs typeface="Times New Roman" panose="02020603050405020304" pitchFamily="18" charset="0"/>
                      </a:endParaRPr>
                    </a:p>
                  </a:txBody>
                  <a:tcPr>
                    <a:lnL w="12700" cmpd="sng">
                      <a:noFill/>
                    </a:lnL>
                    <a:lnR w="12700" cmpd="sng">
                      <a:noFill/>
                    </a:lnR>
                    <a:lnB w="12700" cmpd="sng">
                      <a:noFill/>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Literature Summary</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09600" y="1600200"/>
            <a:ext cx="10972800" cy="4886325"/>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Based on recent literature, EfficientNet-B7 has emerged as the most effective deep learning model for detecting brain tumors and Alzheimer’s disease from MRI scan images. </a:t>
            </a:r>
          </a:p>
          <a:p>
            <a:pPr algn="just">
              <a:lnSpc>
                <a:spcPct val="150000"/>
              </a:lnSpc>
            </a:pPr>
            <a:r>
              <a:rPr lang="en-US" sz="1800" dirty="0">
                <a:latin typeface="Times New Roman" panose="02020603050405020304" pitchFamily="18" charset="0"/>
                <a:cs typeface="Times New Roman" panose="02020603050405020304" pitchFamily="18" charset="0"/>
              </a:rPr>
              <a:t>Its compound scaling approach enables superior feature extraction and classification performance compared to models like VGG16, ResNet50, and </a:t>
            </a:r>
            <a:r>
              <a:rPr lang="en-US" sz="1800" dirty="0" err="1">
                <a:latin typeface="Times New Roman" panose="02020603050405020304" pitchFamily="18" charset="0"/>
                <a:cs typeface="Times New Roman" panose="02020603050405020304" pitchFamily="18" charset="0"/>
              </a:rPr>
              <a:t>DenseNet</a:t>
            </a:r>
            <a:r>
              <a:rPr lang="en-US" sz="1800" dirty="0">
                <a:latin typeface="Times New Roman" panose="02020603050405020304" pitchFamily="18" charset="0"/>
                <a:cs typeface="Times New Roman" panose="02020603050405020304" pitchFamily="18" charset="0"/>
              </a:rPr>
              <a:t>.</a:t>
            </a:r>
          </a:p>
          <a:p>
            <a:pPr algn="just">
              <a:lnSpc>
                <a:spcPct val="150000"/>
              </a:lnSpc>
            </a:pPr>
            <a:r>
              <a:rPr lang="en-US" sz="1800" dirty="0">
                <a:latin typeface="Times New Roman" panose="02020603050405020304" pitchFamily="18" charset="0"/>
                <a:cs typeface="Times New Roman" panose="02020603050405020304" pitchFamily="18" charset="0"/>
              </a:rPr>
              <a:t> The algorithm achieved an impressive 95.25% accuracy in brain tumor classification and over 95% accuracy in Alzheimer’s detection, as shown in multiple comparative studies. </a:t>
            </a:r>
          </a:p>
          <a:p>
            <a:pPr algn="just">
              <a:lnSpc>
                <a:spcPct val="150000"/>
              </a:lnSpc>
            </a:pPr>
            <a:r>
              <a:rPr lang="en-US" sz="1800" dirty="0">
                <a:latin typeface="Times New Roman" panose="02020603050405020304" pitchFamily="18" charset="0"/>
                <a:cs typeface="Times New Roman" panose="02020603050405020304" pitchFamily="18" charset="0"/>
              </a:rPr>
              <a:t>EfficientNet-B7 also demonstrated high precision, recall, and F1-scores, indicating strong generalization and minimal overfitting. It excels in multiclass classification, accurately distinguishing between glioma, meningioma, and pituitary tumors, as well as stages of Alzheimer’s such as NC, MCI, and AD.  </a:t>
            </a:r>
          </a:p>
          <a:p>
            <a:pPr algn="just">
              <a:lnSpc>
                <a:spcPct val="150000"/>
              </a:lnSpc>
            </a:pPr>
            <a:r>
              <a:rPr lang="en-US" sz="1800" dirty="0">
                <a:latin typeface="Times New Roman" panose="02020603050405020304" pitchFamily="18" charset="0"/>
                <a:cs typeface="Times New Roman" panose="02020603050405020304" pitchFamily="18" charset="0"/>
              </a:rPr>
              <a:t>Overall, the literature supports that EfficientNet-B7 offers the best performance among contemporary models for MRI-based brain disorder diagnosis.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r>
              <a:rPr lang="en-US" dirty="0">
                <a:latin typeface="Times New Roman" panose="02020603050405020304" pitchFamily="18" charset="0"/>
                <a:cs typeface="Times New Roman" panose="02020603050405020304" pitchFamily="18" charset="0"/>
              </a:rPr>
              <a:t>Datasets and Requirements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600200"/>
            <a:ext cx="10972800" cy="5074285"/>
          </a:xfrm>
        </p:spPr>
        <p:txBody>
          <a:bodyPr/>
          <a:lstStyle/>
          <a:p>
            <a:pPr marL="0" indent="0" algn="just">
              <a:lnSpc>
                <a:spcPct val="150000"/>
              </a:lnSpc>
              <a:buNone/>
            </a:pPr>
            <a:r>
              <a:rPr lang="en-IN" sz="1800" b="1" dirty="0">
                <a:latin typeface="Times New Roman" panose="02020603050405020304" pitchFamily="18" charset="0"/>
                <a:cs typeface="Times New Roman" panose="02020603050405020304" pitchFamily="18" charset="0"/>
              </a:rPr>
              <a:t>Dataset for  Alzheimer’s disease :</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	The Augmented Alzheimer MRI Dataset, sourced from Kaggle, contains MRI scans categorized into different stages of Alzheimer’s disease. The Augmented Alzheimer MRI Dataset comprises approximately 33,984 MRI images.  The dataset includes four classes:</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Mild Demented class will consists of  8960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Moderate Demented class will consists of 6464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Non-Demented  class will consists of 9600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Very Mild Demented class will consists of 8960 images.</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Source : </a:t>
            </a:r>
            <a:r>
              <a:rPr lang="en-IN" sz="1800" dirty="0">
                <a:solidFill>
                  <a:srgbClr val="00B0F0"/>
                </a:solidFill>
                <a:latin typeface="Times New Roman" panose="02020603050405020304" pitchFamily="18" charset="0"/>
                <a:cs typeface="Times New Roman" panose="02020603050405020304" pitchFamily="18" charset="0"/>
              </a:rPr>
              <a:t>https://www.kaggle.com/datasets/uraninjo/augmented-alzheimer-mri-dataset</a:t>
            </a:r>
          </a:p>
        </p:txBody>
      </p:sp>
      <p:pic>
        <p:nvPicPr>
          <p:cNvPr id="25" name="Picture 24"/>
          <p:cNvPicPr>
            <a:picLocks noChangeAspect="1"/>
          </p:cNvPicPr>
          <p:nvPr/>
        </p:nvPicPr>
        <p:blipFill>
          <a:blip r:embed="rId2"/>
          <a:stretch>
            <a:fillRect/>
          </a:stretch>
        </p:blipFill>
        <p:spPr>
          <a:xfrm>
            <a:off x="610235" y="4846320"/>
            <a:ext cx="10971530" cy="17367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1600200"/>
            <a:ext cx="10972800" cy="4526280"/>
          </a:xfrm>
        </p:spPr>
        <p:txBody>
          <a:bodyPr/>
          <a:lstStyle/>
          <a:p>
            <a:pPr marL="0" indent="0" algn="just">
              <a:lnSpc>
                <a:spcPct val="150000"/>
              </a:lnSpc>
              <a:buNone/>
            </a:pPr>
            <a:r>
              <a:rPr lang="en-IN" sz="1800" b="1" dirty="0">
                <a:latin typeface="Times New Roman" panose="02020603050405020304" pitchFamily="18" charset="0"/>
                <a:cs typeface="Times New Roman" panose="02020603050405020304" pitchFamily="18" charset="0"/>
              </a:rPr>
              <a:t>Dataset for Brain </a:t>
            </a:r>
            <a:r>
              <a:rPr lang="en-IN" sz="1800" b="1" dirty="0" err="1">
                <a:latin typeface="Times New Roman" panose="02020603050405020304" pitchFamily="18" charset="0"/>
                <a:cs typeface="Times New Roman" panose="02020603050405020304" pitchFamily="18" charset="0"/>
              </a:rPr>
              <a:t>tumors</a:t>
            </a:r>
            <a:r>
              <a:rPr lang="en-IN" sz="1800" b="1" dirty="0">
                <a:latin typeface="Times New Roman" panose="02020603050405020304" pitchFamily="18" charset="0"/>
                <a:cs typeface="Times New Roman" panose="02020603050405020304" pitchFamily="18" charset="0"/>
              </a:rPr>
              <a:t> :</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Crystal Clean: Brain </a:t>
            </a:r>
            <a:r>
              <a:rPr lang="en-IN" sz="1800" dirty="0" err="1">
                <a:latin typeface="Times New Roman" panose="02020603050405020304" pitchFamily="18" charset="0"/>
                <a:cs typeface="Times New Roman" panose="02020603050405020304" pitchFamily="18" charset="0"/>
              </a:rPr>
              <a:t>Tumors</a:t>
            </a:r>
            <a:r>
              <a:rPr lang="en-IN" sz="1800" dirty="0">
                <a:latin typeface="Times New Roman" panose="02020603050405020304" pitchFamily="18" charset="0"/>
                <a:cs typeface="Times New Roman" panose="02020603050405020304" pitchFamily="18" charset="0"/>
              </a:rPr>
              <a:t> MRI Dataset, available on Kaggle. This dataset comprises approximately 21,700 MRI images. These high-quality images are instrumental in training deep learning models to accurately detect brain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.This dataset categorized into four classes: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Pituitary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class will consists of the  5908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Glioma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class will consists of the  6307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Meningioma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class will consists of the  6391 images </a:t>
            </a:r>
          </a:p>
          <a:p>
            <a:pPr marL="457200" indent="-457200" algn="just">
              <a:lnSpc>
                <a:spcPct val="150000"/>
              </a:lnSpc>
              <a:buFont typeface="+mj-lt"/>
              <a:buAutoNum type="arabicPeriod"/>
            </a:pPr>
            <a:r>
              <a:rPr lang="en-IN" sz="1800" dirty="0">
                <a:latin typeface="Times New Roman" panose="02020603050405020304" pitchFamily="18" charset="0"/>
                <a:cs typeface="Times New Roman" panose="02020603050405020304" pitchFamily="18" charset="0"/>
              </a:rPr>
              <a:t>Normal class will consists of the 3066 images. </a:t>
            </a: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Source : </a:t>
            </a:r>
            <a:r>
              <a:rPr lang="en-IN" sz="1800" b="1" dirty="0">
                <a:solidFill>
                  <a:srgbClr val="00B0F0"/>
                </a:solidFill>
                <a:latin typeface="Times New Roman" panose="02020603050405020304" pitchFamily="18" charset="0"/>
                <a:cs typeface="Times New Roman" panose="02020603050405020304" pitchFamily="18" charset="0"/>
              </a:rPr>
              <a:t>https://www.kaggle.com/datasets/mohammadhossein77/brain-tumors-dataset</a:t>
            </a:r>
          </a:p>
        </p:txBody>
      </p:sp>
      <p:pic>
        <p:nvPicPr>
          <p:cNvPr id="5" name="Picture 4"/>
          <p:cNvPicPr>
            <a:picLocks noChangeAspect="1"/>
          </p:cNvPicPr>
          <p:nvPr/>
        </p:nvPicPr>
        <p:blipFill>
          <a:blip r:embed="rId2"/>
          <a:stretch>
            <a:fillRect/>
          </a:stretch>
        </p:blipFill>
        <p:spPr>
          <a:xfrm>
            <a:off x="608965" y="4854575"/>
            <a:ext cx="10974070" cy="17291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1600200"/>
            <a:ext cx="10972800" cy="4526280"/>
          </a:xfrm>
        </p:spPr>
        <p:txBody>
          <a:bodyPr/>
          <a:lstStyle/>
          <a:p>
            <a:pPr marL="0" indent="0" algn="just">
              <a:lnSpc>
                <a:spcPct val="150000"/>
              </a:lnSpc>
              <a:buNone/>
            </a:pPr>
            <a:r>
              <a:rPr lang="en-IN" sz="1800" b="1" dirty="0">
                <a:latin typeface="Times New Roman" panose="02020603050405020304" pitchFamily="18" charset="0"/>
                <a:cs typeface="Times New Roman" panose="02020603050405020304" pitchFamily="18" charset="0"/>
              </a:rPr>
              <a:t>Requirements</a:t>
            </a:r>
            <a:r>
              <a:rPr lang="en-IN" sz="1800" dirty="0">
                <a:latin typeface="Times New Roman" panose="02020603050405020304" pitchFamily="18" charset="0"/>
                <a:cs typeface="Times New Roman" panose="02020603050405020304" pitchFamily="18" charset="0"/>
              </a:rPr>
              <a:t>:</a:t>
            </a: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   Hardware</a:t>
            </a:r>
            <a:r>
              <a:rPr lang="en-IN" sz="1800" dirty="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GPU-enabled system for faster training (e.g.  Google </a:t>
            </a:r>
            <a:r>
              <a:rPr lang="en-IN" sz="1800" dirty="0" err="1">
                <a:latin typeface="Times New Roman" panose="02020603050405020304" pitchFamily="18" charset="0"/>
                <a:cs typeface="Times New Roman" panose="02020603050405020304" pitchFamily="18" charset="0"/>
              </a:rPr>
              <a:t>Colab</a:t>
            </a:r>
            <a:r>
              <a:rPr lang="en-IN" sz="1800" dirty="0">
                <a:latin typeface="Times New Roman" panose="02020603050405020304" pitchFamily="18" charset="0"/>
                <a:cs typeface="Times New Roman" panose="02020603050405020304" pitchFamily="18" charset="0"/>
              </a:rPr>
              <a:t> )</a:t>
            </a:r>
          </a:p>
          <a:p>
            <a:pPr marL="742950" lvl="1" indent="-285750" algn="just">
              <a:lnSpc>
                <a:spcPct val="150000"/>
              </a:lnSpc>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Minimum 16GB RAM</a:t>
            </a:r>
          </a:p>
          <a:p>
            <a:pPr marL="457200" lvl="1"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r>
              <a:rPr lang="en-IN" sz="1800" b="1" dirty="0">
                <a:latin typeface="Times New Roman" panose="02020603050405020304" pitchFamily="18" charset="0"/>
                <a:cs typeface="Times New Roman" panose="02020603050405020304" pitchFamily="18" charset="0"/>
              </a:rPr>
              <a:t>  Software &amp; Frameworks</a:t>
            </a:r>
            <a:r>
              <a:rPr lang="en-IN" sz="1800" dirty="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Deep Learning</a:t>
            </a:r>
            <a:r>
              <a:rPr lang="en-IN" sz="1800" dirty="0">
                <a:latin typeface="Times New Roman" panose="02020603050405020304" pitchFamily="18" charset="0"/>
                <a:cs typeface="Times New Roman" panose="02020603050405020304" pitchFamily="18" charset="0"/>
              </a:rPr>
              <a:t>: TensorFlow, </a:t>
            </a:r>
            <a:r>
              <a:rPr lang="en-IN" sz="1800" dirty="0" err="1">
                <a:latin typeface="Times New Roman" panose="02020603050405020304" pitchFamily="18" charset="0"/>
                <a:cs typeface="Times New Roman" panose="02020603050405020304" pitchFamily="18" charset="0"/>
              </a:rPr>
              <a:t>Keras</a:t>
            </a:r>
            <a:endParaRPr lang="en-IN" sz="1800" dirty="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Preprocessing</a:t>
            </a:r>
            <a:r>
              <a:rPr lang="en-IN" sz="1800" dirty="0">
                <a:latin typeface="Times New Roman" panose="02020603050405020304" pitchFamily="18" charset="0"/>
                <a:cs typeface="Times New Roman" panose="02020603050405020304" pitchFamily="18" charset="0"/>
              </a:rPr>
              <a:t>: OpenCV, NumPy, Pandas</a:t>
            </a:r>
          </a:p>
          <a:p>
            <a:pPr marL="742950" lvl="1" indent="-285750" algn="just">
              <a:lnSpc>
                <a:spcPct val="150000"/>
              </a:lnSpc>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Programming Language : </a:t>
            </a:r>
            <a:r>
              <a:rPr lang="en-IN" sz="1800" dirty="0">
                <a:latin typeface="Times New Roman" panose="02020603050405020304" pitchFamily="18" charset="0"/>
                <a:cs typeface="Times New Roman" panose="02020603050405020304" pitchFamily="18" charset="0"/>
              </a:rPr>
              <a:t>Python</a:t>
            </a:r>
          </a:p>
          <a:p>
            <a:pPr lvl="1" algn="just">
              <a:lnSpc>
                <a:spcPct val="150000"/>
              </a:lnSpc>
              <a:buFont typeface="Arial" panose="020B0604020202020204" pitchFamily="34" charset="0"/>
              <a:buChar char="•"/>
            </a:pPr>
            <a:r>
              <a:rPr lang="en-US" sz="1800" b="1" dirty="0">
                <a:effectLst/>
                <a:latin typeface="Times New Roman" panose="02020603050405020304" pitchFamily="18" charset="0"/>
                <a:ea typeface="Times New Roman" panose="02020603050405020304" pitchFamily="18" charset="0"/>
              </a:rPr>
              <a:t>Scikit-learn:</a:t>
            </a:r>
            <a:r>
              <a:rPr lang="en-US" sz="1800" dirty="0">
                <a:effectLst/>
                <a:latin typeface="Times New Roman" panose="02020603050405020304" pitchFamily="18" charset="0"/>
                <a:ea typeface="Times New Roman" panose="02020603050405020304" pitchFamily="18" charset="0"/>
              </a:rPr>
              <a:t> Utilized for model evaluation metrics such as accuracy and dataset splitting.</a:t>
            </a:r>
            <a:endParaRPr lang="en-IN" sz="1800" dirty="0">
              <a:effectLst/>
              <a:latin typeface="Times New Roman" panose="02020603050405020304" pitchFamily="18" charset="0"/>
              <a:ea typeface="Times New Roman" panose="02020603050405020304" pitchFamily="18" charset="0"/>
            </a:endParaRPr>
          </a:p>
          <a:p>
            <a:pPr marL="742950" lvl="1" indent="-285750" algn="just">
              <a:lnSpc>
                <a:spcPct val="150000"/>
              </a:lnSpc>
              <a:buFont typeface="Arial" panose="020B0604020202020204" pitchFamily="34" charset="0"/>
              <a:buChar char="•"/>
            </a:pPr>
            <a:endParaRPr lang="en-IN" sz="1800" dirty="0">
              <a:effectLst/>
              <a:latin typeface="Times New Roman" panose="02020603050405020304" pitchFamily="18" charset="0"/>
              <a:ea typeface="Times New Roman" panose="02020603050405020304" pitchFamily="18" charset="0"/>
            </a:endParaRPr>
          </a:p>
          <a:p>
            <a:pPr marL="457200" lvl="1"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457200" lvl="1"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r>
              <a:rPr lang="en-US" sz="4400" dirty="0">
                <a:latin typeface="Times New Roman" panose="02020603050405020304" pitchFamily="18" charset="0"/>
                <a:cs typeface="Times New Roman" panose="02020603050405020304" pitchFamily="18" charset="0"/>
              </a:rPr>
              <a:t>Algorithms Involved</a:t>
            </a:r>
            <a:endParaRPr lang="en-IN" b="1" dirty="0"/>
          </a:p>
        </p:txBody>
      </p:sp>
      <p:sp>
        <p:nvSpPr>
          <p:cNvPr id="3" name="Content Placeholder 2"/>
          <p:cNvSpPr>
            <a:spLocks noGrp="1"/>
          </p:cNvSpPr>
          <p:nvPr>
            <p:ph idx="1"/>
          </p:nvPr>
        </p:nvSpPr>
        <p:spPr>
          <a:xfrm>
            <a:off x="609600" y="1143000"/>
            <a:ext cx="8447405" cy="4719955"/>
          </a:xfrm>
        </p:spPr>
        <p:txBody>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Algorithm :</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For this project, we use EfficientNet-B7, a deep convolutional neural network known for its high efficiency and accuracy. Unlike traditional CNN-based architectures, EfficientNet-B7 employs compound scaling, which optimally balances network depth, width, and resolution, allowing it to achieve state-of-the-art performance with fewer parameters. As the most powerful variant in the </a:t>
            </a:r>
            <a:r>
              <a:rPr lang="en-US" sz="1800" dirty="0" err="1">
                <a:latin typeface="Times New Roman" panose="02020603050405020304" pitchFamily="18" charset="0"/>
                <a:cs typeface="Times New Roman" panose="02020603050405020304" pitchFamily="18" charset="0"/>
              </a:rPr>
              <a:t>EfficientNet</a:t>
            </a:r>
            <a:r>
              <a:rPr lang="en-US" sz="1800" dirty="0">
                <a:latin typeface="Times New Roman" panose="02020603050405020304" pitchFamily="18" charset="0"/>
                <a:cs typeface="Times New Roman" panose="02020603050405020304" pitchFamily="18" charset="0"/>
              </a:rPr>
              <a:t> family, EfficientNet-B7 offers enhanced feature extraction, making it highly effective for medical image classification tasks such as Alzheimer’s disease detection and brain tumor classification.</a:t>
            </a: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EfficientNet-B7</a:t>
            </a:r>
            <a:r>
              <a:rPr lang="en-US" sz="1800" dirty="0">
                <a:latin typeface="Times New Roman" panose="02020603050405020304" pitchFamily="18" charset="0"/>
                <a:cs typeface="Times New Roman" panose="02020603050405020304" pitchFamily="18" charset="0"/>
              </a:rPr>
              <a:t>:</a:t>
            </a:r>
          </a:p>
          <a:p>
            <a:pPr algn="just">
              <a:lnSpc>
                <a:spcPct val="150000"/>
              </a:lnSpc>
            </a:pPr>
            <a:r>
              <a:rPr lang="en-US" sz="1800" dirty="0">
                <a:latin typeface="Times New Roman" panose="02020603050405020304" pitchFamily="18" charset="0"/>
                <a:cs typeface="Times New Roman" panose="02020603050405020304" pitchFamily="18" charset="0"/>
              </a:rPr>
              <a:t>A highly scalable deep learning model that maintains superior accuracy while optimizing computational efficiency.</a:t>
            </a:r>
          </a:p>
          <a:p>
            <a:pPr algn="just">
              <a:lnSpc>
                <a:spcPct val="150000"/>
              </a:lnSpc>
            </a:pPr>
            <a:r>
              <a:rPr lang="en-US" sz="1800" dirty="0">
                <a:latin typeface="Times New Roman" panose="02020603050405020304" pitchFamily="18" charset="0"/>
                <a:cs typeface="Times New Roman" panose="02020603050405020304" pitchFamily="18" charset="0"/>
              </a:rPr>
              <a:t>Utilizes compound scaling to effectively adjust model dimensions, ensuring optimal performance without excessive parameters.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58275" y="1627505"/>
            <a:ext cx="2524125" cy="489013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6745" y="664210"/>
            <a:ext cx="10955655" cy="5955030"/>
          </a:xfrm>
        </p:spPr>
        <p:txBody>
          <a:bodyPr/>
          <a:lstStyle/>
          <a:p>
            <a:pPr indent="228600">
              <a:lnSpc>
                <a:spcPct val="150000"/>
              </a:lnSpc>
              <a:buNone/>
            </a:pPr>
            <a:r>
              <a:rPr lang="en-IN" sz="1800" b="1" dirty="0">
                <a:latin typeface="Times New Roman" panose="02020603050405020304" pitchFamily="18" charset="0"/>
                <a:cs typeface="Times New Roman" panose="02020603050405020304" pitchFamily="18" charset="0"/>
              </a:rPr>
              <a:t>Formulas :</a:t>
            </a:r>
          </a:p>
          <a:p>
            <a:pPr indent="228600" algn="just">
              <a:lnSpc>
                <a:spcPct val="150000"/>
              </a:lnSpc>
              <a:buNone/>
            </a:pPr>
            <a:r>
              <a:rPr lang="en-IN" sz="1800" dirty="0">
                <a:latin typeface="Times New Roman" panose="02020603050405020304" pitchFamily="18" charset="0"/>
                <a:cs typeface="Times New Roman" panose="02020603050405020304" pitchFamily="18" charset="0"/>
              </a:rPr>
              <a:t>    1.Convolution Operation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457200" algn="just">
              <a:lnSpc>
                <a:spcPct val="150000"/>
              </a:lnSpc>
              <a:buNone/>
            </a:pPr>
            <a:r>
              <a:rPr lang="pt-BR" sz="1800" dirty="0"/>
              <a:t>                                                (</a:t>
            </a:r>
            <a:r>
              <a:rPr lang="pt-BR" sz="1800" dirty="0">
                <a:latin typeface="Times New Roman" panose="02020603050405020304" pitchFamily="18" charset="0"/>
                <a:cs typeface="Times New Roman" panose="02020603050405020304" pitchFamily="18" charset="0"/>
              </a:rPr>
              <a:t>I∗K)(x,y)=m∑​n∑​I(x+m,y+n)⋅K(m,n)</a:t>
            </a:r>
          </a:p>
          <a:p>
            <a:pPr indent="457200" algn="just">
              <a:lnSpc>
                <a:spcPct val="150000"/>
              </a:lnSpc>
              <a:buNone/>
            </a:pPr>
            <a:r>
              <a:rPr lang="pt-BR" sz="1800" dirty="0">
                <a:latin typeface="Times New Roman" panose="02020603050405020304" pitchFamily="18" charset="0"/>
                <a:cs typeface="Times New Roman" panose="02020603050405020304" pitchFamily="18" charset="0"/>
              </a:rPr>
              <a:t>2.</a:t>
            </a:r>
            <a:r>
              <a:rPr lang="en-IN" sz="1800" dirty="0"/>
              <a:t> </a:t>
            </a:r>
            <a:r>
              <a:rPr lang="en-IN" sz="1800" dirty="0">
                <a:latin typeface="Times New Roman" panose="02020603050405020304" pitchFamily="18" charset="0"/>
                <a:cs typeface="Times New Roman" panose="02020603050405020304" pitchFamily="18" charset="0"/>
              </a:rPr>
              <a:t>Activation Function (</a:t>
            </a:r>
            <a:r>
              <a:rPr lang="en-IN" sz="1800" dirty="0" err="1">
                <a:latin typeface="Times New Roman" panose="02020603050405020304" pitchFamily="18" charset="0"/>
                <a:cs typeface="Times New Roman" panose="02020603050405020304" pitchFamily="18" charset="0"/>
              </a:rPr>
              <a:t>ReLU</a:t>
            </a:r>
            <a:r>
              <a:rPr lang="en-IN" sz="1800" dirty="0">
                <a:latin typeface="Times New Roman" panose="02020603050405020304" pitchFamily="18" charset="0"/>
                <a:cs typeface="Times New Roman" panose="02020603050405020304" pitchFamily="18" charset="0"/>
              </a:rPr>
              <a:t>)</a:t>
            </a:r>
            <a:r>
              <a:rPr lang="pt-BR" sz="1800" dirty="0">
                <a:latin typeface="Times New Roman" panose="02020603050405020304" pitchFamily="18" charset="0"/>
                <a:cs typeface="Times New Roman" panose="02020603050405020304" pitchFamily="18" charset="0"/>
              </a:rPr>
              <a:t>:</a:t>
            </a:r>
          </a:p>
          <a:p>
            <a:pPr indent="457200" algn="ctr">
              <a:lnSpc>
                <a:spcPct val="150000"/>
              </a:lnSpc>
              <a:buNone/>
            </a:pPr>
            <a:r>
              <a:rPr lang="en-IN" sz="1800" dirty="0">
                <a:latin typeface="Times New Roman" panose="02020603050405020304" pitchFamily="18" charset="0"/>
                <a:cs typeface="Times New Roman" panose="02020603050405020304" pitchFamily="18" charset="0"/>
              </a:rPr>
              <a:t>f(x)=max(0,x)</a:t>
            </a:r>
            <a:endParaRPr lang="pt-BR" sz="1800" dirty="0">
              <a:latin typeface="Times New Roman" panose="02020603050405020304" pitchFamily="18" charset="0"/>
              <a:cs typeface="Times New Roman" panose="02020603050405020304" pitchFamily="18" charset="0"/>
            </a:endParaRPr>
          </a:p>
          <a:p>
            <a:pPr indent="457200" algn="just">
              <a:lnSpc>
                <a:spcPct val="150000"/>
              </a:lnSpc>
              <a:buNone/>
            </a:pPr>
            <a:r>
              <a:rPr lang="pt-BR" sz="1800" dirty="0">
                <a:latin typeface="Times New Roman" panose="02020603050405020304" pitchFamily="18" charset="0"/>
                <a:cs typeface="Times New Roman" panose="02020603050405020304" pitchFamily="18" charset="0"/>
              </a:rPr>
              <a:t>3.</a:t>
            </a:r>
            <a:r>
              <a:rPr lang="en-IN" sz="1800" dirty="0">
                <a:latin typeface="Times New Roman" panose="02020603050405020304" pitchFamily="18" charset="0"/>
                <a:cs typeface="Times New Roman" panose="02020603050405020304" pitchFamily="18" charset="0"/>
              </a:rPr>
              <a:t> Pooling Operation </a:t>
            </a:r>
            <a:r>
              <a:rPr lang="pt-BR" sz="1800" dirty="0">
                <a:latin typeface="Times New Roman" panose="02020603050405020304" pitchFamily="18" charset="0"/>
                <a:cs typeface="Times New Roman" panose="02020603050405020304" pitchFamily="18" charset="0"/>
              </a:rPr>
              <a:t>:</a:t>
            </a:r>
          </a:p>
          <a:p>
            <a:pPr indent="457200" algn="ctr">
              <a:lnSpc>
                <a:spcPct val="150000"/>
              </a:lnSpc>
              <a:buNone/>
            </a:pPr>
            <a:r>
              <a:rPr lang="pl-PL" sz="1800" dirty="0">
                <a:latin typeface="Times New Roman" panose="02020603050405020304" pitchFamily="18" charset="0"/>
                <a:cs typeface="Times New Roman" panose="02020603050405020304" pitchFamily="18" charset="0"/>
              </a:rPr>
              <a:t>P(x,y)=(i,j)∈pool windowmax​I(i,j)</a:t>
            </a:r>
            <a:endParaRPr lang="pt-BR" sz="1800" dirty="0">
              <a:latin typeface="Times New Roman" panose="02020603050405020304" pitchFamily="18" charset="0"/>
              <a:cs typeface="Times New Roman" panose="02020603050405020304" pitchFamily="18" charset="0"/>
            </a:endParaRPr>
          </a:p>
          <a:p>
            <a:pPr indent="457200" algn="just">
              <a:lnSpc>
                <a:spcPct val="150000"/>
              </a:lnSpc>
              <a:buNone/>
            </a:pPr>
            <a:r>
              <a:rPr lang="pt-BR" sz="1800" dirty="0">
                <a:latin typeface="Times New Roman" panose="02020603050405020304" pitchFamily="18" charset="0"/>
                <a:cs typeface="Times New Roman" panose="02020603050405020304" pitchFamily="18" charset="0"/>
              </a:rPr>
              <a:t> 4.</a:t>
            </a:r>
            <a:r>
              <a:rPr lang="en-US" sz="1800" dirty="0">
                <a:latin typeface="Times New Roman" panose="02020603050405020304" pitchFamily="18" charset="0"/>
                <a:cs typeface="Times New Roman" panose="02020603050405020304" pitchFamily="18" charset="0"/>
              </a:rPr>
              <a:t> Fully Connected Layer (Dense Layer):</a:t>
            </a:r>
            <a:endParaRPr lang="pt-BR" sz="1800" dirty="0">
              <a:latin typeface="Times New Roman" panose="02020603050405020304" pitchFamily="18" charset="0"/>
              <a:cs typeface="Times New Roman" panose="02020603050405020304" pitchFamily="18" charset="0"/>
            </a:endParaRPr>
          </a:p>
          <a:p>
            <a:pPr indent="457200" algn="ctr">
              <a:lnSpc>
                <a:spcPct val="150000"/>
              </a:lnSpc>
              <a:buNone/>
            </a:pPr>
            <a:r>
              <a:rPr lang="en-IN" sz="1800" dirty="0">
                <a:latin typeface="Times New Roman" panose="02020603050405020304" pitchFamily="18" charset="0"/>
                <a:cs typeface="Times New Roman" panose="02020603050405020304" pitchFamily="18" charset="0"/>
              </a:rPr>
              <a:t>Y=f(</a:t>
            </a:r>
            <a:r>
              <a:rPr lang="en-IN" sz="1800" dirty="0" err="1">
                <a:latin typeface="Times New Roman" panose="02020603050405020304" pitchFamily="18" charset="0"/>
                <a:cs typeface="Times New Roman" panose="02020603050405020304" pitchFamily="18" charset="0"/>
              </a:rPr>
              <a:t>Wx+b</a:t>
            </a:r>
            <a:r>
              <a:rPr lang="en-IN" sz="1800" dirty="0">
                <a:latin typeface="Times New Roman" panose="02020603050405020304" pitchFamily="18" charset="0"/>
                <a:cs typeface="Times New Roman" panose="02020603050405020304" pitchFamily="18" charset="0"/>
              </a:rPr>
              <a:t>)</a:t>
            </a:r>
          </a:p>
          <a:p>
            <a:pPr indent="457200" algn="just">
              <a:lnSpc>
                <a:spcPct val="150000"/>
              </a:lnSpc>
              <a:buNone/>
            </a:pPr>
            <a:r>
              <a:rPr lang="en-IN" sz="1800" dirty="0">
                <a:latin typeface="Times New Roman" panose="02020603050405020304" pitchFamily="18" charset="0"/>
                <a:cs typeface="Times New Roman" panose="02020603050405020304" pitchFamily="18" charset="0"/>
              </a:rPr>
              <a:t>5.Output Layer (</a:t>
            </a:r>
            <a:r>
              <a:rPr lang="en-IN" sz="1800" dirty="0" err="1">
                <a:latin typeface="Times New Roman" panose="02020603050405020304" pitchFamily="18" charset="0"/>
                <a:cs typeface="Times New Roman" panose="02020603050405020304" pitchFamily="18" charset="0"/>
              </a:rPr>
              <a:t>Softmax</a:t>
            </a:r>
            <a:r>
              <a:rPr lang="en-IN" sz="1800" dirty="0">
                <a:latin typeface="Times New Roman" panose="02020603050405020304" pitchFamily="18" charset="0"/>
                <a:cs typeface="Times New Roman" panose="02020603050405020304" pitchFamily="18" charset="0"/>
              </a:rPr>
              <a:t> Activation):</a:t>
            </a:r>
          </a:p>
          <a:p>
            <a:pPr indent="457200">
              <a:lnSpc>
                <a:spcPct val="150000"/>
              </a:lnSpc>
              <a:buNone/>
            </a:pPr>
            <a:endParaRPr lang="en-IN" sz="1800" dirty="0"/>
          </a:p>
        </p:txBody>
      </p:sp>
      <p:pic>
        <p:nvPicPr>
          <p:cNvPr id="5" name="Picture 4"/>
          <p:cNvPicPr>
            <a:picLocks noChangeAspect="1"/>
          </p:cNvPicPr>
          <p:nvPr/>
        </p:nvPicPr>
        <p:blipFill>
          <a:blip r:embed="rId2"/>
          <a:stretch>
            <a:fillRect/>
          </a:stretch>
        </p:blipFill>
        <p:spPr>
          <a:xfrm>
            <a:off x="5173785" y="5876957"/>
            <a:ext cx="1783238" cy="74122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a:xfrm>
            <a:off x="609600" y="-317"/>
            <a:ext cx="10972800" cy="1143000"/>
          </a:xfrm>
        </p:spPr>
        <p:txBody>
          <a:bodyPr/>
          <a:lstStyle/>
          <a:p>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Architecture Diagram</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pic>
        <p:nvPicPr>
          <p:cNvPr id="10" name="Content Placeholder 9"/>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0641" y="1341960"/>
            <a:ext cx="9351118" cy="518115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Implementation steps and Execution</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10235" y="1143000"/>
            <a:ext cx="10972165" cy="5592445"/>
          </a:xfrm>
        </p:spPr>
        <p:txBody>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1. Dataset Collection:</a:t>
            </a:r>
          </a:p>
          <a:p>
            <a:pPr algn="just">
              <a:lnSpc>
                <a:spcPct val="150000"/>
              </a:lnSpc>
            </a:pPr>
            <a:r>
              <a:rPr lang="en-IN" sz="1800" dirty="0">
                <a:latin typeface="Times New Roman" panose="02020603050405020304" pitchFamily="18" charset="0"/>
                <a:cs typeface="Times New Roman" panose="02020603050405020304" pitchFamily="18" charset="0"/>
              </a:rPr>
              <a:t>Used Kaggle datasets for Brain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Detection and Alzheimer’s Disease Detection.</a:t>
            </a:r>
          </a:p>
          <a:p>
            <a:pPr algn="just">
              <a:lnSpc>
                <a:spcPct val="150000"/>
              </a:lnSpc>
            </a:pPr>
            <a:r>
              <a:rPr lang="en-IN" sz="1800" dirty="0">
                <a:latin typeface="Times New Roman" panose="02020603050405020304" pitchFamily="18" charset="0"/>
                <a:cs typeface="Times New Roman" panose="02020603050405020304" pitchFamily="18" charset="0"/>
              </a:rPr>
              <a:t>The datasets contain MRI scan images categorized into different classes.</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2. Data Preprocessing:</a:t>
            </a:r>
          </a:p>
          <a:p>
            <a:pPr algn="just">
              <a:lnSpc>
                <a:spcPct val="150000"/>
              </a:lnSpc>
            </a:pPr>
            <a:r>
              <a:rPr lang="en-IN" sz="1800" dirty="0">
                <a:latin typeface="Times New Roman" panose="02020603050405020304" pitchFamily="18" charset="0"/>
                <a:cs typeface="Times New Roman" panose="02020603050405020304" pitchFamily="18" charset="0"/>
              </a:rPr>
              <a:t>Normalization: Scaled pixel values to a standard range to stabilize training.</a:t>
            </a:r>
          </a:p>
          <a:p>
            <a:pPr algn="just">
              <a:lnSpc>
                <a:spcPct val="150000"/>
              </a:lnSpc>
            </a:pPr>
            <a:r>
              <a:rPr lang="en-IN" sz="1800" dirty="0">
                <a:latin typeface="Times New Roman" panose="02020603050405020304" pitchFamily="18" charset="0"/>
                <a:cs typeface="Times New Roman" panose="02020603050405020304" pitchFamily="18" charset="0"/>
              </a:rPr>
              <a:t>Rescaling: Adjusted image intensity values for better convergence.</a:t>
            </a:r>
          </a:p>
          <a:p>
            <a:pPr algn="just">
              <a:lnSpc>
                <a:spcPct val="150000"/>
              </a:lnSpc>
            </a:pPr>
            <a:r>
              <a:rPr lang="en-IN" sz="1800" dirty="0">
                <a:latin typeface="Times New Roman" panose="02020603050405020304" pitchFamily="18" charset="0"/>
                <a:cs typeface="Times New Roman" panose="02020603050405020304" pitchFamily="18" charset="0"/>
              </a:rPr>
              <a:t>Resizing: Resized all images to 244×244 pixels to maintain uniform input dimensions.</a:t>
            </a:r>
          </a:p>
          <a:p>
            <a:pPr algn="just">
              <a:lnSpc>
                <a:spcPct val="150000"/>
              </a:lnSpc>
            </a:pPr>
            <a:r>
              <a:rPr lang="en-IN" sz="1800" dirty="0">
                <a:latin typeface="Times New Roman" panose="02020603050405020304" pitchFamily="18" charset="0"/>
                <a:cs typeface="Times New Roman" panose="02020603050405020304" pitchFamily="18" charset="0"/>
              </a:rPr>
              <a:t>Dataset </a:t>
            </a:r>
            <a:r>
              <a:rPr lang="en-IN" sz="1800" dirty="0" err="1">
                <a:latin typeface="Times New Roman" panose="02020603050405020304" pitchFamily="18" charset="0"/>
                <a:cs typeface="Times New Roman" panose="02020603050405020304" pitchFamily="18" charset="0"/>
              </a:rPr>
              <a:t>spli</a:t>
            </a:r>
            <a:r>
              <a:rPr lang="en-IN" sz="1800" dirty="0">
                <a:latin typeface="Times New Roman" panose="02020603050405020304" pitchFamily="18" charset="0"/>
                <a:cs typeface="Times New Roman" panose="02020603050405020304" pitchFamily="18" charset="0"/>
              </a:rPr>
              <a:t> t: Training-56%,Testing-30%,Validation-14%.</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3.</a:t>
            </a:r>
            <a:r>
              <a:rPr lang="en-US" sz="1800" dirty="0">
                <a:latin typeface="Times New Roman" panose="02020603050405020304" pitchFamily="18" charset="0"/>
                <a:cs typeface="Times New Roman" panose="02020603050405020304" pitchFamily="18" charset="0"/>
              </a:rPr>
              <a:t> Model Selection and Architecture:</a:t>
            </a:r>
          </a:p>
          <a:p>
            <a:pPr algn="just">
              <a:lnSpc>
                <a:spcPct val="150000"/>
              </a:lnSpc>
            </a:pPr>
            <a:r>
              <a:rPr lang="en-US" sz="1800" dirty="0">
                <a:latin typeface="Times New Roman" panose="02020603050405020304" pitchFamily="18" charset="0"/>
                <a:cs typeface="Times New Roman" panose="02020603050405020304" pitchFamily="18" charset="0"/>
              </a:rPr>
              <a:t>Used EfficientNet-B7, a highly efficient deep learning model.</a:t>
            </a:r>
          </a:p>
          <a:p>
            <a:pPr algn="just">
              <a:lnSpc>
                <a:spcPct val="150000"/>
              </a:lnSpc>
            </a:pPr>
            <a:r>
              <a:rPr lang="en-US" sz="1800" dirty="0">
                <a:latin typeface="Times New Roman" panose="02020603050405020304" pitchFamily="18" charset="0"/>
                <a:cs typeface="Times New Roman" panose="02020603050405020304" pitchFamily="18" charset="0"/>
              </a:rPr>
              <a:t>Fine-tuned the pre-trained model with custom dense layers for classification.</a:t>
            </a:r>
          </a:p>
          <a:p>
            <a:pPr algn="just">
              <a:lnSpc>
                <a:spcPct val="150000"/>
              </a:lnSpc>
            </a:pPr>
            <a:r>
              <a:rPr lang="en-US" sz="1800" dirty="0">
                <a:latin typeface="Times New Roman" panose="02020603050405020304" pitchFamily="18" charset="0"/>
                <a:cs typeface="Times New Roman" panose="02020603050405020304" pitchFamily="18" charset="0"/>
              </a:rPr>
              <a:t>Unfroze selected layers for transfer learning to improve accuracy.</a:t>
            </a: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1600200"/>
            <a:ext cx="10972800" cy="4526280"/>
          </a:xfrm>
        </p:spPr>
        <p:txBody>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4.Training Process:</a:t>
            </a:r>
          </a:p>
          <a:p>
            <a:pPr algn="just">
              <a:lnSpc>
                <a:spcPct val="150000"/>
              </a:lnSpc>
            </a:pPr>
            <a:r>
              <a:rPr lang="en-US" sz="1800" dirty="0">
                <a:latin typeface="Times New Roman" panose="02020603050405020304" pitchFamily="18" charset="0"/>
                <a:cs typeface="Times New Roman" panose="02020603050405020304" pitchFamily="18" charset="0"/>
              </a:rPr>
              <a:t>Used </a:t>
            </a:r>
            <a:r>
              <a:rPr lang="en-US" sz="1800" dirty="0" err="1">
                <a:latin typeface="Times New Roman" panose="02020603050405020304" pitchFamily="18" charset="0"/>
                <a:cs typeface="Times New Roman" panose="02020603050405020304" pitchFamily="18" charset="0"/>
              </a:rPr>
              <a:t>Adamax</a:t>
            </a:r>
            <a:r>
              <a:rPr lang="en-US" sz="1800" dirty="0">
                <a:latin typeface="Times New Roman" panose="02020603050405020304" pitchFamily="18" charset="0"/>
                <a:cs typeface="Times New Roman" panose="02020603050405020304" pitchFamily="18" charset="0"/>
              </a:rPr>
              <a:t> optimizer and categorical cross-entropy loss function.</a:t>
            </a:r>
          </a:p>
          <a:p>
            <a:pPr algn="just">
              <a:lnSpc>
                <a:spcPct val="150000"/>
              </a:lnSpc>
            </a:pPr>
            <a:r>
              <a:rPr lang="en-US" sz="1800" dirty="0">
                <a:latin typeface="Times New Roman" panose="02020603050405020304" pitchFamily="18" charset="0"/>
                <a:cs typeface="Times New Roman" panose="02020603050405020304" pitchFamily="18" charset="0"/>
              </a:rPr>
              <a:t>Implemented early stopping and learning rate scheduling for optimization.</a:t>
            </a:r>
          </a:p>
          <a:p>
            <a:pPr algn="just">
              <a:lnSpc>
                <a:spcPct val="150000"/>
              </a:lnSpc>
            </a:pPr>
            <a:r>
              <a:rPr lang="en-US" sz="1800" dirty="0">
                <a:latin typeface="Times New Roman" panose="02020603050405020304" pitchFamily="18" charset="0"/>
                <a:cs typeface="Times New Roman" panose="02020603050405020304" pitchFamily="18" charset="0"/>
              </a:rPr>
              <a:t>Trained the model for 20 epochs with validation.</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b="1" dirty="0">
                <a:latin typeface="Times New Roman" panose="02020603050405020304" pitchFamily="18" charset="0"/>
                <a:cs typeface="Times New Roman" panose="02020603050405020304" pitchFamily="18" charset="0"/>
              </a:rPr>
              <a:t>Execution :</a:t>
            </a:r>
          </a:p>
          <a:p>
            <a:pPr algn="just">
              <a:lnSpc>
                <a:spcPct val="150000"/>
              </a:lnSpc>
            </a:pPr>
            <a:r>
              <a:rPr lang="en-US" sz="1800" dirty="0">
                <a:latin typeface="Times New Roman" panose="02020603050405020304" pitchFamily="18" charset="0"/>
                <a:cs typeface="Times New Roman" panose="02020603050405020304" pitchFamily="18" charset="0"/>
              </a:rPr>
              <a:t>Two separate Kaggle Notebooks were maintained for training and model development: one for Brain Tumor Detection and another for Alzheimer’s Disease Detection. The execution was carried out using Kaggle's cloud-based platform, leveraging its GPU acceleration for efficient model training and performance optimization.</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Results Obtained </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09600" y="1600200"/>
            <a:ext cx="10972800" cy="5257800"/>
          </a:xfrm>
        </p:spPr>
        <p:txBody>
          <a:bodyPr/>
          <a:lstStyle/>
          <a:p>
            <a:pPr marL="0" indent="0">
              <a:buNone/>
            </a:pPr>
            <a:r>
              <a:rPr lang="en-IN" sz="2000" dirty="0">
                <a:latin typeface="Times New Roman" panose="02020603050405020304" pitchFamily="18" charset="0"/>
                <a:cs typeface="Times New Roman" panose="02020603050405020304" pitchFamily="18" charset="0"/>
              </a:rPr>
              <a:t>Alzheimer’s Disease Detection :</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a:fillRect/>
          </a:stretch>
        </p:blipFill>
        <p:spPr>
          <a:xfrm>
            <a:off x="453292" y="2226329"/>
            <a:ext cx="3923325" cy="2820455"/>
          </a:xfrm>
          <a:prstGeom prst="rect">
            <a:avLst/>
          </a:prstGeom>
        </p:spPr>
      </p:pic>
      <p:sp>
        <p:nvSpPr>
          <p:cNvPr id="8" name="TextBox 7"/>
          <p:cNvSpPr txBox="1"/>
          <p:nvPr/>
        </p:nvSpPr>
        <p:spPr>
          <a:xfrm>
            <a:off x="769814" y="5257800"/>
            <a:ext cx="2977662" cy="64516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Training and Validation Accuracy graph</a:t>
            </a:r>
          </a:p>
        </p:txBody>
      </p:sp>
      <p:pic>
        <p:nvPicPr>
          <p:cNvPr id="10" name="Picture 9"/>
          <p:cNvPicPr>
            <a:picLocks noChangeAspect="1"/>
          </p:cNvPicPr>
          <p:nvPr/>
        </p:nvPicPr>
        <p:blipFill>
          <a:blip r:embed="rId3"/>
          <a:stretch>
            <a:fillRect/>
          </a:stretch>
        </p:blipFill>
        <p:spPr>
          <a:xfrm>
            <a:off x="4663519" y="2300434"/>
            <a:ext cx="3549695" cy="2672243"/>
          </a:xfrm>
          <a:prstGeom prst="rect">
            <a:avLst/>
          </a:prstGeom>
        </p:spPr>
      </p:pic>
      <p:sp>
        <p:nvSpPr>
          <p:cNvPr id="11" name="TextBox 10"/>
          <p:cNvSpPr txBox="1"/>
          <p:nvPr/>
        </p:nvSpPr>
        <p:spPr>
          <a:xfrm>
            <a:off x="4786373" y="5261811"/>
            <a:ext cx="2977662" cy="64516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Training and Validation Loss graph</a:t>
            </a:r>
          </a:p>
        </p:txBody>
      </p:sp>
      <p:pic>
        <p:nvPicPr>
          <p:cNvPr id="9" name="Picture 8"/>
          <p:cNvPicPr>
            <a:picLocks noChangeAspect="1"/>
          </p:cNvPicPr>
          <p:nvPr/>
        </p:nvPicPr>
        <p:blipFill>
          <a:blip r:embed="rId4"/>
          <a:stretch>
            <a:fillRect/>
          </a:stretch>
        </p:blipFill>
        <p:spPr>
          <a:xfrm>
            <a:off x="8727440" y="1950720"/>
            <a:ext cx="2700655" cy="3502025"/>
          </a:xfrm>
          <a:prstGeom prst="rect">
            <a:avLst/>
          </a:prstGeom>
        </p:spPr>
      </p:pic>
      <p:sp>
        <p:nvSpPr>
          <p:cNvPr id="12" name="TextBox 11"/>
          <p:cNvSpPr txBox="1"/>
          <p:nvPr/>
        </p:nvSpPr>
        <p:spPr>
          <a:xfrm>
            <a:off x="8605050" y="5600971"/>
            <a:ext cx="2977662" cy="36830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Model Testing in Postman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610235" y="1600200"/>
            <a:ext cx="10972800" cy="4816475"/>
          </a:xfrm>
        </p:spPr>
        <p:txBody>
          <a:bodyPr/>
          <a:lstStyle/>
          <a:p>
            <a:pPr marL="0" indent="0">
              <a:buNone/>
            </a:pPr>
            <a:r>
              <a:rPr lang="en-IN" sz="2000" dirty="0">
                <a:latin typeface="Times New Roman" panose="02020603050405020304" pitchFamily="18" charset="0"/>
                <a:cs typeface="Times New Roman" panose="02020603050405020304" pitchFamily="18" charset="0"/>
              </a:rPr>
              <a:t>Brain </a:t>
            </a:r>
            <a:r>
              <a:rPr lang="en-IN" sz="2000" dirty="0" err="1">
                <a:latin typeface="Times New Roman" panose="02020603050405020304" pitchFamily="18" charset="0"/>
                <a:cs typeface="Times New Roman" panose="02020603050405020304" pitchFamily="18" charset="0"/>
              </a:rPr>
              <a:t>tumor</a:t>
            </a:r>
            <a:r>
              <a:rPr lang="en-IN" sz="2000" dirty="0">
                <a:latin typeface="Times New Roman" panose="02020603050405020304" pitchFamily="18" charset="0"/>
                <a:cs typeface="Times New Roman" panose="02020603050405020304" pitchFamily="18" charset="0"/>
              </a:rPr>
              <a:t> detection : </a:t>
            </a:r>
          </a:p>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31446" y="2286740"/>
            <a:ext cx="3923324" cy="2971060"/>
          </a:xfrm>
          <a:prstGeom prst="rect">
            <a:avLst/>
          </a:prstGeom>
        </p:spPr>
      </p:pic>
      <p:sp>
        <p:nvSpPr>
          <p:cNvPr id="8" name="TextBox 7"/>
          <p:cNvSpPr txBox="1"/>
          <p:nvPr/>
        </p:nvSpPr>
        <p:spPr>
          <a:xfrm>
            <a:off x="933939" y="5440362"/>
            <a:ext cx="2977662" cy="64516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Training and Validation Accuracy graph</a:t>
            </a:r>
          </a:p>
        </p:txBody>
      </p:sp>
      <p:sp>
        <p:nvSpPr>
          <p:cNvPr id="9" name="TextBox 8"/>
          <p:cNvSpPr txBox="1"/>
          <p:nvPr/>
        </p:nvSpPr>
        <p:spPr>
          <a:xfrm>
            <a:off x="4908624" y="5440362"/>
            <a:ext cx="2977662" cy="64516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Training and Validation Loss graph</a:t>
            </a:r>
          </a:p>
        </p:txBody>
      </p:sp>
      <p:pic>
        <p:nvPicPr>
          <p:cNvPr id="11" name="Picture 10"/>
          <p:cNvPicPr>
            <a:picLocks noChangeAspect="1"/>
          </p:cNvPicPr>
          <p:nvPr/>
        </p:nvPicPr>
        <p:blipFill>
          <a:blip r:embed="rId3"/>
          <a:stretch>
            <a:fillRect/>
          </a:stretch>
        </p:blipFill>
        <p:spPr>
          <a:xfrm>
            <a:off x="4626747" y="2379658"/>
            <a:ext cx="3541416" cy="2785224"/>
          </a:xfrm>
          <a:prstGeom prst="rect">
            <a:avLst/>
          </a:prstGeom>
        </p:spPr>
      </p:pic>
      <p:sp>
        <p:nvSpPr>
          <p:cNvPr id="14" name="TextBox 13"/>
          <p:cNvSpPr txBox="1"/>
          <p:nvPr/>
        </p:nvSpPr>
        <p:spPr>
          <a:xfrm>
            <a:off x="8792573" y="5578861"/>
            <a:ext cx="2977662" cy="368300"/>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Model Testing in Postman</a:t>
            </a:r>
          </a:p>
        </p:txBody>
      </p:sp>
      <p:pic>
        <p:nvPicPr>
          <p:cNvPr id="6" name="Picture 5"/>
          <p:cNvPicPr>
            <a:picLocks noChangeAspect="1"/>
          </p:cNvPicPr>
          <p:nvPr/>
        </p:nvPicPr>
        <p:blipFill>
          <a:blip r:embed="rId4"/>
          <a:stretch>
            <a:fillRect/>
          </a:stretch>
        </p:blipFill>
        <p:spPr>
          <a:xfrm>
            <a:off x="8792845" y="1963420"/>
            <a:ext cx="2689225" cy="34099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Results Analysis</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09600" y="1008380"/>
            <a:ext cx="10972800" cy="4526280"/>
          </a:xfrm>
        </p:spPr>
        <p:txBody>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Alzheimer’s Disease Detection:</a:t>
            </a:r>
          </a:p>
          <a:p>
            <a:pPr algn="just">
              <a:lnSpc>
                <a:spcPct val="150000"/>
              </a:lnSpc>
            </a:pPr>
            <a:r>
              <a:rPr lang="en-US" sz="1800" dirty="0">
                <a:latin typeface="Times New Roman" panose="02020603050405020304" pitchFamily="18" charset="0"/>
                <a:cs typeface="Times New Roman" panose="02020603050405020304" pitchFamily="18" charset="0"/>
              </a:rPr>
              <a:t>The model achieved an accuracy of 95.96%, demonstrating its ability to accurately classify different stages of Alzheimer's disease.</a:t>
            </a:r>
          </a:p>
          <a:p>
            <a:pPr algn="just">
              <a:lnSpc>
                <a:spcPct val="150000"/>
              </a:lnSpc>
            </a:pPr>
            <a:r>
              <a:rPr lang="en-US" sz="1800" dirty="0">
                <a:latin typeface="Times New Roman" panose="02020603050405020304" pitchFamily="18" charset="0"/>
                <a:cs typeface="Times New Roman" panose="02020603050405020304" pitchFamily="18" charset="0"/>
              </a:rPr>
              <a:t>The accuracy curve shows a steady increase, with training and validation accuracy converging closely, indicating a well-generalized model.</a:t>
            </a:r>
          </a:p>
          <a:p>
            <a:pPr algn="just">
              <a:lnSpc>
                <a:spcPct val="150000"/>
              </a:lnSpc>
            </a:pPr>
            <a:r>
              <a:rPr lang="en-US" sz="1800" dirty="0">
                <a:latin typeface="Times New Roman" panose="02020603050405020304" pitchFamily="18" charset="0"/>
                <a:cs typeface="Times New Roman" panose="02020603050405020304" pitchFamily="18" charset="0"/>
              </a:rPr>
              <a:t>The loss function decreases smoothly, proving the model learns effectively and minimizes errors.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Observations:</a:t>
            </a:r>
          </a:p>
          <a:p>
            <a:pPr algn="just">
              <a:lnSpc>
                <a:spcPct val="150000"/>
              </a:lnSpc>
            </a:pPr>
            <a:r>
              <a:rPr lang="en-US" sz="1800" dirty="0">
                <a:latin typeface="Times New Roman" panose="02020603050405020304" pitchFamily="18" charset="0"/>
                <a:cs typeface="Times New Roman" panose="02020603050405020304" pitchFamily="18" charset="0"/>
              </a:rPr>
              <a:t>The model effectively differentiates between different stages of Alzheimer’s (Mild, Moderate, Severe, and Normal).</a:t>
            </a:r>
          </a:p>
          <a:p>
            <a:pPr algn="just">
              <a:lnSpc>
                <a:spcPct val="150000"/>
              </a:lnSpc>
            </a:pPr>
            <a:r>
              <a:rPr lang="en-US" sz="1800" dirty="0">
                <a:latin typeface="Times New Roman" panose="02020603050405020304" pitchFamily="18" charset="0"/>
                <a:cs typeface="Times New Roman" panose="02020603050405020304" pitchFamily="18" charset="0"/>
              </a:rPr>
              <a:t>Minimal overfitting, as training and validation accuracies remain closely aligned.</a:t>
            </a:r>
          </a:p>
          <a:p>
            <a:pPr algn="just">
              <a:lnSpc>
                <a:spcPct val="150000"/>
              </a:lnSpc>
            </a:pPr>
            <a:r>
              <a:rPr lang="en-US" sz="1800" dirty="0">
                <a:latin typeface="Times New Roman" panose="02020603050405020304" pitchFamily="18" charset="0"/>
                <a:cs typeface="Times New Roman" panose="02020603050405020304" pitchFamily="18" charset="0"/>
              </a:rPr>
              <a:t>The model leverages EfficientNet-B7's optimized architecture, leading to high performance with fewer computational resources.</a:t>
            </a: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609600" y="1600200"/>
            <a:ext cx="10972800" cy="4864735"/>
          </a:xfrm>
        </p:spPr>
        <p:txBody>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Brain Tumor Detection:</a:t>
            </a:r>
          </a:p>
          <a:p>
            <a:pPr algn="just">
              <a:lnSpc>
                <a:spcPct val="150000"/>
              </a:lnSpc>
            </a:pPr>
            <a:r>
              <a:rPr lang="en-US" sz="1800" dirty="0">
                <a:latin typeface="Times New Roman" panose="02020603050405020304" pitchFamily="18" charset="0"/>
                <a:cs typeface="Times New Roman" panose="02020603050405020304" pitchFamily="18" charset="0"/>
              </a:rPr>
              <a:t>The model achieved an accuracy of 96.95%, showing high reliability in distinguishing between tumor types and normal cases.</a:t>
            </a:r>
          </a:p>
          <a:p>
            <a:pPr algn="just">
              <a:lnSpc>
                <a:spcPct val="150000"/>
              </a:lnSpc>
            </a:pPr>
            <a:r>
              <a:rPr lang="en-US" sz="1800" dirty="0">
                <a:latin typeface="Times New Roman" panose="02020603050405020304" pitchFamily="18" charset="0"/>
                <a:cs typeface="Times New Roman" panose="02020603050405020304" pitchFamily="18" charset="0"/>
              </a:rPr>
              <a:t>The accuracy curves illustrate steady improvement, confirming effective learning across epochs.</a:t>
            </a:r>
          </a:p>
          <a:p>
            <a:pPr algn="just">
              <a:lnSpc>
                <a:spcPct val="150000"/>
              </a:lnSpc>
            </a:pPr>
            <a:r>
              <a:rPr lang="en-US" sz="1800" dirty="0">
                <a:latin typeface="Times New Roman" panose="02020603050405020304" pitchFamily="18" charset="0"/>
                <a:cs typeface="Times New Roman" panose="02020603050405020304" pitchFamily="18" charset="0"/>
              </a:rPr>
              <a:t>The loss curves show a significant decline, indicating that the model successfully minimizes classification errors.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Observations:</a:t>
            </a:r>
          </a:p>
          <a:p>
            <a:pPr algn="just">
              <a:lnSpc>
                <a:spcPct val="150000"/>
              </a:lnSpc>
            </a:pPr>
            <a:r>
              <a:rPr lang="en-US" sz="1800" dirty="0">
                <a:latin typeface="Times New Roman" panose="02020603050405020304" pitchFamily="18" charset="0"/>
                <a:cs typeface="Times New Roman" panose="02020603050405020304" pitchFamily="18" charset="0"/>
              </a:rPr>
              <a:t>EfficientNet-B7’s compound scaling enhances feature extraction from MRI scans, improving accuracy.</a:t>
            </a:r>
          </a:p>
          <a:p>
            <a:pPr algn="just">
              <a:lnSpc>
                <a:spcPct val="150000"/>
              </a:lnSpc>
            </a:pPr>
            <a:r>
              <a:rPr lang="en-US" sz="1800" dirty="0">
                <a:latin typeface="Times New Roman" panose="02020603050405020304" pitchFamily="18" charset="0"/>
                <a:cs typeface="Times New Roman" panose="02020603050405020304" pitchFamily="18" charset="0"/>
              </a:rPr>
              <a:t>The model successfully classifies brain tumors with high precision, reducing false positives and false negatives.</a:t>
            </a:r>
          </a:p>
          <a:p>
            <a:pPr algn="just">
              <a:lnSpc>
                <a:spcPct val="150000"/>
              </a:lnSpc>
            </a:pPr>
            <a:r>
              <a:rPr lang="en-US" sz="1800" dirty="0">
                <a:latin typeface="Times New Roman" panose="02020603050405020304" pitchFamily="18" charset="0"/>
                <a:cs typeface="Times New Roman" panose="02020603050405020304" pitchFamily="18" charset="0"/>
              </a:rPr>
              <a:t>Well-balanced learning, as indicated by smooth accuracy and loss curves without major fluctuations.</a:t>
            </a:r>
          </a:p>
          <a:p>
            <a:pPr algn="just">
              <a:lnSpc>
                <a:spcPct val="150000"/>
              </a:lnSpc>
            </a:pPr>
            <a:endParaRPr lang="en-US" sz="1800" dirty="0">
              <a:latin typeface="Times New Roman" panose="02020603050405020304" pitchFamily="18" charset="0"/>
              <a:cs typeface="Times New Roman" panose="02020603050405020304" pitchFamily="18" charset="0"/>
            </a:endParaRP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7"/>
            <a:ext cx="10972800" cy="1143000"/>
          </a:xfrm>
        </p:spPr>
        <p:txBody>
          <a:bodyPr/>
          <a:lstStyle/>
          <a:p>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Conclusion</a:t>
            </a:r>
            <a:br>
              <a:rPr lang="en-US" sz="4400" dirty="0">
                <a:latin typeface="Times New Roman" panose="02020603050405020304" pitchFamily="18" charset="0"/>
                <a:cs typeface="Times New Roman" panose="02020603050405020304" pitchFamily="18" charset="0"/>
              </a:rPr>
            </a:br>
            <a:endParaRPr lang="en-IN" dirty="0"/>
          </a:p>
        </p:txBody>
      </p:sp>
      <p:sp>
        <p:nvSpPr>
          <p:cNvPr id="3" name="Content Placeholder 2"/>
          <p:cNvSpPr>
            <a:spLocks noGrp="1"/>
          </p:cNvSpPr>
          <p:nvPr>
            <p:ph idx="1"/>
          </p:nvPr>
        </p:nvSpPr>
        <p:spPr>
          <a:xfrm>
            <a:off x="609600" y="1562735"/>
            <a:ext cx="10972800" cy="5020310"/>
          </a:xfrm>
        </p:spPr>
        <p:txBody>
          <a:bodyPr/>
          <a:lstStyle/>
          <a:p>
            <a:pPr algn="just">
              <a:lnSpc>
                <a:spcPct val="150000"/>
              </a:lnSpc>
            </a:pPr>
            <a:r>
              <a:rPr lang="en-US" sz="1800" dirty="0">
                <a:latin typeface="Times New Roman" panose="02020603050405020304" pitchFamily="18" charset="0"/>
                <a:cs typeface="Times New Roman" panose="02020603050405020304" pitchFamily="18" charset="0"/>
              </a:rPr>
              <a:t>This project successfully developed deep learning models using EfficientNet-B7 for detecting Alzheimer’s disease and brain tumors from MRI scans, achieving high accuracy and reliability. </a:t>
            </a:r>
          </a:p>
          <a:p>
            <a:pPr algn="just">
              <a:lnSpc>
                <a:spcPct val="150000"/>
              </a:lnSpc>
            </a:pPr>
            <a:r>
              <a:rPr lang="en-US" sz="1800" dirty="0">
                <a:latin typeface="Times New Roman" panose="02020603050405020304" pitchFamily="18" charset="0"/>
                <a:cs typeface="Times New Roman" panose="02020603050405020304" pitchFamily="18" charset="0"/>
              </a:rPr>
              <a:t>The Alzheimer’s detection model attained 95.96% accuracy, while the brain tumor detection model reached 96.95%, proving the effectiveness of EfficientNet-B7 in medical image classification. </a:t>
            </a:r>
          </a:p>
          <a:p>
            <a:pPr algn="just">
              <a:lnSpc>
                <a:spcPct val="150000"/>
              </a:lnSpc>
            </a:pPr>
            <a:r>
              <a:rPr lang="en-US" sz="1800" dirty="0">
                <a:latin typeface="Times New Roman" panose="02020603050405020304" pitchFamily="18" charset="0"/>
                <a:cs typeface="Times New Roman" panose="02020603050405020304" pitchFamily="18" charset="0"/>
              </a:rPr>
              <a:t>By leveraging MRI-based AI models, the dependency on manual diagnosis is reduced, minimizing human error and enabling early disease detection and treatment planning.</a:t>
            </a:r>
          </a:p>
          <a:p>
            <a:pPr algn="just">
              <a:lnSpc>
                <a:spcPct val="150000"/>
              </a:lnSpc>
            </a:pPr>
            <a:r>
              <a:rPr lang="en-US" sz="1800" dirty="0">
                <a:latin typeface="Times New Roman" panose="02020603050405020304" pitchFamily="18" charset="0"/>
                <a:cs typeface="Times New Roman" panose="02020603050405020304" pitchFamily="18" charset="0"/>
              </a:rPr>
              <a:t> The models were trained and evaluated using Kaggle’s cloud-based GPUs, ensuring fast processing, scalability, and efficient training. </a:t>
            </a:r>
          </a:p>
          <a:p>
            <a:pPr algn="just">
              <a:lnSpc>
                <a:spcPct val="150000"/>
              </a:lnSpc>
            </a:pPr>
            <a:r>
              <a:rPr lang="en-US" sz="1800" dirty="0">
                <a:latin typeface="Times New Roman" panose="02020603050405020304" pitchFamily="18" charset="0"/>
                <a:cs typeface="Times New Roman" panose="02020603050405020304" pitchFamily="18" charset="0"/>
              </a:rPr>
              <a:t>This deep learning approach serves as an advanced clinical decision support system, assisting radiologists and healthcare professionals in making precise diagnoses.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58445"/>
            <a:ext cx="10972800" cy="1158875"/>
          </a:xfrm>
        </p:spPr>
        <p:txBody>
          <a:bodyPr/>
          <a:lstStyle/>
          <a:p>
            <a:r>
              <a:rPr lang="en-US" sz="4400" dirty="0">
                <a:latin typeface="Times New Roman" panose="02020603050405020304" pitchFamily="18" charset="0"/>
                <a:cs typeface="Times New Roman" panose="02020603050405020304" pitchFamily="18" charset="0"/>
              </a:rPr>
              <a:t>⁠References</a:t>
            </a:r>
            <a:br>
              <a:rPr lang="en-IN" sz="4400"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417955"/>
            <a:ext cx="10972165" cy="5264785"/>
          </a:xfrm>
        </p:spPr>
        <p:txBody>
          <a:bodyPr/>
          <a:lstStyle/>
          <a:p>
            <a:pPr marL="0" indent="0" algn="just">
              <a:lnSpc>
                <a:spcPct val="150000"/>
              </a:lnSpc>
              <a:buNone/>
            </a:pPr>
            <a:r>
              <a:rPr lang="en-IN" sz="1800" dirty="0">
                <a:latin typeface="Times New Roman" panose="02020603050405020304" pitchFamily="18" charset="0"/>
                <a:cs typeface="Times New Roman" panose="02020603050405020304" pitchFamily="18" charset="0"/>
              </a:rPr>
              <a:t>[1] </a:t>
            </a:r>
            <a:r>
              <a:rPr lang="en-IN" sz="1800" dirty="0" err="1">
                <a:latin typeface="Times New Roman" panose="02020603050405020304" pitchFamily="18" charset="0"/>
                <a:cs typeface="Times New Roman" panose="02020603050405020304" pitchFamily="18" charset="0"/>
              </a:rPr>
              <a:t>Mubarizuddin</a:t>
            </a:r>
            <a:r>
              <a:rPr lang="en-IN" sz="1800" dirty="0">
                <a:latin typeface="Times New Roman" panose="02020603050405020304" pitchFamily="18" charset="0"/>
                <a:cs typeface="Times New Roman" panose="02020603050405020304" pitchFamily="18" charset="0"/>
              </a:rPr>
              <a:t> Mohammed, Rajat Mongia, Anand M., "A Novel Approach to Multi-Disease Detection in Healthcare using CNN, Random Forest &amp; XGBoost," 2023, Conference(IEEE).</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[2] V. Ganesh Karthikeyan, S. Saravana, Asif Tamboli, Kumari Lipi, D. Vijaya </a:t>
            </a:r>
            <a:r>
              <a:rPr lang="en-IN" sz="1800" dirty="0" err="1">
                <a:latin typeface="Times New Roman" panose="02020603050405020304" pitchFamily="18" charset="0"/>
                <a:cs typeface="Times New Roman" panose="02020603050405020304" pitchFamily="18" charset="0"/>
              </a:rPr>
              <a:t>Laskshmi</a:t>
            </a:r>
            <a:r>
              <a:rPr lang="en-IN" sz="1800" dirty="0">
                <a:latin typeface="Times New Roman" panose="02020603050405020304" pitchFamily="18" charset="0"/>
                <a:cs typeface="Times New Roman" panose="02020603050405020304" pitchFamily="18" charset="0"/>
              </a:rPr>
              <a:t>, S. Anthoniraj, "An Advanced and Ideal Method for </a:t>
            </a:r>
            <a:r>
              <a:rPr lang="en-IN" sz="1800" dirty="0" err="1">
                <a:latin typeface="Times New Roman" panose="02020603050405020304" pitchFamily="18" charset="0"/>
                <a:cs typeface="Times New Roman" panose="02020603050405020304" pitchFamily="18" charset="0"/>
              </a:rPr>
              <a:t>Tumor</a:t>
            </a:r>
            <a:r>
              <a:rPr lang="en-IN" sz="1800" dirty="0">
                <a:latin typeface="Times New Roman" panose="02020603050405020304" pitchFamily="18" charset="0"/>
                <a:cs typeface="Times New Roman" panose="02020603050405020304" pitchFamily="18" charset="0"/>
              </a:rPr>
              <a:t> Detection and Classification from MRI Image Using Gaussian Mixture and RCNN," 2024, Conference( IEEE).</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[3] Ramesh L, </a:t>
            </a:r>
            <a:r>
              <a:rPr lang="en-IN" sz="1800" dirty="0" err="1">
                <a:latin typeface="Times New Roman" panose="02020603050405020304" pitchFamily="18" charset="0"/>
                <a:cs typeface="Times New Roman" panose="02020603050405020304" pitchFamily="18" charset="0"/>
              </a:rPr>
              <a:t>P.S.Pooja</a:t>
            </a:r>
            <a:r>
              <a:rPr lang="en-IN" sz="1800" dirty="0">
                <a:latin typeface="Times New Roman" panose="02020603050405020304" pitchFamily="18" charset="0"/>
                <a:cs typeface="Times New Roman" panose="02020603050405020304" pitchFamily="18" charset="0"/>
              </a:rPr>
              <a:t>, S. </a:t>
            </a:r>
            <a:r>
              <a:rPr lang="en-IN" sz="1800" dirty="0" err="1">
                <a:latin typeface="Times New Roman" panose="02020603050405020304" pitchFamily="18" charset="0"/>
                <a:cs typeface="Times New Roman" panose="02020603050405020304" pitchFamily="18" charset="0"/>
              </a:rPr>
              <a:t>Raasika</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B.Rithika</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shree</a:t>
            </a:r>
            <a:r>
              <a:rPr lang="en-IN" sz="1800" dirty="0">
                <a:latin typeface="Times New Roman" panose="02020603050405020304" pitchFamily="18" charset="0"/>
                <a:cs typeface="Times New Roman" panose="02020603050405020304" pitchFamily="18" charset="0"/>
              </a:rPr>
              <a:t>,” Alzheimer’s Disease (AD) Diagnosis from Brain MRI Image using Neural Network Algorithm,”2023, Conference(IEEE).</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[4] Athira K P, Maya Mohan, "Multi Disease Detection And Diagnosis Through Ensemble Learning," 2024, Conference(IEEE).</a:t>
            </a:r>
          </a:p>
          <a:p>
            <a:pPr marL="0" indent="0" algn="just">
              <a:lnSpc>
                <a:spcPct val="150000"/>
              </a:lnSpc>
              <a:buNone/>
            </a:pPr>
            <a:r>
              <a:rPr lang="en-IN" sz="1800" dirty="0">
                <a:latin typeface="Times New Roman" panose="02020603050405020304" pitchFamily="18" charset="0"/>
                <a:cs typeface="Times New Roman" panose="02020603050405020304" pitchFamily="18" charset="0"/>
              </a:rPr>
              <a:t>[5] Vani Lavanya N, Santhosh </a:t>
            </a:r>
            <a:r>
              <a:rPr lang="en-IN" sz="1800" dirty="0" err="1">
                <a:latin typeface="Times New Roman" panose="02020603050405020304" pitchFamily="18" charset="0"/>
                <a:cs typeface="Times New Roman" panose="02020603050405020304" pitchFamily="18" charset="0"/>
              </a:rPr>
              <a:t>B,Sai</a:t>
            </a:r>
            <a:r>
              <a:rPr lang="en-IN" sz="1800" dirty="0">
                <a:latin typeface="Times New Roman" panose="02020603050405020304" pitchFamily="18" charset="0"/>
                <a:cs typeface="Times New Roman" panose="02020603050405020304" pitchFamily="18" charset="0"/>
              </a:rPr>
              <a:t> Shree Ram Balaji, “</a:t>
            </a:r>
            <a:r>
              <a:rPr lang="en-US" sz="1800" dirty="0">
                <a:latin typeface="Times New Roman" panose="02020603050405020304" pitchFamily="18" charset="0"/>
                <a:cs typeface="Times New Roman" panose="02020603050405020304" pitchFamily="18" charset="0"/>
              </a:rPr>
              <a:t>Automated Brain Disease Diagnosis and Patient Support System,”2023,Conference(IEEE).</a:t>
            </a:r>
            <a:endParaRPr lang="en-IN"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6" name="Content Placeholder 15"/>
          <p:cNvPicPr>
            <a:picLocks noGrp="1" noChangeAspect="1"/>
          </p:cNvPicPr>
          <p:nvPr>
            <p:ph idx="1"/>
          </p:nvPr>
        </p:nvPicPr>
        <p:blipFill>
          <a:blip r:embed="rId2"/>
          <a:stretch>
            <a:fillRect/>
          </a:stretch>
        </p:blipFill>
        <p:spPr bwMode="auto">
          <a:xfrm>
            <a:off x="0" y="0"/>
            <a:ext cx="12562583"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TABLE_ENDDRAG_ORIGIN_RECT" val="870*489"/>
  <p:tag name="TABLE_ENDDRAG_RECT" val="43*11*870*489"/>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2933</Words>
  <Application>Microsoft Office PowerPoint</Application>
  <PresentationFormat>Widescreen</PresentationFormat>
  <Paragraphs>281</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AngsanaUPC</vt:lpstr>
      <vt:lpstr>Arial</vt:lpstr>
      <vt:lpstr>Calibri</vt:lpstr>
      <vt:lpstr>Times New Roman</vt:lpstr>
      <vt:lpstr>Default Design</vt:lpstr>
      <vt:lpstr>PowerPoint Presentation</vt:lpstr>
      <vt:lpstr>Contents </vt:lpstr>
      <vt:lpstr>Introduction</vt:lpstr>
      <vt:lpstr>Problem Statement </vt:lpstr>
      <vt:lpstr>PowerPoint Presentation</vt:lpstr>
      <vt:lpstr>Literature Review</vt:lpstr>
      <vt:lpstr>PowerPoint Presentation</vt:lpstr>
      <vt:lpstr>PowerPoint Presentation</vt:lpstr>
      <vt:lpstr> Literature Summary </vt:lpstr>
      <vt:lpstr>Datasets and Requirements</vt:lpstr>
      <vt:lpstr>PowerPoint Presentation</vt:lpstr>
      <vt:lpstr>PowerPoint Presentation</vt:lpstr>
      <vt:lpstr>Algorithms Involved</vt:lpstr>
      <vt:lpstr>PowerPoint Presentation</vt:lpstr>
      <vt:lpstr> Architecture Diagram </vt:lpstr>
      <vt:lpstr> Implementation steps and Execution </vt:lpstr>
      <vt:lpstr>PowerPoint Presentation</vt:lpstr>
      <vt:lpstr> Results Obtained  </vt:lpstr>
      <vt:lpstr>PowerPoint Presentation</vt:lpstr>
      <vt:lpstr> Results Analysis </vt:lpstr>
      <vt:lpstr>PowerPoint Presentation</vt:lpstr>
      <vt:lpstr> Conclusion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deepika pudi</dc:creator>
  <cp:lastModifiedBy>deepika pudi</cp:lastModifiedBy>
  <cp:revision>67</cp:revision>
  <dcterms:created xsi:type="dcterms:W3CDTF">2024-07-23T11:13:00Z</dcterms:created>
  <dcterms:modified xsi:type="dcterms:W3CDTF">2025-05-17T05:19:48Z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F225AFF7EC5047299326E8875409DDB5_13</vt:lpwstr>
  </property>
  <property fmtid="{D5CDD505-2E9C-101B-9397-08002B2CF9AE}" pid="3" name="KSOProductBuildVer">
    <vt:lpwstr>1033-12.2.0.21179</vt:lpwstr>
  </property>
</Properties>
</file>