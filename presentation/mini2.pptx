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8"/>
  </p:notesMasterIdLst>
  <p:sldIdLst>
    <p:sldId id="256" r:id="rId2"/>
    <p:sldId id="257" r:id="rId3"/>
    <p:sldId id="262" r:id="rId4"/>
    <p:sldId id="263" r:id="rId5"/>
    <p:sldId id="264" r:id="rId6"/>
    <p:sldId id="265" r:id="rId7"/>
    <p:sldId id="268" r:id="rId8"/>
    <p:sldId id="284" r:id="rId9"/>
    <p:sldId id="272" r:id="rId10"/>
    <p:sldId id="273" r:id="rId11"/>
    <p:sldId id="274" r:id="rId12"/>
    <p:sldId id="277" r:id="rId13"/>
    <p:sldId id="278" r:id="rId14"/>
    <p:sldId id="279" r:id="rId15"/>
    <p:sldId id="287" r:id="rId16"/>
    <p:sldId id="282" r:id="rId17"/>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showGuides="1">
      <p:cViewPr varScale="1">
        <p:scale>
          <a:sx n="92" d="100"/>
          <a:sy n="92" d="100"/>
        </p:scale>
        <p:origin x="173" y="53"/>
      </p:cViewPr>
      <p:guideLst>
        <p:guide orient="horz" pos="216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02"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903"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90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905"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6"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907"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D709EB9-74CB-46C9-A7CD-9D77C0A4053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709EB9-74CB-46C9-A7CD-9D77C0A4053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709EB9-74CB-46C9-A7CD-9D77C0A40538}"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709EB9-74CB-46C9-A7CD-9D77C0A40538}" type="datetimeFigureOut">
              <a:rPr lang="en-IN" smtClean="0"/>
              <a:t>27-03-2026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709EB9-74CB-46C9-A7CD-9D77C0A40538}" type="datetimeFigureOut">
              <a:rPr lang="en-IN" smtClean="0"/>
              <a:t>27-03-2026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709EB9-74CB-46C9-A7CD-9D77C0A40538}" type="datetimeFigureOut">
              <a:rPr lang="en-IN" smtClean="0"/>
              <a:t>27-03-2026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709EB9-74CB-46C9-A7CD-9D77C0A40538}"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709EB9-74CB-46C9-A7CD-9D77C0A40538}"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1D709EB9-74CB-46C9-A7CD-9D77C0A40538}" type="datetimeFigureOut">
              <a:rPr lang="en-IN" smtClean="0"/>
              <a:t>27-03-2026</a:t>
            </a:fld>
            <a:endParaRPr lang="en-IN"/>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IN"/>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9FC6DA7-42EC-4B7B-A6A2-F802FDA1DCA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GIF"/><Relationship Id="rId5" Type="http://schemas.openxmlformats.org/officeDocument/2006/relationships/tags" Target="../tags/tag5.xml"/><Relationship Id="rId10" Type="http://schemas.openxmlformats.org/officeDocument/2006/relationships/image" Target="../media/image1.png"/><Relationship Id="rId4" Type="http://schemas.openxmlformats.org/officeDocument/2006/relationships/tags" Target="../tags/tag4.xml"/><Relationship Id="rId9"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2.xml"/><Relationship Id="rId7" Type="http://schemas.openxmlformats.org/officeDocument/2006/relationships/image" Target="../media/image8.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tags" Target="../tags/tag13.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6.xml"/><Relationship Id="rId7" Type="http://schemas.openxmlformats.org/officeDocument/2006/relationships/image" Target="../media/image1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0.png"/><Relationship Id="rId5" Type="http://schemas.openxmlformats.org/officeDocument/2006/relationships/slideLayout" Target="../slideLayouts/slideLayout2.xml"/><Relationship Id="rId4"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3"/>
          <p:cNvPicPr>
            <a:picLocks noChangeAspect="1" noChangeArrowheads="1"/>
          </p:cNvPicPr>
          <p:nvPr>
            <p:custDataLst>
              <p:tags r:id="rId1"/>
            </p:custDataLst>
          </p:nvPr>
        </p:nvPicPr>
        <p:blipFill>
          <a:blip r:embed="rId10"/>
          <a:srcRect/>
          <a:stretch>
            <a:fillRect/>
          </a:stretch>
        </p:blipFill>
        <p:spPr bwMode="auto">
          <a:xfrm>
            <a:off x="0" y="0"/>
            <a:ext cx="2073275" cy="1122045"/>
          </a:xfrm>
          <a:prstGeom prst="rect">
            <a:avLst/>
          </a:prstGeom>
          <a:noFill/>
          <a:ln>
            <a:noFill/>
          </a:ln>
        </p:spPr>
      </p:pic>
      <p:sp>
        <p:nvSpPr>
          <p:cNvPr id="1048584" name="TextBox 6"/>
          <p:cNvSpPr txBox="1"/>
          <p:nvPr>
            <p:custDataLst>
              <p:tags r:id="rId2"/>
            </p:custDataLst>
          </p:nvPr>
        </p:nvSpPr>
        <p:spPr>
          <a:xfrm>
            <a:off x="2056765" y="267335"/>
            <a:ext cx="8806815" cy="757555"/>
          </a:xfrm>
          <a:prstGeom prst="rect">
            <a:avLst/>
          </a:prstGeom>
          <a:noFill/>
        </p:spPr>
        <p:txBody>
          <a:bodyPr wrap="square" lIns="19998" tIns="9999" rIns="19998" bIns="9999" rtlCol="0">
            <a:spAutoFit/>
          </a:body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p>
        </p:txBody>
      </p:sp>
      <p:pic>
        <p:nvPicPr>
          <p:cNvPr id="2097153" name="Picture 5" descr="Image result for vrsec"/>
          <p:cNvPicPr>
            <a:picLocks noChangeAspect="1" noChangeArrowheads="1"/>
          </p:cNvPicPr>
          <p:nvPr>
            <p:custDataLst>
              <p:tags r:id="rId3"/>
            </p:custDataLst>
          </p:nvPr>
        </p:nvPicPr>
        <p:blipFill>
          <a:blip r:embed="rId11" cstate="print"/>
          <a:srcRect/>
          <a:stretch>
            <a:fillRect/>
          </a:stretch>
        </p:blipFill>
        <p:spPr bwMode="auto">
          <a:xfrm>
            <a:off x="11062970" y="0"/>
            <a:ext cx="1129030" cy="1311910"/>
          </a:xfrm>
          <a:prstGeom prst="rect">
            <a:avLst/>
          </a:prstGeom>
          <a:noFill/>
        </p:spPr>
      </p:pic>
      <p:sp>
        <p:nvSpPr>
          <p:cNvPr id="1048585" name="Title 1"/>
          <p:cNvSpPr>
            <a:spLocks noGrp="1"/>
          </p:cNvSpPr>
          <p:nvPr>
            <p:custDataLst>
              <p:tags r:id="rId4"/>
            </p:custDataLst>
          </p:nvPr>
        </p:nvSpPr>
        <p:spPr>
          <a:xfrm>
            <a:off x="0" y="1362172"/>
            <a:ext cx="12192000" cy="942340"/>
          </a:xfrm>
          <a:prstGeom prst="rect">
            <a:avLst/>
          </a:prstGeom>
        </p:spPr>
        <p:txBody>
          <a:bodyPr vert="horz" lIns="228600" tIns="228600" rIns="228600" bIns="0" rtlCol="0" anchor="b">
            <a:noAutofit/>
          </a:bodyPr>
          <a:lstStyle>
            <a:lvl1pPr algn="ctr" defTabSz="914400" rtl="0" eaLnBrk="1" latinLnBrk="0" hangingPunct="1">
              <a:lnSpc>
                <a:spcPct val="80000"/>
              </a:lnSpc>
              <a:spcBef>
                <a:spcPct val="0"/>
              </a:spcBef>
              <a:buNone/>
              <a:defRPr sz="5400" b="0" i="0" kern="1200" cap="none" spc="-150">
                <a:solidFill>
                  <a:srgbClr val="FFFEFF"/>
                </a:solidFill>
                <a:effectLst/>
                <a:latin typeface="+mj-lt"/>
                <a:ea typeface="+mj-ea"/>
                <a:cs typeface="+mj-cs"/>
              </a:defRPr>
            </a:lvl1pPr>
          </a:lstStyle>
          <a:p>
            <a:endParaRPr lang="en-IN" sz="3400" dirty="0">
              <a:solidFill>
                <a:schemeClr val="tx1"/>
              </a:solidFill>
              <a:latin typeface="Times New Roman" panose="02020603050405020304" pitchFamily="18" charset="0"/>
              <a:cs typeface="Times New Roman" panose="02020603050405020304" pitchFamily="18" charset="0"/>
            </a:endParaRPr>
          </a:p>
          <a:p>
            <a:r>
              <a:rPr lang="en-US" sz="3400" dirty="0">
                <a:solidFill>
                  <a:schemeClr val="tx1"/>
                </a:solidFill>
                <a:latin typeface="Times New Roman" panose="02020603050405020304" pitchFamily="18" charset="0"/>
                <a:cs typeface="Times New Roman" panose="02020603050405020304" pitchFamily="18" charset="0"/>
              </a:rPr>
              <a:t> </a:t>
            </a:r>
            <a:r>
              <a:rPr lang="en-US" sz="3400" b="1" dirty="0">
                <a:solidFill>
                  <a:schemeClr val="tx1"/>
                </a:solidFill>
                <a:latin typeface="Times New Roman" panose="02020603050405020304" pitchFamily="18" charset="0"/>
                <a:cs typeface="Times New Roman" panose="02020603050405020304" pitchFamily="18" charset="0"/>
              </a:rPr>
              <a:t>An Explainable Deep Learning Framework for Multi-Brain Disease Detection from MRI Images </a:t>
            </a:r>
            <a:endParaRPr lang="en-US" sz="3400" b="1" dirty="0">
              <a:solidFill>
                <a:schemeClr val="tx1"/>
              </a:solidFill>
              <a:latin typeface="Times New Roman" panose="02020603050405020304" pitchFamily="18" charset="0"/>
              <a:cs typeface="Times New Roman" panose="02020603050405020304" pitchFamily="18" charset="0"/>
              <a:sym typeface="+mn-ea"/>
            </a:endParaRPr>
          </a:p>
        </p:txBody>
      </p:sp>
      <p:sp>
        <p:nvSpPr>
          <p:cNvPr id="1048586" name="TextBox 8"/>
          <p:cNvSpPr txBox="1"/>
          <p:nvPr>
            <p:custDataLst>
              <p:tags r:id="rId5"/>
            </p:custDataLst>
          </p:nvPr>
        </p:nvSpPr>
        <p:spPr>
          <a:xfrm>
            <a:off x="0" y="2544639"/>
            <a:ext cx="12192000" cy="337185"/>
          </a:xfrm>
          <a:prstGeom prst="rect">
            <a:avLst/>
          </a:prstGeom>
          <a:noFill/>
        </p:spPr>
        <p:txBody>
          <a:bodyPr wrap="square" rtlCol="0">
            <a:spAutoFit/>
          </a:bodyPr>
          <a:lstStyle/>
          <a:p>
            <a:pPr algn="ctr"/>
            <a:r>
              <a:rPr lang="en-US" sz="1600" b="1" dirty="0">
                <a:solidFill>
                  <a:srgbClr val="00B050"/>
                </a:solidFill>
                <a:latin typeface="Times New Roman" panose="02020603050405020304" pitchFamily="18" charset="0"/>
                <a:cs typeface="Times New Roman" panose="02020603050405020304" pitchFamily="18" charset="0"/>
              </a:rPr>
              <a:t>Application Field : Medical Imaging, Healthcare Diagnostics, and Cancer Screening.</a:t>
            </a:r>
          </a:p>
        </p:txBody>
      </p:sp>
      <p:sp>
        <p:nvSpPr>
          <p:cNvPr id="1048587" name="TextBox 7"/>
          <p:cNvSpPr txBox="1"/>
          <p:nvPr>
            <p:custDataLst>
              <p:tags r:id="rId6"/>
            </p:custDataLst>
          </p:nvPr>
        </p:nvSpPr>
        <p:spPr>
          <a:xfrm>
            <a:off x="0" y="3172860"/>
            <a:ext cx="12192000" cy="706755"/>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B.Tech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 Presentation</a:t>
            </a:r>
          </a:p>
        </p:txBody>
      </p:sp>
      <p:sp>
        <p:nvSpPr>
          <p:cNvPr id="1048588" name="Subtitle 2"/>
          <p:cNvSpPr>
            <a:spLocks noGrp="1"/>
          </p:cNvSpPr>
          <p:nvPr>
            <p:custDataLst>
              <p:tags r:id="rId7"/>
            </p:custDataLst>
          </p:nvPr>
        </p:nvSpPr>
        <p:spPr>
          <a:xfrm>
            <a:off x="0" y="4339243"/>
            <a:ext cx="12192000" cy="1587149"/>
          </a:xfrm>
          <a:prstGeom prst="rect">
            <a:avLst/>
          </a:prstGeom>
        </p:spPr>
        <p:txBody>
          <a:bodyPr vert="horz" lIns="91440" tIns="0" rIns="91440" bIns="45720" rtlCol="0">
            <a:normAutofit fontScale="72500" lnSpcReduction="20000"/>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r>
              <a:rPr lang="en-US" sz="2800" dirty="0">
                <a:solidFill>
                  <a:schemeClr val="tx1"/>
                </a:solidFill>
                <a:latin typeface="Times New Roman" panose="02020603050405020304" pitchFamily="18" charset="0"/>
                <a:cs typeface="Times New Roman" panose="02020603050405020304" pitchFamily="18" charset="0"/>
              </a:rPr>
              <a:t>Presented by</a:t>
            </a:r>
          </a:p>
          <a:p>
            <a:r>
              <a:rPr lang="en-IN" altLang="en-US" sz="2800" b="1" dirty="0">
                <a:solidFill>
                  <a:srgbClr val="7030A0"/>
                </a:solidFill>
                <a:latin typeface="Times New Roman" panose="02020603050405020304" pitchFamily="18" charset="0"/>
                <a:cs typeface="Times New Roman" panose="02020603050405020304" pitchFamily="18" charset="0"/>
              </a:rPr>
              <a:t>RAHUL PUDI</a:t>
            </a:r>
          </a:p>
          <a:p>
            <a:r>
              <a:rPr lang="en-IN" altLang="en-US" sz="2800" b="1" dirty="0">
                <a:solidFill>
                  <a:srgbClr val="7030A0"/>
                </a:solidFill>
                <a:latin typeface="Times New Roman" panose="02020603050405020304" pitchFamily="18" charset="0"/>
                <a:cs typeface="Times New Roman" panose="02020603050405020304" pitchFamily="18" charset="0"/>
              </a:rPr>
              <a:t> </a:t>
            </a:r>
          </a:p>
          <a:p>
            <a:r>
              <a:rPr lang="en-IN" altLang="en-US" sz="3950" b="1" dirty="0">
                <a:solidFill>
                  <a:srgbClr val="7030A0"/>
                </a:solidFill>
                <a:cs typeface="AngsanaUPC" panose="02020603050405020304" pitchFamily="18" charset="-34"/>
              </a:rPr>
              <a:t>     </a:t>
            </a:r>
            <a:endParaRPr lang="en-IN" altLang="en-US" sz="3950" dirty="0">
              <a:solidFill>
                <a:schemeClr val="tx1"/>
              </a:solidFill>
            </a:endParaRPr>
          </a:p>
        </p:txBody>
      </p:sp>
      <p:sp>
        <p:nvSpPr>
          <p:cNvPr id="1048589" name="Rectangle 3"/>
          <p:cNvSpPr/>
          <p:nvPr>
            <p:custDataLst>
              <p:tags r:id="rId8"/>
            </p:custDataLst>
          </p:nvPr>
        </p:nvSpPr>
        <p:spPr>
          <a:xfrm>
            <a:off x="0" y="5524500"/>
            <a:ext cx="12191999" cy="922020"/>
          </a:xfrm>
          <a:prstGeom prst="rect">
            <a:avLst/>
          </a:prstGeom>
        </p:spPr>
        <p:txBody>
          <a:bodyPr wrap="square">
            <a:spAutoFit/>
          </a:bodyPr>
          <a:lstStyle/>
          <a:p>
            <a:pPr algn="ctr"/>
            <a:r>
              <a:rPr lang="en-US" sz="1600" dirty="0">
                <a:latin typeface="Times New Roman" panose="02020603050405020304" pitchFamily="18" charset="0"/>
                <a:cs typeface="Times New Roman" panose="02020603050405020304" pitchFamily="18" charset="0"/>
              </a:rPr>
              <a:t>Und</a:t>
            </a:r>
            <a:r>
              <a:rPr lang="en-IN" altLang="en-US" sz="1600" dirty="0">
                <a:latin typeface="Times New Roman" panose="02020603050405020304" pitchFamily="18" charset="0"/>
                <a:cs typeface="Times New Roman" panose="02020603050405020304" pitchFamily="18" charset="0"/>
              </a:rPr>
              <a:t>e</a:t>
            </a:r>
            <a:r>
              <a:rPr lang="en-US" sz="1600" dirty="0">
                <a:latin typeface="Times New Roman" panose="02020603050405020304" pitchFamily="18" charset="0"/>
                <a:cs typeface="Times New Roman" panose="02020603050405020304" pitchFamily="18" charset="0"/>
              </a:rPr>
              <a:t>r the guidance of </a:t>
            </a:r>
          </a:p>
          <a:p>
            <a:pPr algn="ctr"/>
            <a:r>
              <a:rPr lang="en-US" sz="2000" dirty="0">
                <a:latin typeface="Times New Roman" panose="02020603050405020304" pitchFamily="18" charset="0"/>
                <a:cs typeface="Times New Roman" panose="02020603050405020304" pitchFamily="18" charset="0"/>
              </a:rPr>
              <a:t> </a:t>
            </a:r>
            <a:r>
              <a:rPr lang="en-IN" altLang="en-US" b="1" dirty="0">
                <a:solidFill>
                  <a:srgbClr val="FF0000"/>
                </a:solidFill>
                <a:latin typeface="Times New Roman" panose="02020603050405020304" pitchFamily="18" charset="0"/>
                <a:cs typeface="Times New Roman" panose="02020603050405020304" pitchFamily="18" charset="0"/>
              </a:rPr>
              <a:t> K. Madhavi</a:t>
            </a:r>
          </a:p>
          <a:p>
            <a:pPr algn="ctr"/>
            <a:r>
              <a:rPr lang="en-IN" b="0" i="0" dirty="0">
                <a:solidFill>
                  <a:srgbClr val="000000"/>
                </a:solidFill>
                <a:effectLst/>
                <a:latin typeface="Times New Roman" panose="02020603050405020304" pitchFamily="18" charset="0"/>
                <a:cs typeface="Times New Roman" panose="02020603050405020304" pitchFamily="18" charset="0"/>
              </a:rPr>
              <a:t>Assistant Professor</a:t>
            </a:r>
            <a:endParaRPr lang="en-US" altLang="en-GB"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a:xfrm>
            <a:off x="0" y="0"/>
            <a:ext cx="12192000" cy="1143000"/>
          </a:xfrm>
        </p:spPr>
        <p:txBody>
          <a:bodyPr>
            <a:normAutofit/>
          </a:bodyPr>
          <a:lstStyle/>
          <a:p>
            <a:pPr algn="ctr"/>
            <a:r>
              <a:rPr lang="en-US" sz="3600" dirty="0">
                <a:latin typeface="Times New Roman" panose="02020603050405020304" pitchFamily="18" charset="0"/>
                <a:cs typeface="Times New Roman" panose="02020603050405020304" pitchFamily="18" charset="0"/>
              </a:rPr>
              <a:t>Contents </a:t>
            </a:r>
            <a:endParaRPr lang="en-IN" sz="3600" dirty="0">
              <a:latin typeface="Times New Roman" panose="02020603050405020304" pitchFamily="18" charset="0"/>
              <a:cs typeface="Times New Roman" panose="02020603050405020304" pitchFamily="18" charset="0"/>
            </a:endParaRPr>
          </a:p>
        </p:txBody>
      </p:sp>
      <p:sp>
        <p:nvSpPr>
          <p:cNvPr id="1048620" name="Content Placeholder 6"/>
          <p:cNvSpPr>
            <a:spLocks noGrp="1"/>
          </p:cNvSpPr>
          <p:nvPr>
            <p:ph idx="1"/>
          </p:nvPr>
        </p:nvSpPr>
        <p:spPr>
          <a:xfrm>
            <a:off x="576580" y="1667972"/>
            <a:ext cx="11038840" cy="4699577"/>
          </a:xfrm>
        </p:spPr>
        <p:txBody>
          <a:bodyPr>
            <a:noAutofit/>
          </a:bodyPr>
          <a:lstStyle/>
          <a:p>
            <a:pPr algn="just">
              <a:lnSpc>
                <a:spcPct val="100000"/>
              </a:lnSpc>
            </a:pPr>
            <a:r>
              <a:rPr lang="en-US" sz="1800" dirty="0">
                <a:latin typeface="Times New Roman" panose="02020603050405020304" pitchFamily="18" charset="0"/>
                <a:cs typeface="Times New Roman" panose="02020603050405020304" pitchFamily="18" charset="0"/>
              </a:rPr>
              <a:t>Problem Statement</a:t>
            </a:r>
          </a:p>
          <a:p>
            <a:pPr algn="just">
              <a:lnSpc>
                <a:spcPct val="100000"/>
              </a:lnSpc>
            </a:pPr>
            <a:r>
              <a:rPr lang="en-US" sz="1800" dirty="0">
                <a:latin typeface="Times New Roman" panose="02020603050405020304" pitchFamily="18" charset="0"/>
                <a:cs typeface="Times New Roman" panose="02020603050405020304" pitchFamily="18" charset="0"/>
              </a:rPr>
              <a:t>Objectives and Outcomes of the project</a:t>
            </a:r>
          </a:p>
          <a:p>
            <a:pPr algn="just">
              <a:lnSpc>
                <a:spcPct val="100000"/>
              </a:lnSpc>
            </a:pPr>
            <a:r>
              <a:rPr lang="en-US" sz="1800" dirty="0">
                <a:latin typeface="Times New Roman" panose="02020603050405020304" pitchFamily="18" charset="0"/>
                <a:cs typeface="Times New Roman" panose="02020603050405020304" pitchFamily="18" charset="0"/>
              </a:rPr>
              <a:t>Literature Survey</a:t>
            </a:r>
          </a:p>
          <a:p>
            <a:pPr algn="just">
              <a:lnSpc>
                <a:spcPct val="100000"/>
              </a:lnSpc>
            </a:pPr>
            <a:r>
              <a:rPr lang="en-US" sz="1800" dirty="0">
                <a:latin typeface="Times New Roman" panose="02020603050405020304" pitchFamily="18" charset="0"/>
                <a:cs typeface="Times New Roman" panose="02020603050405020304" pitchFamily="18" charset="0"/>
              </a:rPr>
              <a:t>Datasets and Requirements specifications </a:t>
            </a:r>
          </a:p>
          <a:p>
            <a:pPr algn="just">
              <a:lnSpc>
                <a:spcPct val="100000"/>
              </a:lnSpc>
            </a:pPr>
            <a:r>
              <a:rPr lang="en-US" sz="1800" dirty="0">
                <a:latin typeface="Times New Roman" panose="02020603050405020304" pitchFamily="18" charset="0"/>
                <a:cs typeface="Times New Roman" panose="02020603050405020304" pitchFamily="18" charset="0"/>
              </a:rPr>
              <a:t>Methodology and Algorithms involved</a:t>
            </a:r>
          </a:p>
          <a:p>
            <a:pPr algn="just">
              <a:lnSpc>
                <a:spcPct val="100000"/>
              </a:lnSpc>
            </a:pPr>
            <a:r>
              <a:rPr lang="en-US" sz="1800" dirty="0">
                <a:latin typeface="Times New Roman" panose="02020603050405020304" pitchFamily="18" charset="0"/>
                <a:cs typeface="Times New Roman" panose="02020603050405020304" pitchFamily="18" charset="0"/>
              </a:rPr>
              <a:t>Architecture Diagram</a:t>
            </a:r>
          </a:p>
          <a:p>
            <a:pPr algn="just">
              <a:lnSpc>
                <a:spcPct val="100000"/>
              </a:lnSpc>
            </a:pPr>
            <a:r>
              <a:rPr lang="en-US" sz="1800" dirty="0">
                <a:latin typeface="Times New Roman" panose="02020603050405020304" pitchFamily="18" charset="0"/>
                <a:cs typeface="Times New Roman" panose="02020603050405020304" pitchFamily="18" charset="0"/>
              </a:rPr>
              <a:t>Complete Results Obtained</a:t>
            </a:r>
          </a:p>
          <a:p>
            <a:pPr algn="just">
              <a:lnSpc>
                <a:spcPct val="100000"/>
              </a:lnSpc>
            </a:pPr>
            <a:r>
              <a:rPr lang="en-US" sz="1800" dirty="0">
                <a:latin typeface="Times New Roman" panose="02020603050405020304" pitchFamily="18" charset="0"/>
                <a:cs typeface="Times New Roman" panose="02020603050405020304" pitchFamily="18" charset="0"/>
              </a:rPr>
              <a:t>Result Analysis</a:t>
            </a:r>
          </a:p>
          <a:p>
            <a:pPr algn="just">
              <a:lnSpc>
                <a:spcPct val="100000"/>
              </a:lnSpc>
            </a:pPr>
            <a:r>
              <a:rPr lang="en-US" sz="1800" dirty="0">
                <a:latin typeface="Times New Roman" panose="02020603050405020304" pitchFamily="18" charset="0"/>
                <a:cs typeface="Times New Roman" panose="02020603050405020304" pitchFamily="18" charset="0"/>
              </a:rPr>
              <a:t>Conclusion </a:t>
            </a:r>
          </a:p>
          <a:p>
            <a:pPr algn="just">
              <a:lnSpc>
                <a:spcPct val="100000"/>
              </a:lnSpc>
            </a:pPr>
            <a:r>
              <a:rPr lang="en-US" sz="1800" dirty="0">
                <a:latin typeface="Times New Roman" panose="02020603050405020304" pitchFamily="18" charset="0"/>
                <a:cs typeface="Times New Roman" panose="02020603050405020304" pitchFamily="18" charset="0"/>
              </a:rPr>
              <a:t>References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635" cy="1022985"/>
          </a:xfrm>
        </p:spPr>
        <p:txBody>
          <a:bodyPr/>
          <a:lstStyle/>
          <a:p>
            <a:r>
              <a:rPr lang="en-US" sz="3600" dirty="0">
                <a:latin typeface="Times New Roman" panose="02020603050405020304" pitchFamily="18" charset="0"/>
                <a:cs typeface="Times New Roman" panose="02020603050405020304" pitchFamily="18" charset="0"/>
              </a:rPr>
              <a:t>Problem Statement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599440" y="1748790"/>
            <a:ext cx="11004550" cy="4377690"/>
          </a:xfrm>
        </p:spPr>
        <p:txBody>
          <a:bodyPr/>
          <a:lstStyle/>
          <a:p>
            <a:pPr algn="just">
              <a:lnSpc>
                <a:spcPct val="100000"/>
              </a:lnSpc>
            </a:pPr>
            <a:r>
              <a:rPr lang="en-US" sz="1800" dirty="0">
                <a:latin typeface="Times New Roman" panose="02020603050405020304" pitchFamily="18" charset="0"/>
                <a:cs typeface="Times New Roman" panose="02020603050405020304" pitchFamily="18" charset="0"/>
              </a:rPr>
              <a:t>The diagnosis of brain tumors, Alzheimer’s disease, and multiple sclerosis is complex and requires specialized medical expertise.</a:t>
            </a:r>
          </a:p>
          <a:p>
            <a:pPr algn="just">
              <a:lnSpc>
                <a:spcPct val="100000"/>
              </a:lnSpc>
            </a:pPr>
            <a:r>
              <a:rPr lang="en-US" sz="1800" dirty="0">
                <a:latin typeface="Times New Roman" panose="02020603050405020304" pitchFamily="18" charset="0"/>
                <a:cs typeface="Times New Roman" panose="02020603050405020304" pitchFamily="18" charset="0"/>
              </a:rPr>
              <a:t>Traditional methods based on MRI scan interpretation can be time-consuming, costly, and prone to human errors, potentially leading to delayed or inaccurate diagnoses.</a:t>
            </a:r>
          </a:p>
          <a:p>
            <a:pPr algn="just">
              <a:lnSpc>
                <a:spcPct val="100000"/>
              </a:lnSpc>
            </a:pPr>
            <a:r>
              <a:rPr lang="en-US" sz="1800" dirty="0">
                <a:latin typeface="Times New Roman" panose="02020603050405020304" pitchFamily="18" charset="0"/>
                <a:cs typeface="Times New Roman" panose="02020603050405020304" pitchFamily="18" charset="0"/>
              </a:rPr>
              <a:t>There is a need for an automated system capable of analyzing MRI scans efficiently and accurately to assist healthcare professionals.</a:t>
            </a:r>
          </a:p>
          <a:p>
            <a:pPr algn="just">
              <a:lnSpc>
                <a:spcPct val="100000"/>
              </a:lnSpc>
            </a:pPr>
            <a:r>
              <a:rPr lang="en-US" sz="1800" dirty="0">
                <a:latin typeface="Times New Roman" panose="02020603050405020304" pitchFamily="18" charset="0"/>
                <a:cs typeface="Times New Roman" panose="02020603050405020304" pitchFamily="18" charset="0"/>
              </a:rPr>
              <a:t>This project aims to compare two deep learning models—</a:t>
            </a:r>
            <a:r>
              <a:rPr lang="en-US" sz="1800" dirty="0" err="1">
                <a:latin typeface="Times New Roman" panose="02020603050405020304" pitchFamily="18" charset="0"/>
                <a:cs typeface="Times New Roman" panose="02020603050405020304" pitchFamily="18" charset="0"/>
              </a:rPr>
              <a:t>AlexNet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EfficientNet</a:t>
            </a:r>
            <a:r>
              <a:rPr lang="en-US" sz="1800" dirty="0">
                <a:latin typeface="Times New Roman" panose="02020603050405020304" pitchFamily="18" charset="0"/>
                <a:cs typeface="Times New Roman" panose="02020603050405020304" pitchFamily="18" charset="0"/>
              </a:rPr>
              <a:t>—to improve detection accuracy, reduce reliance on manual interpretation, and provide visual explanations through LIME for better clinical trust.</a:t>
            </a: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nvPr>
        </p:nvGraphicFramePr>
        <p:xfrm>
          <a:off x="574040" y="830580"/>
          <a:ext cx="11043285" cy="5208721"/>
        </p:xfrm>
        <a:graphic>
          <a:graphicData uri="http://schemas.openxmlformats.org/drawingml/2006/table">
            <a:tbl>
              <a:tblPr firstRow="1" bandRow="1">
                <a:tableStyleId>{C4B1156A-380E-4F78-BDF5-A606A8083BF9}</a:tableStyleId>
              </a:tblPr>
              <a:tblGrid>
                <a:gridCol w="5487035">
                  <a:extLst>
                    <a:ext uri="{9D8B030D-6E8A-4147-A177-3AD203B41FA5}">
                      <a16:colId xmlns:a16="http://schemas.microsoft.com/office/drawing/2014/main" val="20000"/>
                    </a:ext>
                  </a:extLst>
                </a:gridCol>
                <a:gridCol w="5556250">
                  <a:extLst>
                    <a:ext uri="{9D8B030D-6E8A-4147-A177-3AD203B41FA5}">
                      <a16:colId xmlns:a16="http://schemas.microsoft.com/office/drawing/2014/main" val="20001"/>
                    </a:ext>
                  </a:extLst>
                </a:gridCol>
              </a:tblGrid>
              <a:tr h="1269773">
                <a:tc>
                  <a:txBody>
                    <a:bodyPr/>
                    <a:lstStyle/>
                    <a:p>
                      <a:pPr algn="l"/>
                      <a:r>
                        <a:rPr lang="en-IN" sz="4000" dirty="0"/>
                        <a:t>       </a:t>
                      </a:r>
                    </a:p>
                    <a:p>
                      <a:pPr algn="ctr"/>
                      <a:r>
                        <a:rPr lang="en-IN" sz="3600" dirty="0">
                          <a:latin typeface="Times New Roman" panose="02020603050405020304" pitchFamily="18" charset="0"/>
                          <a:cs typeface="Times New Roman" panose="02020603050405020304" pitchFamily="18" charset="0"/>
                        </a:rPr>
                        <a:t>Objectives</a:t>
                      </a:r>
                    </a:p>
                  </a:txBody>
                  <a:tcPr>
                    <a:solidFill>
                      <a:schemeClr val="bg1"/>
                    </a:solidFill>
                  </a:tcPr>
                </a:tc>
                <a:tc>
                  <a:txBody>
                    <a:bodyPr/>
                    <a:lstStyle/>
                    <a:p>
                      <a:endParaRPr lang="en-IN" dirty="0"/>
                    </a:p>
                    <a:p>
                      <a:endParaRPr lang="en-IN" dirty="0"/>
                    </a:p>
                    <a:p>
                      <a:pPr algn="ctr"/>
                      <a:r>
                        <a:rPr lang="en-IN" sz="3600" dirty="0">
                          <a:latin typeface="Times New Roman" panose="02020603050405020304" pitchFamily="18" charset="0"/>
                          <a:cs typeface="Times New Roman" panose="02020603050405020304" pitchFamily="18" charset="0"/>
                        </a:rPr>
                        <a:t>Outcomes</a:t>
                      </a:r>
                    </a:p>
                  </a:txBody>
                  <a:tcPr>
                    <a:solidFill>
                      <a:schemeClr val="bg1"/>
                    </a:solidFill>
                  </a:tcPr>
                </a:tc>
                <a:extLst>
                  <a:ext uri="{0D108BD9-81ED-4DB2-BD59-A6C34878D82A}">
                    <a16:rowId xmlns:a16="http://schemas.microsoft.com/office/drawing/2014/main" val="10000"/>
                  </a:ext>
                </a:extLst>
              </a:tr>
              <a:tr h="3938948">
                <a:tc>
                  <a:txBody>
                    <a:bodyPr/>
                    <a:lstStyle/>
                    <a:p>
                      <a:pPr algn="just"/>
                      <a:endParaRPr lang="en-US" dirty="0"/>
                    </a:p>
                    <a:p>
                      <a:pPr algn="just"/>
                      <a:endParaRPr lang="en-US" dirty="0"/>
                    </a:p>
                    <a:p>
                      <a:pPr marL="342900" indent="-342900" algn="just">
                        <a:buAutoNum type="arabicPeriod"/>
                      </a:pPr>
                      <a:r>
                        <a:rPr lang="en-US" dirty="0">
                          <a:latin typeface="Times New Roman" panose="02020603050405020304" pitchFamily="18" charset="0"/>
                          <a:cs typeface="Times New Roman" panose="02020603050405020304" pitchFamily="18" charset="0"/>
                        </a:rPr>
                        <a:t>Develop an accurate classification model for brain tumors, Alzheimer’s disease, and multiple sclerosis using MRI scans</a:t>
                      </a:r>
                      <a:r>
                        <a:rPr lang="en-US" dirty="0"/>
                        <a:t>.</a:t>
                      </a:r>
                      <a:endParaRPr lang="en-US" sz="1800" dirty="0">
                        <a:latin typeface="Times New Roman" panose="02020603050405020304" pitchFamily="18" charset="0"/>
                        <a:cs typeface="Times New Roman" panose="02020603050405020304" pitchFamily="18" charset="0"/>
                      </a:endParaRP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Compare </a:t>
                      </a:r>
                      <a:r>
                        <a:rPr lang="en-US"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architectures under identical preprocessing, augmentation, and dataset splits</a:t>
                      </a:r>
                      <a:r>
                        <a:rPr lang="en-US" dirty="0"/>
                        <a:t>.</a:t>
                      </a:r>
                      <a:endParaRPr 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Show which parts of the MRI image the model used to make its decision using LIME</a:t>
                      </a:r>
                      <a:r>
                        <a:rPr lang="en-US" dirty="0"/>
                        <a:t>.</a:t>
                      </a:r>
                      <a:endParaRPr lang="en-US"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just"/>
                      <a:endParaRPr lang="en-US" dirty="0"/>
                    </a:p>
                    <a:p>
                      <a:pPr algn="just"/>
                      <a:endParaRPr lang="en-US" dirty="0"/>
                    </a:p>
                    <a:p>
                      <a:pPr marL="342900" indent="-342900" algn="just">
                        <a:buAutoNum type="arabicPeriod"/>
                      </a:pPr>
                      <a:r>
                        <a:rPr lang="en-US" dirty="0">
                          <a:latin typeface="Times New Roman" panose="02020603050405020304" pitchFamily="18" charset="0"/>
                          <a:cs typeface="Times New Roman" panose="02020603050405020304" pitchFamily="18" charset="0"/>
                        </a:rPr>
                        <a:t>A trained and validated deep-learning model capable of accurately classifying MRI images into brain tumor types, Alzheimer’s stages, or MS conditions</a:t>
                      </a:r>
                      <a:r>
                        <a:rPr lang="en-US" dirty="0"/>
                        <a:t>.</a:t>
                      </a:r>
                      <a:endParaRPr lang="en-US" sz="1800" dirty="0">
                        <a:latin typeface="Times New Roman" panose="02020603050405020304" pitchFamily="18" charset="0"/>
                        <a:cs typeface="Times New Roman" panose="02020603050405020304" pitchFamily="18" charset="0"/>
                      </a:endParaRP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 performance comparison showing which model (</a:t>
                      </a:r>
                      <a:r>
                        <a:rPr lang="en-US"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performs better, based on accuracy, loss, confusion matrix, and other metrics under the same experimental settings.</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 LIME visual explanation highlighting the exact MRI regions that influenced the model’s predictions, improving explainability and model transparency.</a:t>
                      </a:r>
                      <a:endParaRPr lang="en-US" sz="18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635" cy="1188085"/>
          </a:xfrm>
        </p:spPr>
        <p:txBody>
          <a:bodyPr/>
          <a:lstStyle/>
          <a:p>
            <a:r>
              <a:rPr lang="en-IN" sz="3600" dirty="0">
                <a:latin typeface="Times New Roman" panose="02020603050405020304" pitchFamily="18" charset="0"/>
                <a:cs typeface="Times New Roman" panose="02020603050405020304" pitchFamily="18" charset="0"/>
              </a:rPr>
              <a:t>Literature Survey</a:t>
            </a:r>
          </a:p>
        </p:txBody>
      </p:sp>
      <p:graphicFrame>
        <p:nvGraphicFramePr>
          <p:cNvPr id="7" name="Table 6"/>
          <p:cNvGraphicFramePr>
            <a:graphicFrameLocks noGrp="1"/>
          </p:cNvGraphicFramePr>
          <p:nvPr/>
        </p:nvGraphicFramePr>
        <p:xfrm>
          <a:off x="632655" y="1059180"/>
          <a:ext cx="11055218" cy="5958840"/>
        </p:xfrm>
        <a:graphic>
          <a:graphicData uri="http://schemas.openxmlformats.org/drawingml/2006/table">
            <a:tbl>
              <a:tblPr firstRow="1" bandRow="1">
                <a:tableStyleId>{5940675A-B579-460E-94D1-54222C63F5DA}</a:tableStyleId>
              </a:tblPr>
              <a:tblGrid>
                <a:gridCol w="641350">
                  <a:extLst>
                    <a:ext uri="{9D8B030D-6E8A-4147-A177-3AD203B41FA5}">
                      <a16:colId xmlns:a16="http://schemas.microsoft.com/office/drawing/2014/main" val="20000"/>
                    </a:ext>
                  </a:extLst>
                </a:gridCol>
                <a:gridCol w="2893695">
                  <a:extLst>
                    <a:ext uri="{9D8B030D-6E8A-4147-A177-3AD203B41FA5}">
                      <a16:colId xmlns:a16="http://schemas.microsoft.com/office/drawing/2014/main" val="20001"/>
                    </a:ext>
                  </a:extLst>
                </a:gridCol>
                <a:gridCol w="1720724">
                  <a:extLst>
                    <a:ext uri="{9D8B030D-6E8A-4147-A177-3AD203B41FA5}">
                      <a16:colId xmlns:a16="http://schemas.microsoft.com/office/drawing/2014/main" val="20002"/>
                    </a:ext>
                  </a:extLst>
                </a:gridCol>
                <a:gridCol w="2399389">
                  <a:extLst>
                    <a:ext uri="{9D8B030D-6E8A-4147-A177-3AD203B41FA5}">
                      <a16:colId xmlns:a16="http://schemas.microsoft.com/office/drawing/2014/main" val="20003"/>
                    </a:ext>
                  </a:extLst>
                </a:gridCol>
                <a:gridCol w="3400060">
                  <a:extLst>
                    <a:ext uri="{9D8B030D-6E8A-4147-A177-3AD203B41FA5}">
                      <a16:colId xmlns:a16="http://schemas.microsoft.com/office/drawing/2014/main" val="20004"/>
                    </a:ext>
                  </a:extLst>
                </a:gridCol>
              </a:tblGrid>
              <a:tr h="534670">
                <a:tc>
                  <a:txBody>
                    <a:bodyPr/>
                    <a:lstStyle/>
                    <a:p>
                      <a:r>
                        <a:rPr lang="en-US" sz="1500" b="1" dirty="0">
                          <a:latin typeface="Times New Roman" panose="02020603050405020304" pitchFamily="18" charset="0"/>
                          <a:cs typeface="Times New Roman" panose="02020603050405020304" pitchFamily="18" charset="0"/>
                        </a:rPr>
                        <a:t>S.NO</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PUBLICATION</a:t>
                      </a:r>
                      <a:r>
                        <a:rPr lang="en-US" sz="1500" b="1" baseline="0" dirty="0">
                          <a:latin typeface="Times New Roman" panose="02020603050405020304" pitchFamily="18" charset="0"/>
                          <a:cs typeface="Times New Roman" panose="02020603050405020304" pitchFamily="18" charset="0"/>
                        </a:rPr>
                        <a:t> DETAILS</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DATASETS</a:t>
                      </a:r>
                      <a:r>
                        <a:rPr lang="en-US" sz="1500" b="1" baseline="0" dirty="0">
                          <a:latin typeface="Times New Roman" panose="02020603050405020304" pitchFamily="18" charset="0"/>
                          <a:cs typeface="Times New Roman" panose="02020603050405020304" pitchFamily="18" charset="0"/>
                        </a:rPr>
                        <a:t> USED</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ALGORITHMS USED AND RESULTS </a:t>
                      </a:r>
                      <a:endParaRPr lang="en-IN" sz="15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500" b="1" dirty="0">
                          <a:latin typeface="Times New Roman" panose="02020603050405020304" pitchFamily="18" charset="0"/>
                          <a:cs typeface="Times New Roman" panose="02020603050405020304" pitchFamily="18" charset="0"/>
                        </a:rPr>
                        <a:t>REMARKS</a:t>
                      </a:r>
                      <a:endParaRPr lang="en-IN" sz="15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2617444">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Title: </a:t>
                      </a:r>
                      <a:r>
                        <a:rPr lang="en-US" sz="1400" dirty="0">
                          <a:latin typeface="Times New Roman" panose="02020603050405020304" pitchFamily="18" charset="0"/>
                          <a:cs typeface="Times New Roman" panose="02020603050405020304" pitchFamily="18" charset="0"/>
                        </a:rPr>
                        <a:t>MRI Based Multiple Brain Disease Detection using Lightweight Deep Neural Network</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Authors:</a:t>
                      </a:r>
                      <a:r>
                        <a:rPr lang="en-IN" sz="1400" b="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Mohammad Sarosh Basit, Adeeba Khan, Omar Farooq, </a:t>
                      </a:r>
                      <a:r>
                        <a:rPr lang="en-IN" sz="1400" dirty="0" err="1">
                          <a:latin typeface="Times New Roman" panose="02020603050405020304" pitchFamily="18" charset="0"/>
                          <a:cs typeface="Times New Roman" panose="02020603050405020304" pitchFamily="18" charset="0"/>
                        </a:rPr>
                        <a:t>Izharuddin</a:t>
                      </a:r>
                      <a:r>
                        <a:rPr lang="en-IN" sz="1400" dirty="0">
                          <a:latin typeface="Times New Roman" panose="02020603050405020304" pitchFamily="18" charset="0"/>
                          <a:cs typeface="Times New Roman" panose="02020603050405020304" pitchFamily="18" charset="0"/>
                        </a:rPr>
                        <a:t>, Ibne Ahmad</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Publication Year</a:t>
                      </a:r>
                      <a:r>
                        <a:rPr lang="en-IN" sz="1400" b="0" dirty="0">
                          <a:latin typeface="Times New Roman" panose="02020603050405020304" pitchFamily="18" charset="0"/>
                          <a:cs typeface="Times New Roman" panose="02020603050405020304" pitchFamily="18" charset="0"/>
                        </a:rPr>
                        <a:t>: 2023</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Type:</a:t>
                      </a:r>
                      <a:r>
                        <a:rPr lang="en-IN" sz="1400" b="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Conference Paper (IEEE – International Conference on Computer, Electronics &amp; Electrical Engineering and their Applications (IC2E3))</a:t>
                      </a:r>
                      <a:endParaRPr lang="en-IN" sz="1400" b="0" i="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i="0" dirty="0">
                        <a:latin typeface="Times New Roman" panose="02020603050405020304" pitchFamily="18" charset="0"/>
                        <a:cs typeface="Times New Roman" panose="02020603050405020304" pitchFamily="18" charset="0"/>
                      </a:endParaRPr>
                    </a:p>
                  </a:txBody>
                  <a:tcPr/>
                </a:tc>
                <a:tc>
                  <a:txBody>
                    <a:bodyPr/>
                    <a:lstStyle/>
                    <a:p>
                      <a:pPr marL="0" indent="0" algn="just">
                        <a:buNone/>
                      </a:pPr>
                      <a:r>
                        <a:rPr lang="en-US" sz="1400" dirty="0">
                          <a:latin typeface="Times New Roman" panose="02020603050405020304" pitchFamily="18" charset="0"/>
                          <a:cs typeface="Times New Roman" panose="02020603050405020304" pitchFamily="18" charset="0"/>
                        </a:rPr>
                        <a:t>Brain Tumor dataset (combined from </a:t>
                      </a:r>
                      <a:r>
                        <a:rPr lang="en-US" sz="1400" dirty="0" err="1">
                          <a:latin typeface="Times New Roman" panose="02020603050405020304" pitchFamily="18" charset="0"/>
                          <a:cs typeface="Times New Roman" panose="02020603050405020304" pitchFamily="18" charset="0"/>
                        </a:rPr>
                        <a:t>Figshare</a:t>
                      </a:r>
                      <a:r>
                        <a:rPr lang="en-US" sz="1400" dirty="0">
                          <a:latin typeface="Times New Roman" panose="02020603050405020304" pitchFamily="18" charset="0"/>
                          <a:cs typeface="Times New Roman" panose="02020603050405020304" pitchFamily="18" charset="0"/>
                        </a:rPr>
                        <a:t>, SARTAJ, Br35H) &amp; Alzheimer MRI Preprocessed Dataset (Kaggle) – 6400 MRI images, 4 classes.</a:t>
                      </a:r>
                    </a:p>
                    <a:p>
                      <a:pPr marL="0" indent="0" algn="just">
                        <a:buNone/>
                      </a:pP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The study proposed a 12-layer lightweight CNN with around 2 million trainable parameters and compared it against </a:t>
                      </a:r>
                      <a:r>
                        <a:rPr lang="en-US" sz="1400" dirty="0" err="1">
                          <a:latin typeface="Times New Roman" panose="02020603050405020304" pitchFamily="18" charset="0"/>
                          <a:cs typeface="Times New Roman" panose="02020603050405020304" pitchFamily="18" charset="0"/>
                        </a:rPr>
                        <a:t>AlexNet</a:t>
                      </a:r>
                      <a:r>
                        <a:rPr lang="en-US" sz="1400" dirty="0">
                          <a:latin typeface="Times New Roman" panose="02020603050405020304" pitchFamily="18" charset="0"/>
                          <a:cs typeface="Times New Roman" panose="02020603050405020304" pitchFamily="18" charset="0"/>
                        </a:rPr>
                        <a:t>, which has 18 layers and about 8 million parameters. The lightweight CNN achieved superior performance, reaching 98.9% accuracy on the test dataset, compared to </a:t>
                      </a:r>
                      <a:r>
                        <a:rPr lang="en-US" sz="1400" dirty="0" err="1">
                          <a:latin typeface="Times New Roman" panose="02020603050405020304" pitchFamily="18" charset="0"/>
                          <a:cs typeface="Times New Roman" panose="02020603050405020304" pitchFamily="18" charset="0"/>
                        </a:rPr>
                        <a:t>AlexNet’s</a:t>
                      </a:r>
                      <a:r>
                        <a:rPr lang="en-US" sz="1400" dirty="0">
                          <a:latin typeface="Times New Roman" panose="02020603050405020304" pitchFamily="18" charset="0"/>
                          <a:cs typeface="Times New Roman" panose="02020603050405020304" pitchFamily="18" charset="0"/>
                        </a:rPr>
                        <a:t> 96.9%.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The model achieves very high accuracy while using fewer parameters, making it more efficient than </a:t>
                      </a:r>
                      <a:r>
                        <a:rPr lang="en-US" sz="1400" b="0" dirty="0" err="1">
                          <a:latin typeface="Times New Roman" panose="02020603050405020304" pitchFamily="18" charset="0"/>
                          <a:cs typeface="Times New Roman" panose="02020603050405020304" pitchFamily="18" charset="0"/>
                        </a:rPr>
                        <a:t>AlexNet</a:t>
                      </a:r>
                      <a:r>
                        <a:rPr lang="en-US" sz="1400" b="0" dirty="0">
                          <a:latin typeface="Times New Roman" panose="02020603050405020304" pitchFamily="18" charset="0"/>
                          <a:cs typeface="Times New Roman" panose="02020603050405020304" pitchFamily="18" charset="0"/>
                        </a:rPr>
                        <a:t>. However, since it was trained on Kaggle datasets, it may not perform as well on real hospital data, and its reliance on preprocessing makes real-time use difficult. Although called “lightweight,” it still needs more optimization for low-power devices, and future work could include detecting other brain diseases.</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035175">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Title: </a:t>
                      </a:r>
                      <a:r>
                        <a:rPr lang="en-US" sz="1400" dirty="0">
                          <a:latin typeface="Times New Roman" panose="02020603050405020304" pitchFamily="18" charset="0"/>
                          <a:cs typeface="Times New Roman" panose="02020603050405020304" pitchFamily="18" charset="0"/>
                        </a:rPr>
                        <a:t>Machine Learning and Deep Learning Approaches for the Detection of Alzheimer’s Disease: A Review</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Authors:</a:t>
                      </a:r>
                      <a:r>
                        <a:rPr lang="en-IN" sz="1400" b="0" dirty="0">
                          <a:latin typeface="Times New Roman" panose="02020603050405020304" pitchFamily="18" charset="0"/>
                          <a:cs typeface="Times New Roman" panose="02020603050405020304" pitchFamily="18" charset="0"/>
                        </a:rPr>
                        <a:t> Gargi Pant Shukla, Santhosh Kumar, Saroj Kumar , Rohit Agarwal, Neeraj Varshney , Ankit </a:t>
                      </a:r>
                      <a:r>
                        <a:rPr lang="en-IN" sz="1400" b="0" dirty="0" err="1">
                          <a:latin typeface="Times New Roman" panose="02020603050405020304" pitchFamily="18" charset="0"/>
                          <a:cs typeface="Times New Roman" panose="02020603050405020304" pitchFamily="18" charset="0"/>
                        </a:rPr>
                        <a:t>kumar</a:t>
                      </a:r>
                      <a:r>
                        <a:rPr lang="en-IN" sz="1400" b="0"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Publication Year</a:t>
                      </a:r>
                      <a:r>
                        <a:rPr lang="en-IN" sz="1400" b="0" dirty="0">
                          <a:latin typeface="Times New Roman" panose="02020603050405020304" pitchFamily="18" charset="0"/>
                          <a:cs typeface="Times New Roman" panose="02020603050405020304" pitchFamily="18" charset="0"/>
                        </a:rPr>
                        <a:t>: 2023</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Type:</a:t>
                      </a:r>
                      <a:r>
                        <a:rPr lang="en-IN" sz="1400" b="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Journal (TUP)</a:t>
                      </a:r>
                      <a:endParaRPr lang="en-IN" sz="1400" b="0" i="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IN" sz="1400" dirty="0">
                          <a:latin typeface="Times New Roman" panose="02020603050405020304" pitchFamily="18" charset="0"/>
                          <a:cs typeface="Times New Roman" panose="02020603050405020304" pitchFamily="18" charset="0"/>
                        </a:rPr>
                        <a:t>Alzheimer's Disease Neuroimaging Initiative (ADNI), Minimal Interval Resonance Imaging in Alzheimer's Disease (MIRIAD), </a:t>
                      </a:r>
                    </a:p>
                    <a:p>
                      <a:pPr marL="0" indent="0" algn="l">
                        <a:buNone/>
                      </a:pPr>
                      <a:r>
                        <a:rPr lang="en-IN" sz="1400" dirty="0">
                          <a:latin typeface="Times New Roman" panose="02020603050405020304" pitchFamily="18" charset="0"/>
                          <a:cs typeface="Times New Roman" panose="02020603050405020304" pitchFamily="18" charset="0"/>
                        </a:rPr>
                        <a:t>Alzheimer’s Kaggle </a:t>
                      </a:r>
                    </a:p>
                  </a:txBody>
                  <a:tcPr/>
                </a:tc>
                <a:tc>
                  <a:txBody>
                    <a:bodyPr/>
                    <a:lstStyle/>
                    <a:p>
                      <a:r>
                        <a:rPr lang="en-US" sz="1400" dirty="0">
                          <a:latin typeface="Times New Roman" panose="02020603050405020304" pitchFamily="18" charset="0"/>
                          <a:cs typeface="Times New Roman" panose="02020603050405020304" pitchFamily="18" charset="0"/>
                        </a:rPr>
                        <a:t>The review concluded that deep learning models, especially CNNs, achieve high accuracy (85%–95%) in detecting Alzheimer’s disease. CNNs outperform traditional machine learning models in learning spatial features from MRI scans and other imaging data.</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Deep learning models often suffer from overfitting due to limited and imbalanced datasets. Many datasets lack diversity in terms of ethnicity and age groups, which reduces model generalizability. Differences in preprocessing across studies make it hard to compare results. Some datasets also lack complete annotations, which limits supervised learning effectiveness.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97983">
                <a:tc gridSpan="5">
                  <a:txBody>
                    <a:bodyPr/>
                    <a:lstStyle/>
                    <a:p>
                      <a:endParaRPr lang="en-IN" sz="1500" dirty="0">
                        <a:latin typeface="Times New Roman" panose="02020603050405020304" pitchFamily="18" charset="0"/>
                        <a:cs typeface="Times New Roman" panose="02020603050405020304" pitchFamily="18" charset="0"/>
                      </a:endParaRPr>
                    </a:p>
                  </a:txBody>
                  <a:tcPr>
                    <a:lnL w="12700" cmpd="sng">
                      <a:noFill/>
                    </a:lnL>
                    <a:lnR w="12700" cmpd="sng">
                      <a:noFill/>
                    </a:lnR>
                    <a:lnB w="12700" cmpd="sng">
                      <a:noFill/>
                    </a:lnB>
                  </a:tcPr>
                </a:tc>
                <a:tc hMerge="1">
                  <a:txBody>
                    <a:bodyPr/>
                    <a:lstStyle/>
                    <a:p>
                      <a:endParaRPr lang="en-US"/>
                    </a:p>
                  </a:txBody>
                  <a:tcPr/>
                </a:tc>
                <a:tc hMerge="1">
                  <a:txBody>
                    <a:bodyPr/>
                    <a:lstStyle/>
                    <a:p>
                      <a:endParaRPr lang="en-US"/>
                    </a:p>
                  </a:txBody>
                  <a:tcPr>
                    <a:lnB w="12700" cmpd="sng">
                      <a:noFill/>
                    </a:lnB>
                  </a:tcPr>
                </a:tc>
                <a:tc hMerge="1">
                  <a:txBody>
                    <a:bodyPr/>
                    <a:lstStyle/>
                    <a:p>
                      <a:endParaRPr lang="en-US"/>
                    </a:p>
                  </a:txBody>
                  <a:tcPr>
                    <a:lnB w="12700" cmpd="sng">
                      <a:noFill/>
                    </a:lnB>
                  </a:tcPr>
                </a:tc>
                <a:tc hMerge="1">
                  <a:txBody>
                    <a:bodyPr/>
                    <a:lstStyle/>
                    <a:p>
                      <a:endParaRPr lang="en-US"/>
                    </a:p>
                  </a:txBody>
                  <a:tcPr>
                    <a:lnB w="12700" cmpd="sng">
                      <a:no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72721" y="85762"/>
          <a:ext cx="11047132" cy="6579299"/>
        </p:xfrm>
        <a:graphic>
          <a:graphicData uri="http://schemas.openxmlformats.org/drawingml/2006/table">
            <a:tbl>
              <a:tblPr firstRow="1" bandRow="1">
                <a:tableStyleId>{5940675A-B579-460E-94D1-54222C63F5DA}</a:tableStyleId>
              </a:tblPr>
              <a:tblGrid>
                <a:gridCol w="620395">
                  <a:extLst>
                    <a:ext uri="{9D8B030D-6E8A-4147-A177-3AD203B41FA5}">
                      <a16:colId xmlns:a16="http://schemas.microsoft.com/office/drawing/2014/main" val="20000"/>
                    </a:ext>
                  </a:extLst>
                </a:gridCol>
                <a:gridCol w="2879725">
                  <a:extLst>
                    <a:ext uri="{9D8B030D-6E8A-4147-A177-3AD203B41FA5}">
                      <a16:colId xmlns:a16="http://schemas.microsoft.com/office/drawing/2014/main" val="20001"/>
                    </a:ext>
                  </a:extLst>
                </a:gridCol>
                <a:gridCol w="1266019">
                  <a:extLst>
                    <a:ext uri="{9D8B030D-6E8A-4147-A177-3AD203B41FA5}">
                      <a16:colId xmlns:a16="http://schemas.microsoft.com/office/drawing/2014/main" val="20002"/>
                    </a:ext>
                  </a:extLst>
                </a:gridCol>
                <a:gridCol w="2882916">
                  <a:extLst>
                    <a:ext uri="{9D8B030D-6E8A-4147-A177-3AD203B41FA5}">
                      <a16:colId xmlns:a16="http://schemas.microsoft.com/office/drawing/2014/main" val="20003"/>
                    </a:ext>
                  </a:extLst>
                </a:gridCol>
                <a:gridCol w="3398077">
                  <a:extLst>
                    <a:ext uri="{9D8B030D-6E8A-4147-A177-3AD203B41FA5}">
                      <a16:colId xmlns:a16="http://schemas.microsoft.com/office/drawing/2014/main" val="20004"/>
                    </a:ext>
                  </a:extLst>
                </a:gridCol>
              </a:tblGrid>
              <a:tr h="312490">
                <a:tc gridSpan="5">
                  <a:txBody>
                    <a:bodyPr/>
                    <a:lstStyle/>
                    <a:p>
                      <a:endParaRPr lang="en-IN" sz="1500"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T w="12700" cmpd="sng">
                      <a:noFill/>
                    </a:lnT>
                  </a:tcPr>
                </a:tc>
                <a:extLst>
                  <a:ext uri="{0D108BD9-81ED-4DB2-BD59-A6C34878D82A}">
                    <a16:rowId xmlns:a16="http://schemas.microsoft.com/office/drawing/2014/main" val="10000"/>
                  </a:ext>
                </a:extLst>
              </a:tr>
              <a:tr h="2235899">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Detection of Multiple Sclerosis Using Deep Learning</a:t>
                      </a:r>
                      <a:endParaRPr lang="en-IN" sz="1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Authors: </a:t>
                      </a:r>
                      <a:r>
                        <a:rPr lang="en-IN" sz="1400" b="0" dirty="0">
                          <a:latin typeface="Times New Roman" panose="02020603050405020304" pitchFamily="18" charset="0"/>
                          <a:cs typeface="Times New Roman" panose="02020603050405020304" pitchFamily="18" charset="0"/>
                        </a:rPr>
                        <a:t>Ajitesh Singh, Aarthy S.T, Subham Saha, Alok Kumar</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2025</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Type: </a:t>
                      </a:r>
                      <a:r>
                        <a:rPr lang="en-US" sz="1400" b="0" dirty="0">
                          <a:latin typeface="Times New Roman" panose="02020603050405020304" pitchFamily="18" charset="0"/>
                          <a:cs typeface="Times New Roman" panose="02020603050405020304" pitchFamily="18" charset="0"/>
                        </a:rPr>
                        <a:t>Conference Paper (IEEE – International Conference on the Data Science and Business Systems (ICDSBS))</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Kaggle MRI dataset for classification (classes: Control Axial, Control Sagittal, MS Axial, MS Sagittal)</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The study combines U-Net for segmentation of MS lesions and </a:t>
                      </a:r>
                      <a:r>
                        <a:rPr lang="en-US" sz="1400" b="0" dirty="0" err="1">
                          <a:latin typeface="Times New Roman" panose="02020603050405020304" pitchFamily="18" charset="0"/>
                          <a:cs typeface="Times New Roman" panose="02020603050405020304" pitchFamily="18" charset="0"/>
                        </a:rPr>
                        <a:t>EfficientNet</a:t>
                      </a:r>
                      <a:r>
                        <a:rPr lang="en-US" sz="1400" b="0" dirty="0">
                          <a:latin typeface="Times New Roman" panose="02020603050405020304" pitchFamily="18" charset="0"/>
                          <a:cs typeface="Times New Roman" panose="02020603050405020304" pitchFamily="18" charset="0"/>
                        </a:rPr>
                        <a:t> with CBAM (Convolutional Block Attention Module) for classification. The integrated approach achieved 99.6% accuracy in lesion segmentation.</a:t>
                      </a:r>
                    </a:p>
                  </a:txBody>
                  <a:tcPr/>
                </a:tc>
                <a:tc>
                  <a:txBody>
                    <a:bodyPr/>
                    <a:lstStyle/>
                    <a:p>
                      <a:endParaRPr lang="en-US"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The model works really well, giving high accuracy in finding and classifying MS. But it sometimes misses early MS signs and was trained on small datasets, so it may not work the same on real hospital data. It also needs a lot of preprocessing, and even though a web app was made, more testing on real patients is needed to fully trust it.</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72548">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4.</a:t>
                      </a:r>
                    </a:p>
                  </a:txBody>
                  <a:tcPr/>
                </a:tc>
                <a:tc>
                  <a:txBody>
                    <a:bodyPr/>
                    <a:lstStyle/>
                    <a:p>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Alzheimer’s Disease (AD) Diagnosis from Brain MRI Image using Neural Network Algorithm.</a:t>
                      </a:r>
                    </a:p>
                    <a:p>
                      <a:r>
                        <a:rPr lang="en-IN" sz="1400" b="1" dirty="0">
                          <a:latin typeface="Times New Roman" panose="02020603050405020304" pitchFamily="18" charset="0"/>
                          <a:cs typeface="Times New Roman" panose="02020603050405020304" pitchFamily="18" charset="0"/>
                        </a:rPr>
                        <a:t>Authors:</a:t>
                      </a:r>
                      <a:r>
                        <a:rPr lang="en-IN" sz="1400" dirty="0">
                          <a:latin typeface="Times New Roman" panose="02020603050405020304" pitchFamily="18" charset="0"/>
                          <a:cs typeface="Times New Roman" panose="02020603050405020304" pitchFamily="18" charset="0"/>
                        </a:rPr>
                        <a:t> Ramesh L, </a:t>
                      </a:r>
                      <a:r>
                        <a:rPr lang="en-IN" sz="1400" dirty="0" err="1">
                          <a:latin typeface="Times New Roman" panose="02020603050405020304" pitchFamily="18" charset="0"/>
                          <a:cs typeface="Times New Roman" panose="02020603050405020304" pitchFamily="18" charset="0"/>
                        </a:rPr>
                        <a:t>P.S.Pooja</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Raasika</a:t>
                      </a:r>
                      <a:r>
                        <a:rPr lang="en-IN" sz="1400" dirty="0">
                          <a:latin typeface="Times New Roman" panose="02020603050405020304" pitchFamily="18" charset="0"/>
                          <a:cs typeface="Times New Roman" panose="02020603050405020304" pitchFamily="18" charset="0"/>
                        </a:rPr>
                        <a:t>,</a:t>
                      </a:r>
                    </a:p>
                    <a:p>
                      <a:r>
                        <a:rPr lang="en-IN" sz="1400" dirty="0" err="1">
                          <a:latin typeface="Times New Roman" panose="02020603050405020304" pitchFamily="18" charset="0"/>
                          <a:cs typeface="Times New Roman" panose="02020603050405020304" pitchFamily="18" charset="0"/>
                        </a:rPr>
                        <a:t>B.Rithika</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shree</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Prof. Deepak S. Chaudhari.</a:t>
                      </a:r>
                    </a:p>
                    <a:p>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2023</a:t>
                      </a:r>
                    </a:p>
                    <a:p>
                      <a:r>
                        <a:rPr lang="en-IN" sz="1400" b="1" dirty="0">
                          <a:latin typeface="Times New Roman" panose="02020603050405020304" pitchFamily="18" charset="0"/>
                          <a:cs typeface="Times New Roman" panose="02020603050405020304" pitchFamily="18" charset="0"/>
                        </a:rPr>
                        <a:t>Type: </a:t>
                      </a:r>
                      <a:r>
                        <a:rPr lang="en-IN" sz="1400" b="0" dirty="0">
                          <a:latin typeface="Times New Roman" panose="02020603050405020304" pitchFamily="18" charset="0"/>
                          <a:cs typeface="Times New Roman" panose="02020603050405020304" pitchFamily="18" charset="0"/>
                        </a:rPr>
                        <a:t>IEEE </a:t>
                      </a:r>
                      <a:r>
                        <a:rPr lang="en-IN" sz="1400" dirty="0">
                          <a:latin typeface="Times New Roman" panose="02020603050405020304" pitchFamily="18" charset="0"/>
                          <a:cs typeface="Times New Roman" panose="02020603050405020304" pitchFamily="18" charset="0"/>
                        </a:rPr>
                        <a:t>Conference</a:t>
                      </a:r>
                      <a:endParaRPr lang="en-US" sz="1400" b="0" i="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Kaggle Alzheimer’s Disease MRI Dataset,</a:t>
                      </a:r>
                    </a:p>
                    <a:p>
                      <a:r>
                        <a:rPr lang="en-IN" sz="1400" dirty="0">
                          <a:latin typeface="Times New Roman" panose="02020603050405020304" pitchFamily="18" charset="0"/>
                          <a:cs typeface="Times New Roman" panose="02020603050405020304" pitchFamily="18" charset="0"/>
                        </a:rPr>
                        <a:t>OASIS  dataset.</a:t>
                      </a:r>
                    </a:p>
                    <a:p>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IN" sz="1400" dirty="0">
                          <a:latin typeface="Times New Roman" panose="02020603050405020304" pitchFamily="18" charset="0"/>
                          <a:cs typeface="Times New Roman" panose="02020603050405020304" pitchFamily="18" charset="0"/>
                        </a:rPr>
                        <a:t>Convolutional Neural Network (CNN) and Artificial Neural Network (ANN) algorithms are used. </a:t>
                      </a:r>
                      <a:r>
                        <a:rPr lang="en-US" sz="1400" b="0" dirty="0">
                          <a:latin typeface="Times New Roman" panose="02020603050405020304" pitchFamily="18" charset="0"/>
                          <a:cs typeface="Times New Roman" panose="02020603050405020304" pitchFamily="18" charset="0"/>
                        </a:rPr>
                        <a:t>The model achieved an accuracy of 92.85% using CNN.</a:t>
                      </a:r>
                    </a:p>
                    <a:p>
                      <a:pPr algn="l"/>
                      <a:r>
                        <a:rPr lang="en-US" sz="1400" b="0" dirty="0">
                          <a:latin typeface="Times New Roman" panose="02020603050405020304" pitchFamily="18" charset="0"/>
                          <a:cs typeface="Times New Roman" panose="02020603050405020304" pitchFamily="18" charset="0"/>
                        </a:rPr>
                        <a:t>The ANN-based model achieved slightly lower performance compared to CNN.</a:t>
                      </a:r>
                    </a:p>
                    <a:p>
                      <a:r>
                        <a:rPr lang="en-IN" sz="1400" b="0"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model may not work well on MRI images from different hospitals because the image quality can vary. It also needs a powerful computer to run, so it’s hard to use in places with limited resources. The model only uses images and doesn’t include patient history or medical details, which could help make better predictions.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784774">
                <a:tc>
                  <a:txBody>
                    <a:bodyPr/>
                    <a:lstStyle/>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5.</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Automated Brain Disease Diagnosis and Patient Support System</a:t>
                      </a:r>
                    </a:p>
                    <a:p>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Vani Lavanya N, Santhosh </a:t>
                      </a:r>
                      <a:r>
                        <a:rPr lang="en-IN" sz="1400" dirty="0" err="1">
                          <a:latin typeface="Times New Roman" panose="02020603050405020304" pitchFamily="18" charset="0"/>
                          <a:cs typeface="Times New Roman" panose="02020603050405020304" pitchFamily="18" charset="0"/>
                        </a:rPr>
                        <a:t>B,Sai</a:t>
                      </a:r>
                      <a:r>
                        <a:rPr lang="en-IN" sz="1400" dirty="0">
                          <a:latin typeface="Times New Roman" panose="02020603050405020304" pitchFamily="18" charset="0"/>
                          <a:cs typeface="Times New Roman" panose="02020603050405020304" pitchFamily="18" charset="0"/>
                        </a:rPr>
                        <a:t> Shree Ram Balaji.</a:t>
                      </a:r>
                    </a:p>
                    <a:p>
                      <a:r>
                        <a:rPr lang="en-US" sz="1400" b="1" dirty="0">
                          <a:latin typeface="Times New Roman" panose="02020603050405020304" pitchFamily="18" charset="0"/>
                          <a:cs typeface="Times New Roman" panose="02020603050405020304" pitchFamily="18" charset="0"/>
                        </a:rPr>
                        <a:t>Publication Year:</a:t>
                      </a:r>
                      <a:r>
                        <a:rPr lang="en-US" sz="1400" dirty="0">
                          <a:latin typeface="Times New Roman" panose="02020603050405020304" pitchFamily="18" charset="0"/>
                          <a:cs typeface="Times New Roman" panose="02020603050405020304" pitchFamily="18" charset="0"/>
                        </a:rPr>
                        <a:t> 2023</a:t>
                      </a:r>
                    </a:p>
                    <a:p>
                      <a:r>
                        <a:rPr lang="en-US" sz="1400" b="1" dirty="0">
                          <a:latin typeface="Times New Roman" panose="02020603050405020304" pitchFamily="18" charset="0"/>
                          <a:cs typeface="Times New Roman" panose="02020603050405020304" pitchFamily="18" charset="0"/>
                        </a:rPr>
                        <a:t>Type:</a:t>
                      </a:r>
                      <a:r>
                        <a:rPr lang="en-US" sz="1400" dirty="0">
                          <a:latin typeface="Times New Roman" panose="02020603050405020304" pitchFamily="18" charset="0"/>
                          <a:cs typeface="Times New Roman" panose="02020603050405020304" pitchFamily="18" charset="0"/>
                        </a:rPr>
                        <a:t> IEEE Conference </a:t>
                      </a:r>
                      <a:endParaRPr lang="en-US"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IN" sz="1400" b="0" dirty="0">
                          <a:latin typeface="Times New Roman" panose="02020603050405020304" pitchFamily="18" charset="0"/>
                          <a:cs typeface="Times New Roman" panose="02020603050405020304" pitchFamily="18" charset="0"/>
                        </a:rPr>
                        <a:t>Alzheimer's dataset (MRI scans)</a:t>
                      </a:r>
                    </a:p>
                    <a:p>
                      <a:pPr marL="0" marR="0" lvl="0" indent="0" algn="just" defTabSz="914400" rtl="0" eaLnBrk="1" fontAlgn="auto" latinLnBrk="0" hangingPunct="1">
                        <a:lnSpc>
                          <a:spcPct val="100000"/>
                        </a:lnSpc>
                        <a:spcBef>
                          <a:spcPts val="0"/>
                        </a:spcBef>
                        <a:spcAft>
                          <a:spcPts val="0"/>
                        </a:spcAft>
                        <a:buClrTx/>
                        <a:buSzTx/>
                        <a:buFontTx/>
                        <a:buNone/>
                        <a:defRPr/>
                      </a:pPr>
                      <a:r>
                        <a:rPr lang="en-IN" sz="1400" b="0" dirty="0">
                          <a:latin typeface="Times New Roman" panose="02020603050405020304" pitchFamily="18" charset="0"/>
                          <a:cs typeface="Times New Roman" panose="02020603050405020304" pitchFamily="18" charset="0"/>
                        </a:rPr>
                        <a:t>Brain </a:t>
                      </a:r>
                      <a:r>
                        <a:rPr lang="en-IN" sz="1400" b="0" dirty="0" err="1">
                          <a:latin typeface="Times New Roman" panose="02020603050405020304" pitchFamily="18" charset="0"/>
                          <a:cs typeface="Times New Roman" panose="02020603050405020304" pitchFamily="18" charset="0"/>
                        </a:rPr>
                        <a:t>Tumor</a:t>
                      </a:r>
                      <a:r>
                        <a:rPr lang="en-IN" sz="1400" b="0" dirty="0">
                          <a:latin typeface="Times New Roman" panose="02020603050405020304" pitchFamily="18" charset="0"/>
                          <a:cs typeface="Times New Roman" panose="02020603050405020304" pitchFamily="18" charset="0"/>
                        </a:rPr>
                        <a:t> dataset (MRI scans) from Kaggle.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The model accurately classified healthy and diseased brain MRIs, including various Alzheimer’s stages and brain tumor types.</a:t>
                      </a:r>
                    </a:p>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CNN achieved 91% accuracy, VGG16 reached 94%, while </a:t>
                      </a:r>
                      <a:r>
                        <a:rPr lang="en-US" sz="1400" dirty="0" err="1">
                          <a:latin typeface="Times New Roman" panose="02020603050405020304" pitchFamily="18" charset="0"/>
                          <a:cs typeface="Times New Roman" panose="02020603050405020304" pitchFamily="18" charset="0"/>
                        </a:rPr>
                        <a:t>EfficientNet</a:t>
                      </a:r>
                      <a:r>
                        <a:rPr lang="en-US" sz="1400" dirty="0">
                          <a:latin typeface="Times New Roman" panose="02020603050405020304" pitchFamily="18" charset="0"/>
                          <a:cs typeface="Times New Roman" panose="02020603050405020304" pitchFamily="18" charset="0"/>
                        </a:rPr>
                        <a:t> outperformed both with 95% accuracy.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If the MRI images come from different hospitals or machines not covered in the training data, the model may not perform well. It also requires high processing power, making it difficult to run on simple or portable devices. Early detection is still a problem because minor changes in the brain may not be captured clearly by the model.</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lstStyle/>
          <a:p>
            <a:r>
              <a:rPr lang="en-US" sz="3600" dirty="0">
                <a:latin typeface="Times New Roman" panose="02020603050405020304" pitchFamily="18" charset="0"/>
                <a:cs typeface="Times New Roman" panose="02020603050405020304" pitchFamily="18" charset="0"/>
              </a:rPr>
              <a:t>Datasets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8517" y="1255222"/>
            <a:ext cx="11430058" cy="5402638"/>
          </a:xfrm>
        </p:spPr>
        <p:txBody>
          <a:bodyPr/>
          <a:lstStyle/>
          <a:p>
            <a:pPr marL="0" indent="0">
              <a:buNone/>
            </a:pPr>
            <a:r>
              <a:rPr lang="en-IN" sz="1800" dirty="0">
                <a:latin typeface="Times New Roman" panose="02020603050405020304" pitchFamily="18" charset="0"/>
                <a:cs typeface="Times New Roman" panose="02020603050405020304" pitchFamily="18" charset="0"/>
              </a:rPr>
              <a:t>This project utilizes three publicly available MRI datasets from Kaggle for multi-disease brain classification:</a:t>
            </a:r>
          </a:p>
          <a:p>
            <a:pPr>
              <a:buFont typeface="+mj-lt"/>
              <a:buAutoNum type="arabicPeriod"/>
            </a:pPr>
            <a:r>
              <a:rPr lang="en-IN" sz="1800" b="1" dirty="0">
                <a:latin typeface="Times New Roman" panose="02020603050405020304" pitchFamily="18" charset="0"/>
                <a:cs typeface="Times New Roman" panose="02020603050405020304" pitchFamily="18" charset="0"/>
              </a:rPr>
              <a:t>Alzheimer’s Disease Dataset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Contains ~33,984 MRI images categorized into four stages: Mild Demented, Moderate Demented, Non-Demented, and Very Mild Demented. This dataset helps in identifying the progression stages of Alzheimer’s disease. </a:t>
            </a:r>
          </a:p>
          <a:p>
            <a:pPr>
              <a:buFont typeface="+mj-lt"/>
              <a:buAutoNum type="arabicPeriod"/>
            </a:pPr>
            <a:r>
              <a:rPr lang="en-IN" sz="1800" b="1" dirty="0">
                <a:latin typeface="Times New Roman" panose="02020603050405020304" pitchFamily="18" charset="0"/>
                <a:cs typeface="Times New Roman" panose="02020603050405020304" pitchFamily="18" charset="0"/>
              </a:rPr>
              <a:t>Brain </a:t>
            </a:r>
            <a:r>
              <a:rPr lang="en-IN" sz="1800" b="1" dirty="0" err="1">
                <a:latin typeface="Times New Roman" panose="02020603050405020304" pitchFamily="18" charset="0"/>
                <a:cs typeface="Times New Roman" panose="02020603050405020304" pitchFamily="18" charset="0"/>
              </a:rPr>
              <a:t>Tumor</a:t>
            </a:r>
            <a:r>
              <a:rPr lang="en-IN" sz="1800" b="1" dirty="0">
                <a:latin typeface="Times New Roman" panose="02020603050405020304" pitchFamily="18" charset="0"/>
                <a:cs typeface="Times New Roman" panose="02020603050405020304" pitchFamily="18" charset="0"/>
              </a:rPr>
              <a:t> Dataset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Includes ~21,700 high-quality MRI images divided into four classes: Glioma, Meningioma, Pituitary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and Normal. It is used for accurate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detection and classification. </a:t>
            </a:r>
          </a:p>
          <a:p>
            <a:pPr>
              <a:buFont typeface="+mj-lt"/>
              <a:buAutoNum type="arabicPeriod"/>
            </a:pPr>
            <a:r>
              <a:rPr lang="en-IN" sz="1800" b="1" dirty="0">
                <a:latin typeface="Times New Roman" panose="02020603050405020304" pitchFamily="18" charset="0"/>
                <a:cs typeface="Times New Roman" panose="02020603050405020304" pitchFamily="18" charset="0"/>
              </a:rPr>
              <a:t>Multiple Sclerosis (MS) Dataset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Comprises 3,427 MRI images collected from patients and healthy individuals, categorized into Control (Axial &amp; Sagittal) and MS (Axial &amp; Sagittal) classes</a:t>
            </a:r>
          </a:p>
          <a:p>
            <a:pPr marL="0" indent="0" algn="just">
              <a:lnSpc>
                <a:spcPct val="100000"/>
              </a:lnSpc>
              <a:buNone/>
            </a:pPr>
            <a:endParaRPr lang="en-IN" sz="1800" dirty="0">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5E82F856-F150-42A2-C67E-FA7EE5D1D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778" y="4562223"/>
            <a:ext cx="10421388" cy="1595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r>
              <a:rPr lang="en-IN" sz="3600" dirty="0">
                <a:latin typeface="Times New Roman" panose="02020603050405020304" pitchFamily="18" charset="0"/>
                <a:cs typeface="Times New Roman" panose="02020603050405020304" pitchFamily="18" charset="0"/>
              </a:rPr>
              <a:t>Methodology</a:t>
            </a:r>
          </a:p>
        </p:txBody>
      </p:sp>
      <p:sp>
        <p:nvSpPr>
          <p:cNvPr id="10" name="TextBox 9">
            <a:extLst>
              <a:ext uri="{FF2B5EF4-FFF2-40B4-BE49-F238E27FC236}">
                <a16:creationId xmlns:a16="http://schemas.microsoft.com/office/drawing/2014/main" id="{468B3B80-B65D-C572-E72B-0E6BD6ED12EB}"/>
              </a:ext>
            </a:extLst>
          </p:cNvPr>
          <p:cNvSpPr txBox="1"/>
          <p:nvPr/>
        </p:nvSpPr>
        <p:spPr>
          <a:xfrm>
            <a:off x="421179" y="1213657"/>
            <a:ext cx="11770821" cy="590931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Dataset Collection </a:t>
            </a:r>
            <a:r>
              <a:rPr lang="en-IN" dirty="0">
                <a:latin typeface="Times New Roman" panose="02020603050405020304" pitchFamily="18" charset="0"/>
                <a:cs typeface="Times New Roman" panose="02020603050405020304" pitchFamily="18" charset="0"/>
              </a:rPr>
              <a:t>: MRI datasets for Brain </a:t>
            </a:r>
            <a:r>
              <a:rPr lang="en-IN" dirty="0" err="1">
                <a:latin typeface="Times New Roman" panose="02020603050405020304" pitchFamily="18" charset="0"/>
                <a:cs typeface="Times New Roman" panose="02020603050405020304" pitchFamily="18" charset="0"/>
              </a:rPr>
              <a:t>Tumor</a:t>
            </a:r>
            <a:r>
              <a:rPr lang="en-IN" dirty="0">
                <a:latin typeface="Times New Roman" panose="02020603050405020304" pitchFamily="18" charset="0"/>
                <a:cs typeface="Times New Roman" panose="02020603050405020304" pitchFamily="18" charset="0"/>
              </a:rPr>
              <a:t>, Alzheimer’s, and Multiple Sclerosis were collected from Kaggle and balanced to ensure equal representation of all classes.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Data Preprocessing </a:t>
            </a:r>
            <a:r>
              <a:rPr lang="en-IN" dirty="0">
                <a:latin typeface="Times New Roman" panose="02020603050405020304" pitchFamily="18" charset="0"/>
                <a:cs typeface="Times New Roman" panose="02020603050405020304" pitchFamily="18" charset="0"/>
              </a:rPr>
              <a:t>:Images were resized (224×224 / 227×227), normalized (0–1 range), and converted from grayscale to RGB to match model input requirements.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Model Development</a:t>
            </a:r>
          </a:p>
          <a:p>
            <a:r>
              <a:rPr lang="en-IN" dirty="0">
                <a:latin typeface="Times New Roman" panose="02020603050405020304" pitchFamily="18" charset="0"/>
                <a:cs typeface="Times New Roman" panose="02020603050405020304" pitchFamily="18" charset="0"/>
              </a:rPr>
              <a:t>  EfficientNet-B3 (Primary Model): Used for high accuracy and efficient feature extraction through compound scaling, enabling better performance with fewer parameters.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AlexNet</a:t>
            </a:r>
            <a:r>
              <a:rPr lang="en-IN" dirty="0">
                <a:latin typeface="Times New Roman" panose="02020603050405020304" pitchFamily="18" charset="0"/>
                <a:cs typeface="Times New Roman" panose="02020603050405020304" pitchFamily="18" charset="0"/>
              </a:rPr>
              <a:t> (Baseline Model): Used for performance comparison as a traditional CNN architecture, helping evaluate improvements achieved by </a:t>
            </a:r>
            <a:r>
              <a:rPr lang="en-IN" dirty="0" err="1">
                <a:latin typeface="Times New Roman" panose="02020603050405020304" pitchFamily="18" charset="0"/>
                <a:cs typeface="Times New Roman" panose="02020603050405020304" pitchFamily="18" charset="0"/>
              </a:rPr>
              <a:t>EfficientNet</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Training &amp; Evaluation </a:t>
            </a:r>
            <a:r>
              <a:rPr lang="en-IN" dirty="0">
                <a:latin typeface="Times New Roman" panose="02020603050405020304" pitchFamily="18" charset="0"/>
                <a:cs typeface="Times New Roman" panose="02020603050405020304" pitchFamily="18" charset="0"/>
              </a:rPr>
              <a:t>: Dataset split into Training (70%), Validation (15%), and Testing (15%). Models trained using </a:t>
            </a:r>
            <a:r>
              <a:rPr lang="en-IN" dirty="0" err="1">
                <a:latin typeface="Times New Roman" panose="02020603050405020304" pitchFamily="18" charset="0"/>
                <a:cs typeface="Times New Roman" panose="02020603050405020304" pitchFamily="18" charset="0"/>
              </a:rPr>
              <a:t>Adamax</a:t>
            </a:r>
            <a:r>
              <a:rPr lang="en-IN" dirty="0">
                <a:latin typeface="Times New Roman" panose="02020603050405020304" pitchFamily="18" charset="0"/>
                <a:cs typeface="Times New Roman" panose="02020603050405020304" pitchFamily="18" charset="0"/>
              </a:rPr>
              <a:t> optimizer and categorical cross-entropy loss.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Explainable AI (LIME) </a:t>
            </a:r>
            <a:r>
              <a:rPr lang="en-IN" dirty="0">
                <a:latin typeface="Times New Roman" panose="02020603050405020304" pitchFamily="18" charset="0"/>
                <a:cs typeface="Times New Roman" panose="02020603050405020304" pitchFamily="18" charset="0"/>
              </a:rPr>
              <a:t>:LIME generates heatmaps to highlight important regions in MRI scans, improving interpretability and trust.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6.Deployment</a:t>
            </a:r>
            <a:r>
              <a:rPr lang="en-IN" dirty="0">
                <a:latin typeface="Times New Roman" panose="02020603050405020304" pitchFamily="18" charset="0"/>
                <a:cs typeface="Times New Roman" panose="02020603050405020304" pitchFamily="18" charset="0"/>
              </a:rPr>
              <a:t> :Integrated into a Flask-based web application for MRI upload, prediction, and result visualization.</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595"/>
            <a:ext cx="12192000" cy="1143000"/>
          </a:xfrm>
        </p:spPr>
        <p:txBody>
          <a:bodyPr/>
          <a:lstStyle/>
          <a:p>
            <a:r>
              <a:rPr lang="en-US" sz="3600" dirty="0">
                <a:latin typeface="Times New Roman" panose="02020603050405020304" pitchFamily="18" charset="0"/>
                <a:cs typeface="Times New Roman" panose="02020603050405020304" pitchFamily="18" charset="0"/>
              </a:rPr>
              <a:t>Algorithms Involved </a:t>
            </a:r>
            <a:endParaRPr lang="en-IN" sz="3600" b="1" dirty="0"/>
          </a:p>
        </p:txBody>
      </p:sp>
      <p:sp>
        <p:nvSpPr>
          <p:cNvPr id="3" name="Content Placeholder 2"/>
          <p:cNvSpPr>
            <a:spLocks noGrp="1"/>
          </p:cNvSpPr>
          <p:nvPr>
            <p:ph idx="1"/>
          </p:nvPr>
        </p:nvSpPr>
        <p:spPr>
          <a:xfrm>
            <a:off x="612140" y="1012190"/>
            <a:ext cx="9178925" cy="5845810"/>
          </a:xfrm>
        </p:spPr>
        <p:txBody>
          <a:bodyPr/>
          <a:lstStyle/>
          <a:p>
            <a:pPr marL="0" indent="0" algn="just">
              <a:lnSpc>
                <a:spcPct val="100000"/>
              </a:lnSpc>
              <a:buNone/>
            </a:pPr>
            <a:r>
              <a:rPr lang="en-US" sz="1800" b="1" dirty="0">
                <a:latin typeface="Times New Roman" panose="02020603050405020304" pitchFamily="18" charset="0"/>
                <a:cs typeface="Times New Roman" panose="02020603050405020304" pitchFamily="18" charset="0"/>
              </a:rPr>
              <a:t>EfficientNet-B3</a:t>
            </a:r>
            <a:r>
              <a:rPr lang="en-US" sz="1800" dirty="0">
                <a:latin typeface="Times New Roman" panose="02020603050405020304" pitchFamily="18" charset="0"/>
                <a:cs typeface="Times New Roman" panose="02020603050405020304" pitchFamily="18" charset="0"/>
              </a:rPr>
              <a:t>:</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1 – The model takes 244×244×3 RGB images, normalized using </a:t>
            </a:r>
            <a:r>
              <a:rPr lang="en-US" sz="1800" dirty="0" err="1">
                <a:latin typeface="Times New Roman" panose="02020603050405020304" pitchFamily="18" charset="0"/>
                <a:cs typeface="Times New Roman" panose="02020603050405020304" pitchFamily="18" charset="0"/>
              </a:rPr>
              <a:t>EfficientNet’s</a:t>
            </a:r>
            <a:r>
              <a:rPr lang="en-US" sz="1800" dirty="0">
                <a:latin typeface="Times New Roman" panose="02020603050405020304" pitchFamily="18" charset="0"/>
                <a:cs typeface="Times New Roman" panose="02020603050405020304" pitchFamily="18" charset="0"/>
              </a:rPr>
              <a:t> preprocessing for faster convergence.</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2 – A pretrained EfficientNetB3 (ImageNet, 449 layers) serves as a feature extractor. Fine-tuning starts from block6a_expand_conv, enabling adaptation of learned features to brain disease patterns while reducing training time.</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3 – Global Max Pooling reduces spatial dimensions, then the features are flattened into a 1D vector for dense layers.</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4 – Dropout (0.3) randomly deactivates neurons to prevent overfitting and improve generalization.</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5 – Dense layer with 128 neurons and </a:t>
            </a:r>
            <a:r>
              <a:rPr lang="en-US" sz="1800" dirty="0" err="1">
                <a:latin typeface="Times New Roman" panose="02020603050405020304" pitchFamily="18" charset="0"/>
                <a:cs typeface="Times New Roman" panose="02020603050405020304" pitchFamily="18" charset="0"/>
              </a:rPr>
              <a:t>ReLU</a:t>
            </a:r>
            <a:r>
              <a:rPr lang="en-US" sz="1800" dirty="0">
                <a:latin typeface="Times New Roman" panose="02020603050405020304" pitchFamily="18" charset="0"/>
                <a:cs typeface="Times New Roman" panose="02020603050405020304" pitchFamily="18" charset="0"/>
              </a:rPr>
              <a:t> captures complex patterns for better class separation.</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6 – Dropout (0.25) further reduces overfitting after the dense layer.</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Step 7 – The final layer has 12 neurons with </a:t>
            </a:r>
            <a:r>
              <a:rPr lang="en-US" sz="1800" dirty="0" err="1">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 activation, producing a probability distribution across brain disease classes, enabling the model to make confident, interpretable predictions.</a:t>
            </a:r>
          </a:p>
        </p:txBody>
      </p:sp>
      <p:pic>
        <p:nvPicPr>
          <p:cNvPr id="5" name="Picture 4"/>
          <p:cNvPicPr>
            <a:picLocks noChangeAspect="1"/>
          </p:cNvPicPr>
          <p:nvPr/>
        </p:nvPicPr>
        <p:blipFill>
          <a:blip r:embed="rId2"/>
          <a:stretch>
            <a:fillRect/>
          </a:stretch>
        </p:blipFill>
        <p:spPr>
          <a:xfrm>
            <a:off x="9790983" y="886234"/>
            <a:ext cx="2363937" cy="58456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806" y="68580"/>
            <a:ext cx="9572353" cy="6713220"/>
          </a:xfrm>
        </p:spPr>
        <p:txBody>
          <a:bodyPr/>
          <a:lstStyle/>
          <a:p>
            <a:pPr marL="0" marR="0" lvl="0" indent="0" algn="just" defTabSz="914400" eaLnBrk="1" fontAlgn="base" latinLnBrk="0" hangingPunct="1">
              <a:lnSpc>
                <a:spcPct val="150000"/>
              </a:lnSpc>
              <a:spcBef>
                <a:spcPct val="20000"/>
              </a:spcBef>
              <a:spcAft>
                <a:spcPct val="0"/>
              </a:spcAft>
              <a:buClrTx/>
              <a:buSzTx/>
              <a:buFontTx/>
              <a:buNone/>
              <a:defRPr/>
            </a:pPr>
            <a:r>
              <a:rPr kumimoji="0" lang="en-US" sz="1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AlexNet</a:t>
            </a: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Step 1 – Input Layer </a:t>
            </a:r>
          </a:p>
          <a:p>
            <a:pPr algn="just"/>
            <a:r>
              <a:rPr lang="en-US" sz="1800" dirty="0">
                <a:latin typeface="Times New Roman" panose="02020603050405020304" pitchFamily="18" charset="0"/>
                <a:cs typeface="Times New Roman" panose="02020603050405020304" pitchFamily="18" charset="0"/>
              </a:rPr>
              <a:t>The model accepts an input image of size 227 × 227 × 3 (RGB).</a:t>
            </a:r>
          </a:p>
          <a:p>
            <a:pPr marL="0" indent="0" algn="just">
              <a:buNone/>
            </a:pPr>
            <a:r>
              <a:rPr lang="en-US" sz="1800" dirty="0">
                <a:latin typeface="Times New Roman" panose="02020603050405020304" pitchFamily="18" charset="0"/>
                <a:cs typeface="Times New Roman" panose="02020603050405020304" pitchFamily="18" charset="0"/>
              </a:rPr>
              <a:t>Step 2 – Feature Extraction (Convolution + Pooling Layers)</a:t>
            </a:r>
          </a:p>
          <a:p>
            <a:pPr algn="just"/>
            <a:r>
              <a:rPr lang="en-US" sz="1800" dirty="0">
                <a:latin typeface="Times New Roman" panose="02020603050405020304" pitchFamily="18" charset="0"/>
                <a:cs typeface="Times New Roman" panose="02020603050405020304" pitchFamily="18" charset="0"/>
              </a:rPr>
              <a:t>Conv Layer 1: Extracts basic low-level features (edges, textures) using 96 filters (11×11 kernel, stride 4) followed by </a:t>
            </a:r>
            <a:r>
              <a:rPr lang="en-US" sz="1800" dirty="0" err="1">
                <a:latin typeface="Times New Roman" panose="02020603050405020304" pitchFamily="18" charset="0"/>
                <a:cs typeface="Times New Roman" panose="02020603050405020304" pitchFamily="18" charset="0"/>
              </a:rPr>
              <a:t>MaxPooling</a:t>
            </a:r>
            <a:r>
              <a:rPr lang="en-US" sz="1800" dirty="0">
                <a:latin typeface="Times New Roman" panose="02020603050405020304" pitchFamily="18" charset="0"/>
                <a:cs typeface="Times New Roman" panose="02020603050405020304" pitchFamily="18" charset="0"/>
              </a:rPr>
              <a:t> (3×3, stride 2) to reduce spatial dimensions.</a:t>
            </a:r>
          </a:p>
          <a:p>
            <a:pPr algn="just"/>
            <a:r>
              <a:rPr lang="en-US" sz="1800" dirty="0">
                <a:latin typeface="Times New Roman" panose="02020603050405020304" pitchFamily="18" charset="0"/>
                <a:cs typeface="Times New Roman" panose="02020603050405020304" pitchFamily="18" charset="0"/>
              </a:rPr>
              <a:t>Conv Layer 2: Learns more complex patterns with 256 filters (5×5 kernel, same padding) followed by another </a:t>
            </a:r>
            <a:r>
              <a:rPr lang="en-US" sz="1800" dirty="0" err="1">
                <a:latin typeface="Times New Roman" panose="02020603050405020304" pitchFamily="18" charset="0"/>
                <a:cs typeface="Times New Roman" panose="02020603050405020304" pitchFamily="18" charset="0"/>
              </a:rPr>
              <a:t>MaxPooling</a:t>
            </a:r>
            <a:r>
              <a:rPr lang="en-US" sz="1800" dirty="0">
                <a:latin typeface="Times New Roman" panose="02020603050405020304" pitchFamily="18" charset="0"/>
                <a:cs typeface="Times New Roman" panose="02020603050405020304" pitchFamily="18" charset="0"/>
              </a:rPr>
              <a:t> (3×3, stride 2).</a:t>
            </a:r>
          </a:p>
          <a:p>
            <a:pPr algn="just"/>
            <a:r>
              <a:rPr lang="en-US" sz="1800" dirty="0">
                <a:latin typeface="Times New Roman" panose="02020603050405020304" pitchFamily="18" charset="0"/>
                <a:cs typeface="Times New Roman" panose="02020603050405020304" pitchFamily="18" charset="0"/>
              </a:rPr>
              <a:t>Conv Layers 3, 4, 5: Further extract high-level features using multiple Conv2D layers (384 → 384 → 256 filters, all with 3×3 kernels, same padding).</a:t>
            </a:r>
          </a:p>
          <a:p>
            <a:pPr algn="just"/>
            <a:r>
              <a:rPr lang="en-US" sz="1800" dirty="0">
                <a:latin typeface="Times New Roman" panose="02020603050405020304" pitchFamily="18" charset="0"/>
                <a:cs typeface="Times New Roman" panose="02020603050405020304" pitchFamily="18" charset="0"/>
              </a:rPr>
              <a:t>Final </a:t>
            </a:r>
            <a:r>
              <a:rPr lang="en-US" sz="1800" dirty="0" err="1">
                <a:latin typeface="Times New Roman" panose="02020603050405020304" pitchFamily="18" charset="0"/>
                <a:cs typeface="Times New Roman" panose="02020603050405020304" pitchFamily="18" charset="0"/>
              </a:rPr>
              <a:t>MaxPooling</a:t>
            </a:r>
            <a:r>
              <a:rPr lang="en-US" sz="1800" dirty="0">
                <a:latin typeface="Times New Roman" panose="02020603050405020304" pitchFamily="18" charset="0"/>
                <a:cs typeface="Times New Roman" panose="02020603050405020304" pitchFamily="18" charset="0"/>
              </a:rPr>
              <a:t> (3×3, stride 2) reduces feature map size for efficient processing.</a:t>
            </a:r>
          </a:p>
          <a:p>
            <a:pPr marL="0" indent="0" algn="just">
              <a:buNone/>
            </a:pPr>
            <a:r>
              <a:rPr lang="en-US" sz="1800" dirty="0">
                <a:latin typeface="Times New Roman" panose="02020603050405020304" pitchFamily="18" charset="0"/>
                <a:cs typeface="Times New Roman" panose="02020603050405020304" pitchFamily="18" charset="0"/>
              </a:rPr>
              <a:t>Step 3 – Flatten Layer </a:t>
            </a:r>
          </a:p>
          <a:p>
            <a:pPr algn="just"/>
            <a:r>
              <a:rPr lang="en-US" sz="1800" dirty="0">
                <a:latin typeface="Times New Roman" panose="02020603050405020304" pitchFamily="18" charset="0"/>
                <a:cs typeface="Times New Roman" panose="02020603050405020304" pitchFamily="18" charset="0"/>
              </a:rPr>
              <a:t>This will Converts the final 3D feature maps into a 1D feature vector, preparing the data for the fully connected layers.</a:t>
            </a:r>
          </a:p>
          <a:p>
            <a:pPr marL="0" indent="0" algn="just">
              <a:buNone/>
            </a:pPr>
            <a:r>
              <a:rPr lang="en-US" sz="1800" dirty="0">
                <a:latin typeface="Times New Roman" panose="02020603050405020304" pitchFamily="18" charset="0"/>
                <a:cs typeface="Times New Roman" panose="02020603050405020304" pitchFamily="18" charset="0"/>
              </a:rPr>
              <a:t>Step 4 – Fully Connected Layers</a:t>
            </a:r>
          </a:p>
          <a:p>
            <a:pPr algn="just"/>
            <a:r>
              <a:rPr lang="en-US" sz="1800" dirty="0">
                <a:latin typeface="Times New Roman" panose="02020603050405020304" pitchFamily="18" charset="0"/>
                <a:cs typeface="Times New Roman" panose="02020603050405020304" pitchFamily="18" charset="0"/>
              </a:rPr>
              <a:t>First Dense Layer: 4096 neurons + </a:t>
            </a:r>
            <a:r>
              <a:rPr lang="en-US" sz="1800" dirty="0" err="1">
                <a:latin typeface="Times New Roman" panose="02020603050405020304" pitchFamily="18" charset="0"/>
                <a:cs typeface="Times New Roman" panose="02020603050405020304" pitchFamily="18" charset="0"/>
              </a:rPr>
              <a:t>ReLU</a:t>
            </a:r>
            <a:r>
              <a:rPr lang="en-US" sz="1800" dirty="0">
                <a:latin typeface="Times New Roman" panose="02020603050405020304" pitchFamily="18" charset="0"/>
                <a:cs typeface="Times New Roman" panose="02020603050405020304" pitchFamily="18" charset="0"/>
              </a:rPr>
              <a:t> activation + Dropout (0.5) → Helps prevent overfitting.</a:t>
            </a:r>
          </a:p>
          <a:p>
            <a:pPr algn="just"/>
            <a:r>
              <a:rPr lang="en-US" sz="1800" dirty="0">
                <a:latin typeface="Times New Roman" panose="02020603050405020304" pitchFamily="18" charset="0"/>
                <a:cs typeface="Times New Roman" panose="02020603050405020304" pitchFamily="18" charset="0"/>
              </a:rPr>
              <a:t>Second Dense Layer: 4096 neurons + </a:t>
            </a:r>
            <a:r>
              <a:rPr lang="en-US" sz="1800" dirty="0" err="1">
                <a:latin typeface="Times New Roman" panose="02020603050405020304" pitchFamily="18" charset="0"/>
                <a:cs typeface="Times New Roman" panose="02020603050405020304" pitchFamily="18" charset="0"/>
              </a:rPr>
              <a:t>ReLU</a:t>
            </a:r>
            <a:r>
              <a:rPr lang="en-US" sz="1800" dirty="0">
                <a:latin typeface="Times New Roman" panose="02020603050405020304" pitchFamily="18" charset="0"/>
                <a:cs typeface="Times New Roman" panose="02020603050405020304" pitchFamily="18" charset="0"/>
              </a:rPr>
              <a:t> activation + Dropout (0.5) → Improves model generalization.</a:t>
            </a:r>
          </a:p>
          <a:p>
            <a:pPr marL="0" indent="0" algn="just">
              <a:buNone/>
            </a:pPr>
            <a:r>
              <a:rPr lang="en-US" sz="1800" dirty="0">
                <a:latin typeface="Times New Roman" panose="02020603050405020304" pitchFamily="18" charset="0"/>
                <a:cs typeface="Times New Roman" panose="02020603050405020304" pitchFamily="18" charset="0"/>
              </a:rPr>
              <a:t>Step 5 – Output Layer</a:t>
            </a:r>
          </a:p>
          <a:p>
            <a:pPr algn="just"/>
            <a:r>
              <a:rPr lang="en-US" sz="1800" dirty="0">
                <a:latin typeface="Times New Roman" panose="02020603050405020304" pitchFamily="18" charset="0"/>
                <a:cs typeface="Times New Roman" panose="02020603050405020304" pitchFamily="18" charset="0"/>
              </a:rPr>
              <a:t>A final dense layer with 12 neurons (representing the 12 disease classes) and </a:t>
            </a:r>
            <a:r>
              <a:rPr lang="en-US" sz="1800" dirty="0" err="1">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 activation. Outputs a probability distribution over all classes, indicating the likelihood of each disease type.</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9734446" y="464128"/>
            <a:ext cx="2447394" cy="63176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a:xfrm>
            <a:off x="0" y="0"/>
            <a:ext cx="12192635" cy="1114425"/>
          </a:xfrm>
        </p:spPr>
        <p:txBody>
          <a:bodyPr/>
          <a:lstStyle/>
          <a:p>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Architecture Diagram</a:t>
            </a: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IN"/>
          </a:p>
        </p:txBody>
      </p:sp>
      <p:pic>
        <p:nvPicPr>
          <p:cNvPr id="4" name="Content Placeholder 5"/>
          <p:cNvPicPr>
            <a:picLocks noChangeAspect="1"/>
          </p:cNvPicPr>
          <p:nvPr/>
        </p:nvPicPr>
        <p:blipFill>
          <a:blip r:embed="rId2"/>
          <a:stretch>
            <a:fillRect/>
          </a:stretch>
        </p:blipFill>
        <p:spPr>
          <a:xfrm>
            <a:off x="603533" y="1114425"/>
            <a:ext cx="11078183" cy="5427691"/>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 y="0"/>
            <a:ext cx="12192635" cy="1143000"/>
          </a:xfrm>
        </p:spPr>
        <p:txBody>
          <a:bodyPr/>
          <a:lstStyle/>
          <a:p>
            <a:r>
              <a:rPr lang="en-US" sz="3600" dirty="0">
                <a:latin typeface="Times New Roman" panose="02020603050405020304" pitchFamily="18" charset="0"/>
                <a:cs typeface="Times New Roman" panose="02020603050405020304" pitchFamily="18" charset="0"/>
              </a:rPr>
              <a:t>Results obtained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8965" y="1631315"/>
            <a:ext cx="10974070" cy="4951730"/>
          </a:xfrm>
        </p:spPr>
        <p:txBody>
          <a:bodyPr/>
          <a:lstStyle/>
          <a:p>
            <a:pPr marL="0" indent="0">
              <a:buNone/>
            </a:pPr>
            <a:r>
              <a:rPr lang="en-IN" sz="1800" dirty="0">
                <a:latin typeface="Times New Roman" panose="02020603050405020304" pitchFamily="18" charset="0"/>
                <a:cs typeface="Times New Roman" panose="02020603050405020304" pitchFamily="18" charset="0"/>
              </a:rPr>
              <a:t>EfficientNetB3 model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custDataLst>
              <p:tags r:id="rId1"/>
            </p:custDataLst>
          </p:nvPr>
        </p:nvPicPr>
        <p:blipFill>
          <a:blip r:embed="rId6"/>
          <a:srcRect l="2032" t="2795" r="1495"/>
          <a:stretch>
            <a:fillRect/>
          </a:stretch>
        </p:blipFill>
        <p:spPr>
          <a:xfrm>
            <a:off x="1316355" y="2613025"/>
            <a:ext cx="2623185" cy="2451735"/>
          </a:xfrm>
          <a:prstGeom prst="rect">
            <a:avLst/>
          </a:prstGeom>
        </p:spPr>
      </p:pic>
      <p:pic>
        <p:nvPicPr>
          <p:cNvPr id="7" name="Picture 6"/>
          <p:cNvPicPr>
            <a:picLocks noChangeAspect="1"/>
          </p:cNvPicPr>
          <p:nvPr>
            <p:custDataLst>
              <p:tags r:id="rId2"/>
            </p:custDataLst>
          </p:nvPr>
        </p:nvPicPr>
        <p:blipFill>
          <a:blip r:embed="rId7"/>
          <a:srcRect t="2795" r="934"/>
          <a:stretch>
            <a:fillRect/>
          </a:stretch>
        </p:blipFill>
        <p:spPr>
          <a:xfrm>
            <a:off x="4879975" y="2613025"/>
            <a:ext cx="2693670" cy="2451735"/>
          </a:xfrm>
          <a:prstGeom prst="rect">
            <a:avLst/>
          </a:prstGeom>
        </p:spPr>
      </p:pic>
      <p:pic>
        <p:nvPicPr>
          <p:cNvPr id="9" name="Picture 8"/>
          <p:cNvPicPr>
            <a:picLocks noChangeAspect="1"/>
          </p:cNvPicPr>
          <p:nvPr/>
        </p:nvPicPr>
        <p:blipFill>
          <a:blip r:embed="rId8"/>
          <a:stretch>
            <a:fillRect/>
          </a:stretch>
        </p:blipFill>
        <p:spPr>
          <a:xfrm>
            <a:off x="7975831" y="2392470"/>
            <a:ext cx="3607724" cy="2891846"/>
          </a:xfrm>
          <a:prstGeom prst="rect">
            <a:avLst/>
          </a:prstGeom>
        </p:spPr>
      </p:pic>
      <p:sp>
        <p:nvSpPr>
          <p:cNvPr id="10" name="TextBox 9"/>
          <p:cNvSpPr txBox="1"/>
          <p:nvPr>
            <p:custDataLst>
              <p:tags r:id="rId3"/>
            </p:custDataLst>
          </p:nvPr>
        </p:nvSpPr>
        <p:spPr>
          <a:xfrm>
            <a:off x="971663" y="5393290"/>
            <a:ext cx="3500157" cy="64516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Training and Validation Accuracy Graph</a:t>
            </a:r>
            <a:endParaRPr lang="en-IN" dirty="0">
              <a:latin typeface="Times New Roman" panose="02020603050405020304" pitchFamily="18" charset="0"/>
              <a:cs typeface="Times New Roman" panose="02020603050405020304" pitchFamily="18" charset="0"/>
            </a:endParaRPr>
          </a:p>
        </p:txBody>
      </p:sp>
      <p:sp>
        <p:nvSpPr>
          <p:cNvPr id="13" name="TextBox 12"/>
          <p:cNvSpPr txBox="1"/>
          <p:nvPr>
            <p:custDataLst>
              <p:tags r:id="rId4"/>
            </p:custDataLst>
          </p:nvPr>
        </p:nvSpPr>
        <p:spPr>
          <a:xfrm>
            <a:off x="4879866" y="5390319"/>
            <a:ext cx="3241800" cy="64516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Training and Validation Loss Graph</a:t>
            </a:r>
            <a:endParaRPr lang="en-IN"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8781702" y="5531134"/>
            <a:ext cx="199678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Confusion Matrix</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325" y="1192530"/>
            <a:ext cx="11052175" cy="4758690"/>
          </a:xfrm>
        </p:spPr>
        <p:txBody>
          <a:bodyPr/>
          <a:lstStyle/>
          <a:p>
            <a:pPr marL="0" indent="0">
              <a:buNone/>
            </a:pPr>
            <a:r>
              <a:rPr lang="en-US" sz="1800" dirty="0" err="1">
                <a:latin typeface="Times New Roman" panose="02020603050405020304" pitchFamily="18" charset="0"/>
                <a:cs typeface="Times New Roman" panose="02020603050405020304" pitchFamily="18" charset="0"/>
              </a:rPr>
              <a:t>AlexNet</a:t>
            </a:r>
            <a:r>
              <a:rPr lang="en-US" sz="1800" dirty="0">
                <a:latin typeface="Times New Roman" panose="02020603050405020304" pitchFamily="18" charset="0"/>
                <a:cs typeface="Times New Roman" panose="02020603050405020304" pitchFamily="18" charset="0"/>
              </a:rPr>
              <a:t> Model:</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custDataLst>
              <p:tags r:id="rId1"/>
            </p:custDataLst>
          </p:nvPr>
        </p:nvPicPr>
        <p:blipFill>
          <a:blip r:embed="rId6"/>
          <a:srcRect l="3901" t="4500" b="2469"/>
          <a:stretch>
            <a:fillRect/>
          </a:stretch>
        </p:blipFill>
        <p:spPr>
          <a:xfrm>
            <a:off x="681990" y="2021840"/>
            <a:ext cx="2799715" cy="2559685"/>
          </a:xfrm>
          <a:prstGeom prst="rect">
            <a:avLst/>
          </a:prstGeom>
        </p:spPr>
      </p:pic>
      <p:sp>
        <p:nvSpPr>
          <p:cNvPr id="6" name="TextBox 5"/>
          <p:cNvSpPr txBox="1"/>
          <p:nvPr>
            <p:custDataLst>
              <p:tags r:id="rId2"/>
            </p:custDataLst>
          </p:nvPr>
        </p:nvSpPr>
        <p:spPr>
          <a:xfrm>
            <a:off x="120015" y="4769923"/>
            <a:ext cx="3922917" cy="64516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Training and Validation Accuracy </a:t>
            </a:r>
          </a:p>
          <a:p>
            <a:pPr algn="ctr"/>
            <a:r>
              <a:rPr lang="en-US" dirty="0">
                <a:latin typeface="Times New Roman" panose="02020603050405020304" pitchFamily="18" charset="0"/>
                <a:cs typeface="Times New Roman" panose="02020603050405020304" pitchFamily="18" charset="0"/>
              </a:rPr>
              <a:t>Graph</a:t>
            </a:r>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custDataLst>
              <p:tags r:id="rId3"/>
            </p:custDataLst>
          </p:nvPr>
        </p:nvPicPr>
        <p:blipFill>
          <a:blip r:embed="rId7"/>
          <a:srcRect t="4500" r="2964" b="2469"/>
          <a:stretch>
            <a:fillRect/>
          </a:stretch>
        </p:blipFill>
        <p:spPr>
          <a:xfrm>
            <a:off x="4579620" y="2021840"/>
            <a:ext cx="2827020" cy="2559685"/>
          </a:xfrm>
          <a:prstGeom prst="rect">
            <a:avLst/>
          </a:prstGeom>
        </p:spPr>
      </p:pic>
      <p:sp>
        <p:nvSpPr>
          <p:cNvPr id="9" name="TextBox 8"/>
          <p:cNvSpPr txBox="1"/>
          <p:nvPr>
            <p:custDataLst>
              <p:tags r:id="rId4"/>
            </p:custDataLst>
          </p:nvPr>
        </p:nvSpPr>
        <p:spPr>
          <a:xfrm>
            <a:off x="4277491" y="4769923"/>
            <a:ext cx="3633355" cy="64516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Training and Validation Loss </a:t>
            </a:r>
          </a:p>
          <a:p>
            <a:pPr algn="ctr"/>
            <a:r>
              <a:rPr lang="en-US" dirty="0">
                <a:latin typeface="Times New Roman" panose="02020603050405020304" pitchFamily="18" charset="0"/>
                <a:cs typeface="Times New Roman" panose="02020603050405020304" pitchFamily="18" charset="0"/>
              </a:rPr>
              <a:t>Graph</a:t>
            </a:r>
            <a:endParaRPr lang="en-IN"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8"/>
          <a:stretch>
            <a:fillRect/>
          </a:stretch>
        </p:blipFill>
        <p:spPr>
          <a:xfrm>
            <a:off x="8504843" y="2022051"/>
            <a:ext cx="2913092" cy="2705314"/>
          </a:xfrm>
          <a:prstGeom prst="rect">
            <a:avLst/>
          </a:prstGeom>
        </p:spPr>
      </p:pic>
      <p:sp>
        <p:nvSpPr>
          <p:cNvPr id="12" name="TextBox 11"/>
          <p:cNvSpPr txBox="1"/>
          <p:nvPr/>
        </p:nvSpPr>
        <p:spPr>
          <a:xfrm>
            <a:off x="8962677" y="4907889"/>
            <a:ext cx="199678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Confusion Matrix</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900" y="1248410"/>
            <a:ext cx="10996930" cy="4443730"/>
          </a:xfrm>
        </p:spPr>
        <p:txBody>
          <a:bodyPr/>
          <a:lstStyle/>
          <a:p>
            <a:pPr marL="0" indent="0">
              <a:buNone/>
            </a:pPr>
            <a:r>
              <a:rPr lang="en-US" sz="1800" dirty="0">
                <a:latin typeface="Times New Roman" panose="02020603050405020304" pitchFamily="18" charset="0"/>
                <a:cs typeface="Times New Roman" panose="02020603050405020304" pitchFamily="18" charset="0"/>
              </a:rPr>
              <a:t>Web Application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107727" y="1755862"/>
            <a:ext cx="5916526" cy="1608455"/>
          </a:xfrm>
          <a:prstGeom prst="rect">
            <a:avLst/>
          </a:prstGeom>
        </p:spPr>
      </p:pic>
      <p:pic>
        <p:nvPicPr>
          <p:cNvPr id="4" name="Picture 3"/>
          <p:cNvPicPr>
            <a:picLocks noChangeAspect="1"/>
          </p:cNvPicPr>
          <p:nvPr/>
        </p:nvPicPr>
        <p:blipFill>
          <a:blip r:embed="rId3"/>
          <a:stretch>
            <a:fillRect/>
          </a:stretch>
        </p:blipFill>
        <p:spPr>
          <a:xfrm>
            <a:off x="1107727" y="3735228"/>
            <a:ext cx="6001817" cy="2099945"/>
          </a:xfrm>
          <a:prstGeom prst="rect">
            <a:avLst/>
          </a:prstGeom>
        </p:spPr>
      </p:pic>
      <p:pic>
        <p:nvPicPr>
          <p:cNvPr id="6" name="Picture 5"/>
          <p:cNvPicPr>
            <a:picLocks noChangeAspect="1"/>
          </p:cNvPicPr>
          <p:nvPr/>
        </p:nvPicPr>
        <p:blipFill>
          <a:blip r:embed="rId4"/>
          <a:stretch>
            <a:fillRect/>
          </a:stretch>
        </p:blipFill>
        <p:spPr>
          <a:xfrm>
            <a:off x="7769975" y="2059188"/>
            <a:ext cx="2992842" cy="33520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Result Analysis</a:t>
            </a:r>
          </a:p>
        </p:txBody>
      </p:sp>
      <p:sp>
        <p:nvSpPr>
          <p:cNvPr id="7" name="Content Placeholder 6"/>
          <p:cNvSpPr>
            <a:spLocks noGrp="1"/>
          </p:cNvSpPr>
          <p:nvPr>
            <p:ph idx="1"/>
          </p:nvPr>
        </p:nvSpPr>
        <p:spPr>
          <a:xfrm>
            <a:off x="519546" y="1496291"/>
            <a:ext cx="10972800" cy="4721312"/>
          </a:xfrm>
        </p:spPr>
        <p:txBody>
          <a:bodyPr/>
          <a:lstStyle/>
          <a:p>
            <a:r>
              <a:rPr lang="en-IN" sz="1800" dirty="0">
                <a:latin typeface="Times New Roman" panose="02020603050405020304" pitchFamily="18" charset="0"/>
                <a:cs typeface="Times New Roman" panose="02020603050405020304" pitchFamily="18" charset="0"/>
              </a:rPr>
              <a:t>EfficientNetB3 clearly outperforms </a:t>
            </a:r>
            <a:r>
              <a:rPr lang="en-IN" sz="1800" dirty="0" err="1">
                <a:latin typeface="Times New Roman" panose="02020603050405020304" pitchFamily="18" charset="0"/>
                <a:cs typeface="Times New Roman" panose="02020603050405020304" pitchFamily="18" charset="0"/>
              </a:rPr>
              <a:t>AlexNet</a:t>
            </a:r>
            <a:r>
              <a:rPr lang="en-IN" sz="1800" dirty="0">
                <a:latin typeface="Times New Roman" panose="02020603050405020304" pitchFamily="18" charset="0"/>
                <a:cs typeface="Times New Roman" panose="02020603050405020304" pitchFamily="18" charset="0"/>
              </a:rPr>
              <a:t> in almost every class across precision, recall, F1-score, and accuracy.</a:t>
            </a:r>
          </a:p>
          <a:p>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classes show major improvement with EfficientNetB3, especially Pituitary (99% vs 88%).</a:t>
            </a:r>
          </a:p>
          <a:p>
            <a:r>
              <a:rPr lang="en-IN" sz="1800" dirty="0">
                <a:latin typeface="Times New Roman" panose="02020603050405020304" pitchFamily="18" charset="0"/>
                <a:cs typeface="Times New Roman" panose="02020603050405020304" pitchFamily="18" charset="0"/>
              </a:rPr>
              <a:t>Alzheimer’s stages (Mild &amp; </a:t>
            </a:r>
            <a:r>
              <a:rPr lang="en-IN" sz="1800" dirty="0" err="1">
                <a:latin typeface="Times New Roman" panose="02020603050405020304" pitchFamily="18" charset="0"/>
                <a:cs typeface="Times New Roman" panose="02020603050405020304" pitchFamily="18" charset="0"/>
              </a:rPr>
              <a:t>VeryMild</a:t>
            </a:r>
            <a:r>
              <a:rPr lang="en-IN" sz="1800" dirty="0">
                <a:latin typeface="Times New Roman" panose="02020603050405020304" pitchFamily="18" charset="0"/>
                <a:cs typeface="Times New Roman" panose="02020603050405020304" pitchFamily="18" charset="0"/>
              </a:rPr>
              <a:t>) are detected much better by EfficientNetB3 (89% vs 60% for Mild).</a:t>
            </a:r>
          </a:p>
          <a:p>
            <a:r>
              <a:rPr lang="en-IN" sz="1800" dirty="0">
                <a:latin typeface="Times New Roman" panose="02020603050405020304" pitchFamily="18" charset="0"/>
                <a:cs typeface="Times New Roman" panose="02020603050405020304" pitchFamily="18" charset="0"/>
              </a:rPr>
              <a:t>Normal &amp; Non-Demented cases also see accuracy boosts (up to 97% with EfficientNetB3).</a:t>
            </a:r>
          </a:p>
          <a:p>
            <a:r>
              <a:rPr lang="en-IN" sz="1800" dirty="0">
                <a:latin typeface="Times New Roman" panose="02020603050405020304" pitchFamily="18" charset="0"/>
                <a:cs typeface="Times New Roman" panose="02020603050405020304" pitchFamily="18" charset="0"/>
              </a:rPr>
              <a:t>Overall, EfficientNetB3 is more stable, reliable, and suitable for clinical use than </a:t>
            </a:r>
            <a:r>
              <a:rPr lang="en-IN" sz="1800" dirty="0" err="1">
                <a:latin typeface="Times New Roman" panose="02020603050405020304" pitchFamily="18" charset="0"/>
                <a:cs typeface="Times New Roman" panose="02020603050405020304" pitchFamily="18" charset="0"/>
              </a:rPr>
              <a:t>AlexNet</a:t>
            </a:r>
            <a:r>
              <a:rPr lang="en-IN" sz="1800" dirty="0"/>
              <a:t>.</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Content Placeholder 8"/>
          <p:cNvPicPr>
            <a:picLocks noChangeAspect="1"/>
          </p:cNvPicPr>
          <p:nvPr/>
        </p:nvPicPr>
        <p:blipFill>
          <a:blip r:embed="rId2"/>
          <a:stretch>
            <a:fillRect/>
          </a:stretch>
        </p:blipFill>
        <p:spPr>
          <a:xfrm>
            <a:off x="777933" y="3429000"/>
            <a:ext cx="10456026" cy="3266001"/>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6" name="Content Placeholder 15"/>
          <p:cNvPicPr>
            <a:picLocks noGrp="1" noChangeAspect="1"/>
          </p:cNvPicPr>
          <p:nvPr>
            <p:ph idx="1"/>
          </p:nvPr>
        </p:nvPicPr>
        <p:blipFill>
          <a:blip r:embed="rId2"/>
          <a:stretch>
            <a:fillRect/>
          </a:stretch>
        </p:blipFill>
        <p:spPr bwMode="auto">
          <a:xfrm>
            <a:off x="0" y="0"/>
            <a:ext cx="12562583"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70*489"/>
  <p:tag name="TABLE_ENDDRAG_RECT" val="43*11*870*48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6.1040157480315,&quot;left&quot;:76.50889763779522,&quot;top&quot;:189.3644881889764,&quot;width&quot;:562.992362204724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6.1040157480315,&quot;left&quot;:76.50889763779522,&quot;top&quot;:189.3644881889764,&quot;width&quot;:562.992362204724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6.1040157480315,&quot;left&quot;:76.50889763779522,&quot;top&quot;:189.3644881889764,&quot;width&quot;:562.992362204724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6.1040157480315,&quot;left&quot;:76.50889763779522,&quot;top&quot;:189.3644881889764,&quot;width&quot;:562.992362204724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3.867874015748,&quot;left&quot;:9.45,&quot;top&quot;:149.46661417322835,&quot;width&quot;:637.251259842519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3.867874015748,&quot;left&quot;:9.45,&quot;top&quot;:149.46661417322835,&quot;width&quot;:637.251259842519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3.867874015748,&quot;left&quot;:9.45,&quot;top&quot;:149.46661417322835,&quot;width&quot;:637.251259842519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3.867874015748,&quot;left&quot;:9.45,&quot;top&quot;:149.46661417322835,&quot;width&quot;:637.2512598425197}"/>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2069</Words>
  <Application>Microsoft Office PowerPoint</Application>
  <PresentationFormat>Widescreen</PresentationFormat>
  <Paragraphs>189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AngsanaUPC</vt:lpstr>
      <vt:lpstr>Arial</vt:lpstr>
      <vt:lpstr>Calibri</vt:lpstr>
      <vt:lpstr>Times New Roman</vt:lpstr>
      <vt:lpstr>Default Design</vt:lpstr>
      <vt:lpstr>PowerPoint Presentation</vt:lpstr>
      <vt:lpstr>Contents </vt:lpstr>
      <vt:lpstr>Problem Statement </vt:lpstr>
      <vt:lpstr>PowerPoint Presentation</vt:lpstr>
      <vt:lpstr>Literature Survey</vt:lpstr>
      <vt:lpstr>PowerPoint Presentation</vt:lpstr>
      <vt:lpstr>Datasets </vt:lpstr>
      <vt:lpstr>Methodology</vt:lpstr>
      <vt:lpstr>Algorithms Involved </vt:lpstr>
      <vt:lpstr>PowerPoint Presentation</vt:lpstr>
      <vt:lpstr> Architecture Diagram </vt:lpstr>
      <vt:lpstr>Results obtained </vt:lpstr>
      <vt:lpstr>PowerPoint Presentation</vt:lpstr>
      <vt:lpstr>PowerPoint Presentation</vt:lpstr>
      <vt:lpstr>Result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deepika pudi</dc:creator>
  <cp:lastModifiedBy>deepika pudi</cp:lastModifiedBy>
  <cp:revision>20</cp:revision>
  <dcterms:created xsi:type="dcterms:W3CDTF">2025-12-29T16:38:21Z</dcterms:created>
  <dcterms:modified xsi:type="dcterms:W3CDTF">2026-03-27T06:49:52Z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913ADCECB1F946A9852A86F7ACE65423_13</vt:lpwstr>
  </property>
  <property fmtid="{D5CDD505-2E9C-101B-9397-08002B2CF9AE}" pid="3" name="KSOProductBuildVer">
    <vt:lpwstr>1033-12.2.0.23196</vt:lpwstr>
  </property>
</Properties>
</file>